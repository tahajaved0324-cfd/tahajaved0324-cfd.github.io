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omments/modernComment_1A9_B43CD30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omments/modernComment_1AD_48532B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B8_896698DB.xml" ContentType="application/vnd.ms-powerpoint.comments+xml"/>
  <Override PartName="/ppt/comments/modernComment_19B_66655997.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8" r:id="rId4"/>
    <p:sldMasterId id="2147483663" r:id="rId5"/>
    <p:sldMasterId id="2147483648" r:id="rId6"/>
  </p:sldMasterIdLst>
  <p:notesMasterIdLst>
    <p:notesMasterId r:id="rId54"/>
  </p:notesMasterIdLst>
  <p:handoutMasterIdLst>
    <p:handoutMasterId r:id="rId55"/>
  </p:handoutMasterIdLst>
  <p:sldIdLst>
    <p:sldId id="425" r:id="rId7"/>
    <p:sldId id="441" r:id="rId8"/>
    <p:sldId id="482" r:id="rId9"/>
    <p:sldId id="444" r:id="rId10"/>
    <p:sldId id="438" r:id="rId11"/>
    <p:sldId id="437" r:id="rId12"/>
    <p:sldId id="481" r:id="rId13"/>
    <p:sldId id="428" r:id="rId14"/>
    <p:sldId id="429" r:id="rId15"/>
    <p:sldId id="430" r:id="rId16"/>
    <p:sldId id="462" r:id="rId17"/>
    <p:sldId id="467" r:id="rId18"/>
    <p:sldId id="468" r:id="rId19"/>
    <p:sldId id="469" r:id="rId20"/>
    <p:sldId id="440" r:id="rId21"/>
    <p:sldId id="411" r:id="rId22"/>
    <p:sldId id="407" r:id="rId23"/>
    <p:sldId id="456" r:id="rId24"/>
    <p:sldId id="459" r:id="rId25"/>
    <p:sldId id="446" r:id="rId26"/>
    <p:sldId id="447" r:id="rId27"/>
    <p:sldId id="448" r:id="rId28"/>
    <p:sldId id="450" r:id="rId29"/>
    <p:sldId id="477" r:id="rId30"/>
    <p:sldId id="483" r:id="rId31"/>
    <p:sldId id="478" r:id="rId32"/>
    <p:sldId id="451" r:id="rId33"/>
    <p:sldId id="454" r:id="rId34"/>
    <p:sldId id="455" r:id="rId35"/>
    <p:sldId id="457" r:id="rId36"/>
    <p:sldId id="452" r:id="rId37"/>
    <p:sldId id="458" r:id="rId38"/>
    <p:sldId id="460" r:id="rId39"/>
    <p:sldId id="412" r:id="rId40"/>
    <p:sldId id="476" r:id="rId41"/>
    <p:sldId id="464" r:id="rId42"/>
    <p:sldId id="473" r:id="rId43"/>
    <p:sldId id="414" r:id="rId44"/>
    <p:sldId id="417" r:id="rId45"/>
    <p:sldId id="415" r:id="rId46"/>
    <p:sldId id="416" r:id="rId47"/>
    <p:sldId id="420" r:id="rId48"/>
    <p:sldId id="418" r:id="rId49"/>
    <p:sldId id="466" r:id="rId50"/>
    <p:sldId id="471" r:id="rId51"/>
    <p:sldId id="474" r:id="rId52"/>
    <p:sldId id="480" r:id="rId53"/>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8A7C41-3D6B-A4AD-7A7E-45C5C770879E}" name="Taha JAVED" initials="TJ" userId="S::taha.javed@etu.emse.fr::32dce2d7-7a03-4520-9531-f4447b2ec164" providerId="AD"/>
  <p188:author id="{26C990C6-A4D3-5856-7834-FD777EBD48C8}" name="Narmeen ASIF" initials="NA" userId="S::narmeen.asif@etu.emse.fr::47027d1a-d80b-4c46-8bda-68b1dc743888"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93"/>
    <a:srgbClr val="98C6EA"/>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8E3B2C-6FCB-C32E-3B8A-9CC61EC7E6BA}" v="2" dt="2026-04-02T06:18:41.95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4"/>
        <p:guide pos="2880"/>
        <p:guide orient="horz" pos="1620"/>
      </p:guideLst>
    </p:cSldViewPr>
  </p:slideViewPr>
  <p:notesViewPr>
    <p:cSldViewPr snapToGrid="0">
      <p:cViewPr>
        <p:scale>
          <a:sx n="1" d="2"/>
          <a:sy n="1" d="2"/>
        </p:scale>
        <p:origin x="0" y="0"/>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9de3138-7017-483b-a00f-a8497807ec01::" providerId="AD" clId="Web-{A68E3B2C-6FCB-C32E-3B8A-9CC61EC7E6BA}"/>
    <pc:docChg chg="modSld">
      <pc:chgData name="Guest User" userId="S::urn:spo:tenantanon#49de3138-7017-483b-a00f-a8497807ec01::" providerId="AD" clId="Web-{A68E3B2C-6FCB-C32E-3B8A-9CC61EC7E6BA}" dt="2026-04-02T06:18:41.955" v="1" actId="1076"/>
      <pc:docMkLst>
        <pc:docMk/>
      </pc:docMkLst>
      <pc:sldChg chg="modSp">
        <pc:chgData name="Guest User" userId="S::urn:spo:tenantanon#49de3138-7017-483b-a00f-a8497807ec01::" providerId="AD" clId="Web-{A68E3B2C-6FCB-C32E-3B8A-9CC61EC7E6BA}" dt="2026-04-02T06:18:41.955" v="1" actId="1076"/>
        <pc:sldMkLst>
          <pc:docMk/>
          <pc:sldMk cId="3460821656" sldId="451"/>
        </pc:sldMkLst>
        <pc:picChg chg="mod">
          <ac:chgData name="Guest User" userId="S::urn:spo:tenantanon#49de3138-7017-483b-a00f-a8497807ec01::" providerId="AD" clId="Web-{A68E3B2C-6FCB-C32E-3B8A-9CC61EC7E6BA}" dt="2026-04-02T06:18:41.955" v="1" actId="1076"/>
          <ac:picMkLst>
            <pc:docMk/>
            <pc:sldMk cId="3460821656" sldId="451"/>
            <ac:picMk id="7" creationId="{F337DFCD-54ED-417B-7565-6B0772A9B719}"/>
          </ac:picMkLst>
        </pc:picChg>
      </pc:sldChg>
    </pc:docChg>
  </pc:docChgLst>
</pc:chgInfo>
</file>

<file path=ppt/comments/modernComment_1A9_B43CD306.xml><?xml version="1.0" encoding="utf-8"?>
<p188:cmLst xmlns:a="http://schemas.openxmlformats.org/drawingml/2006/main" xmlns:r="http://schemas.openxmlformats.org/officeDocument/2006/relationships" xmlns:p188="http://schemas.microsoft.com/office/powerpoint/2018/8/main">
  <p188:cm id="{C6C577B7-1EA7-409C-A409-F852E0E35D47}" authorId="{26C990C6-A4D3-5856-7834-FD777EBD48C8}" created="2026-02-15T12:06:02.762">
    <pc:sldMkLst xmlns:pc="http://schemas.microsoft.com/office/powerpoint/2013/main/command">
      <pc:docMk/>
      <pc:sldMk cId="3023885062" sldId="425"/>
    </pc:sldMkLst>
    <p188:txBody>
      <a:bodyPr/>
      <a:lstStyle/>
      <a:p>
        <a:r>
          <a:rPr lang="en-US"/>
          <a:t>Everbody, pls put your photos here with no background
</a:t>
        </a:r>
      </a:p>
    </p188:txBody>
  </p188:cm>
</p188:cmLst>
</file>

<file path=ppt/comments/modernComment_1AD_48532B0.xml><?xml version="1.0" encoding="utf-8"?>
<p188:cmLst xmlns:a="http://schemas.openxmlformats.org/drawingml/2006/main" xmlns:r="http://schemas.openxmlformats.org/officeDocument/2006/relationships" xmlns:p188="http://schemas.microsoft.com/office/powerpoint/2018/8/main">
  <p188:cm id="{183B9728-0157-467D-8C03-6891C1F15923}" authorId="{26C990C6-A4D3-5856-7834-FD777EBD48C8}" created="2026-02-15T13:54:04.439">
    <pc:sldMkLst xmlns:pc="http://schemas.microsoft.com/office/powerpoint/2013/main/command">
      <pc:docMk/>
      <pc:sldMk cId="75838128" sldId="429"/>
    </pc:sldMkLst>
    <p188:txBody>
      <a:bodyPr/>
      <a:lstStyle/>
      <a:p>
        <a:r>
          <a:rPr lang="en-US"/>
          <a:t>Will explain till here</a:t>
        </a:r>
      </a:p>
    </p188:txBody>
  </p188:cm>
</p188:cmLst>
</file>

<file path=ppt/comments/modernComment_1B8_896698DB.xml><?xml version="1.0" encoding="utf-8"?>
<p188:cmLst xmlns:a="http://schemas.openxmlformats.org/drawingml/2006/main" xmlns:r="http://schemas.openxmlformats.org/officeDocument/2006/relationships" xmlns:p188="http://schemas.microsoft.com/office/powerpoint/2018/8/main">
  <p188:cm id="{8B5AF42B-FC2C-422D-9F8A-A0D7DCEF641C}" authorId="{26C990C6-A4D3-5856-7834-FD777EBD48C8}" created="2026-02-15T17:56:01.158">
    <pc:sldMkLst xmlns:pc="http://schemas.microsoft.com/office/powerpoint/2013/main/command">
      <pc:docMk/>
      <pc:sldMk cId="2305202395" sldId="440"/>
    </pc:sldMkLst>
    <p188:txBody>
      <a:bodyPr/>
      <a:lstStyle/>
      <a:p>
        <a:r>
          <a:rPr lang="en-US"/>
          <a:t>I will do</a:t>
        </a:r>
      </a:p>
    </p188:txBody>
  </p188:cm>
</p188:cmLst>
</file>

<file path=ppt/comments/modernComment_19B_66655997.xml><?xml version="1.0" encoding="utf-8"?>
<p188:cmLst xmlns:a="http://schemas.openxmlformats.org/drawingml/2006/main" xmlns:r="http://schemas.openxmlformats.org/officeDocument/2006/relationships" xmlns:p188="http://schemas.microsoft.com/office/powerpoint/2018/8/main">
  <p188:cm id="{F803DEDF-DBA3-44FE-A3C1-DFEDA640F570}" authorId="{26C990C6-A4D3-5856-7834-FD777EBD48C8}" created="2026-02-15T13:53:42.214">
    <pc:sldMkLst xmlns:pc="http://schemas.microsoft.com/office/powerpoint/2013/main/command">
      <pc:docMk/>
      <pc:sldMk cId="1717918103" sldId="411"/>
    </pc:sldMkLst>
    <p188:txBody>
      <a:bodyPr/>
      <a:lstStyle/>
      <a:p>
        <a:r>
          <a:rPr lang="en-US"/>
          <a:t>I will do
</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5.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5.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25A06D-5DF3-46C9-8541-1169108C3467}"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1B5A5E3A-000A-4ED7-8C7E-4A8A2FEA5B94}">
      <dgm:prSet phldrT="[Text]" phldr="0"/>
      <dgm:spPr/>
      <dgm:t>
        <a:bodyPr/>
        <a:lstStyle/>
        <a:p>
          <a:r>
            <a:rPr lang="en-US"/>
            <a:t>Narmeen Asif</a:t>
          </a:r>
        </a:p>
      </dgm:t>
    </dgm:pt>
    <dgm:pt modelId="{2755B1C9-EDE4-4E8E-9650-6F27694D8034}" type="parTrans" cxnId="{2EDB348B-3685-4313-A1D2-0211DDA7A503}">
      <dgm:prSet/>
      <dgm:spPr/>
      <dgm:t>
        <a:bodyPr/>
        <a:lstStyle/>
        <a:p>
          <a:endParaRPr lang="en-US"/>
        </a:p>
      </dgm:t>
    </dgm:pt>
    <dgm:pt modelId="{61273062-73D4-49BE-B8CA-10296CB494A5}" type="sibTrans" cxnId="{2EDB348B-3685-4313-A1D2-0211DDA7A503}">
      <dgm:prSet/>
      <dgm:spPr/>
      <dgm:t>
        <a:bodyPr/>
        <a:lstStyle/>
        <a:p>
          <a:endParaRPr lang="en-US"/>
        </a:p>
      </dgm:t>
    </dgm:pt>
    <dgm:pt modelId="{E8632E37-BF60-4662-B06B-B88206FF9EC5}">
      <dgm:prSet phldrT="[Text]"/>
      <dgm:spPr/>
      <dgm:t>
        <a:bodyPr/>
        <a:lstStyle/>
        <a:p>
          <a:r>
            <a:rPr lang="en-US"/>
            <a:t>Daniel Pineda Estrada</a:t>
          </a:r>
        </a:p>
      </dgm:t>
    </dgm:pt>
    <dgm:pt modelId="{46E3D97D-EA6D-4625-A0EB-ED531B916D7B}" type="parTrans" cxnId="{6E5BC64D-9E46-486D-B020-B91487E8B6C9}">
      <dgm:prSet/>
      <dgm:spPr/>
      <dgm:t>
        <a:bodyPr/>
        <a:lstStyle/>
        <a:p>
          <a:endParaRPr lang="en-US"/>
        </a:p>
      </dgm:t>
    </dgm:pt>
    <dgm:pt modelId="{30451832-792C-4AFA-9443-5B98D0686D6E}" type="sibTrans" cxnId="{6E5BC64D-9E46-486D-B020-B91487E8B6C9}">
      <dgm:prSet/>
      <dgm:spPr/>
      <dgm:t>
        <a:bodyPr/>
        <a:lstStyle/>
        <a:p>
          <a:endParaRPr lang="en-US"/>
        </a:p>
      </dgm:t>
    </dgm:pt>
    <dgm:pt modelId="{6743124C-0B5E-4570-B5A8-CA691CE5CFA7}">
      <dgm:prSet/>
      <dgm:spPr/>
      <dgm:t>
        <a:bodyPr/>
        <a:lstStyle/>
        <a:p>
          <a:r>
            <a:rPr lang="en-US"/>
            <a:t>Taha Javed</a:t>
          </a:r>
        </a:p>
      </dgm:t>
    </dgm:pt>
    <dgm:pt modelId="{4BF128B9-A088-4B70-80DB-447710FC4562}" type="parTrans" cxnId="{194E915B-89EC-4081-A632-555922B529E5}">
      <dgm:prSet/>
      <dgm:spPr/>
      <dgm:t>
        <a:bodyPr/>
        <a:lstStyle/>
        <a:p>
          <a:endParaRPr lang="en-US"/>
        </a:p>
      </dgm:t>
    </dgm:pt>
    <dgm:pt modelId="{DB2989BE-4A83-4058-9C8C-1F50957CF077}" type="sibTrans" cxnId="{194E915B-89EC-4081-A632-555922B529E5}">
      <dgm:prSet/>
      <dgm:spPr/>
      <dgm:t>
        <a:bodyPr/>
        <a:lstStyle/>
        <a:p>
          <a:endParaRPr lang="en-US"/>
        </a:p>
      </dgm:t>
    </dgm:pt>
    <dgm:pt modelId="{6E0AD03E-B16D-4B26-92DD-4A28067C1205}">
      <dgm:prSet/>
      <dgm:spPr/>
      <dgm:t>
        <a:bodyPr/>
        <a:lstStyle/>
        <a:p>
          <a:r>
            <a:rPr lang="en-US"/>
            <a:t>Decency Chukwuemeka </a:t>
          </a:r>
          <a:r>
            <a:rPr lang="en-US" err="1"/>
            <a:t>Ukonu</a:t>
          </a:r>
          <a:endParaRPr lang="en-US"/>
        </a:p>
      </dgm:t>
    </dgm:pt>
    <dgm:pt modelId="{FCB37BBA-0665-486C-9F1C-38D3D521D5B3}" type="parTrans" cxnId="{8919AD09-5B65-482D-AB58-B3466C3A80EB}">
      <dgm:prSet/>
      <dgm:spPr/>
      <dgm:t>
        <a:bodyPr/>
        <a:lstStyle/>
        <a:p>
          <a:endParaRPr lang="en-US"/>
        </a:p>
      </dgm:t>
    </dgm:pt>
    <dgm:pt modelId="{3D28BB88-9A7B-43D8-B630-F741D43F1BA2}" type="sibTrans" cxnId="{8919AD09-5B65-482D-AB58-B3466C3A80EB}">
      <dgm:prSet/>
      <dgm:spPr/>
      <dgm:t>
        <a:bodyPr/>
        <a:lstStyle/>
        <a:p>
          <a:endParaRPr lang="en-US"/>
        </a:p>
      </dgm:t>
    </dgm:pt>
    <dgm:pt modelId="{7DA39779-1A5B-41C5-A078-DA732BD708FC}">
      <dgm:prSet/>
      <dgm:spPr/>
      <dgm:t>
        <a:bodyPr/>
        <a:lstStyle/>
        <a:p>
          <a:pPr rtl="0"/>
          <a:r>
            <a:rPr lang="en-US"/>
            <a:t>Muhammad Ehab </a:t>
          </a:r>
          <a:r>
            <a:rPr lang="en-US">
              <a:latin typeface="Arial"/>
            </a:rPr>
            <a:t>Bin Nauman</a:t>
          </a:r>
          <a:endParaRPr lang="en-US"/>
        </a:p>
      </dgm:t>
    </dgm:pt>
    <dgm:pt modelId="{C0688252-D0D7-4D21-8A23-B3C03900C42B}" type="parTrans" cxnId="{03D6A8C2-1B14-481B-8AC9-11BC0BB7BAA2}">
      <dgm:prSet/>
      <dgm:spPr/>
      <dgm:t>
        <a:bodyPr/>
        <a:lstStyle/>
        <a:p>
          <a:endParaRPr lang="en-US"/>
        </a:p>
      </dgm:t>
    </dgm:pt>
    <dgm:pt modelId="{E2EE76AE-C47D-4EC9-ADC3-7876C06A1150}" type="sibTrans" cxnId="{03D6A8C2-1B14-481B-8AC9-11BC0BB7BAA2}">
      <dgm:prSet/>
      <dgm:spPr/>
      <dgm:t>
        <a:bodyPr/>
        <a:lstStyle/>
        <a:p>
          <a:endParaRPr lang="en-US"/>
        </a:p>
      </dgm:t>
    </dgm:pt>
    <dgm:pt modelId="{4A1B1B97-EEE9-4583-9D6B-3225719841A0}">
      <dgm:prSet/>
      <dgm:spPr/>
      <dgm:t>
        <a:bodyPr/>
        <a:lstStyle/>
        <a:p>
          <a:r>
            <a:rPr lang="en-US"/>
            <a:t>Aly Morsy</a:t>
          </a:r>
        </a:p>
      </dgm:t>
    </dgm:pt>
    <dgm:pt modelId="{FB80FC4E-8E04-48BB-8465-322FA6042102}" type="parTrans" cxnId="{438DC1E2-ED9D-429B-80CD-5F22350F7608}">
      <dgm:prSet/>
      <dgm:spPr/>
      <dgm:t>
        <a:bodyPr/>
        <a:lstStyle/>
        <a:p>
          <a:endParaRPr lang="en-US"/>
        </a:p>
      </dgm:t>
    </dgm:pt>
    <dgm:pt modelId="{A2D33685-5C28-403A-A4B5-E809804A9839}" type="sibTrans" cxnId="{438DC1E2-ED9D-429B-80CD-5F22350F7608}">
      <dgm:prSet/>
      <dgm:spPr/>
      <dgm:t>
        <a:bodyPr/>
        <a:lstStyle/>
        <a:p>
          <a:endParaRPr lang="en-US"/>
        </a:p>
      </dgm:t>
    </dgm:pt>
    <dgm:pt modelId="{0684C083-3A70-49FD-8EAE-7486BD460C00}">
      <dgm:prSet phldrT="[Text]"/>
      <dgm:spPr/>
      <dgm:t>
        <a:bodyPr/>
        <a:lstStyle/>
        <a:p>
          <a:r>
            <a:rPr lang="en-US"/>
            <a:t>Pegah </a:t>
          </a:r>
          <a:r>
            <a:rPr lang="en-US" err="1"/>
            <a:t>Aghasikhani</a:t>
          </a:r>
          <a:endParaRPr lang="en-US"/>
        </a:p>
      </dgm:t>
    </dgm:pt>
    <dgm:pt modelId="{361CF57C-B6F9-4E8F-AB1F-EB1EFB068128}" type="parTrans" cxnId="{56706F04-45AF-4FD5-A678-EE24BDCD10E4}">
      <dgm:prSet/>
      <dgm:spPr/>
      <dgm:t>
        <a:bodyPr/>
        <a:lstStyle/>
        <a:p>
          <a:endParaRPr lang="en-US"/>
        </a:p>
      </dgm:t>
    </dgm:pt>
    <dgm:pt modelId="{79ACD4F4-0788-4461-ADCD-1421CA89A86C}" type="sibTrans" cxnId="{56706F04-45AF-4FD5-A678-EE24BDCD10E4}">
      <dgm:prSet/>
      <dgm:spPr/>
      <dgm:t>
        <a:bodyPr/>
        <a:lstStyle/>
        <a:p>
          <a:endParaRPr lang="en-US"/>
        </a:p>
      </dgm:t>
    </dgm:pt>
    <dgm:pt modelId="{705A11B9-4DE4-4816-925A-E241A1884FEF}" type="pres">
      <dgm:prSet presAssocID="{0025A06D-5DF3-46C9-8541-1169108C3467}" presName="Name0" presStyleCnt="0">
        <dgm:presLayoutVars>
          <dgm:dir/>
          <dgm:resizeHandles val="exact"/>
        </dgm:presLayoutVars>
      </dgm:prSet>
      <dgm:spPr/>
    </dgm:pt>
    <dgm:pt modelId="{D798C3A5-CF05-403D-B32C-4AB4E6444FD3}" type="pres">
      <dgm:prSet presAssocID="{1B5A5E3A-000A-4ED7-8C7E-4A8A2FEA5B94}" presName="compNode" presStyleCnt="0"/>
      <dgm:spPr/>
    </dgm:pt>
    <dgm:pt modelId="{D27FC734-2243-4F22-B764-C904C66F0C6D}" type="pres">
      <dgm:prSet presAssocID="{1B5A5E3A-000A-4ED7-8C7E-4A8A2FEA5B94}" presName="pictRect" presStyleLbl="node1" presStyleIdx="0" presStyleCnt="7"/>
      <dgm:spPr>
        <a:blipFill>
          <a:blip xmlns:r="http://schemas.openxmlformats.org/officeDocument/2006/relationships" r:embed="rId1"/>
          <a:srcRect/>
          <a:stretch>
            <a:fillRect l="-2000" r="-2000"/>
          </a:stretch>
        </a:blipFill>
      </dgm:spPr>
    </dgm:pt>
    <dgm:pt modelId="{2317BBE9-71CC-4F79-85FD-4BF795E22672}" type="pres">
      <dgm:prSet presAssocID="{1B5A5E3A-000A-4ED7-8C7E-4A8A2FEA5B94}" presName="textRect" presStyleLbl="revTx" presStyleIdx="0" presStyleCnt="7">
        <dgm:presLayoutVars>
          <dgm:bulletEnabled val="1"/>
        </dgm:presLayoutVars>
      </dgm:prSet>
      <dgm:spPr/>
    </dgm:pt>
    <dgm:pt modelId="{5D568D19-12A9-4589-9E98-8FDAB96EACBA}" type="pres">
      <dgm:prSet presAssocID="{61273062-73D4-49BE-B8CA-10296CB494A5}" presName="sibTrans" presStyleLbl="sibTrans2D1" presStyleIdx="0" presStyleCnt="0"/>
      <dgm:spPr/>
    </dgm:pt>
    <dgm:pt modelId="{FD0FB351-8C48-4A86-BDBF-F6D20F1557D5}" type="pres">
      <dgm:prSet presAssocID="{0684C083-3A70-49FD-8EAE-7486BD460C00}" presName="compNode" presStyleCnt="0"/>
      <dgm:spPr/>
    </dgm:pt>
    <dgm:pt modelId="{30EC0134-E95F-426A-BB0F-727C7C946B2E}" type="pres">
      <dgm:prSet presAssocID="{0684C083-3A70-49FD-8EAE-7486BD460C00}" presName="pictRect" presStyleLbl="node1" presStyleIdx="1" presStyleCnt="7" custLinFactNeighborX="-2297" custLinFactNeighborY="1303"/>
      <dgm:spPr>
        <a:blipFill>
          <a:blip xmlns:r="http://schemas.openxmlformats.org/officeDocument/2006/relationships" r:embed="rId2"/>
          <a:srcRect/>
          <a:stretch>
            <a:fillRect t="-10000" b="-10000"/>
          </a:stretch>
        </a:blipFill>
      </dgm:spPr>
    </dgm:pt>
    <dgm:pt modelId="{C786EBDB-7E66-4C4C-883F-F160EF3FB090}" type="pres">
      <dgm:prSet presAssocID="{0684C083-3A70-49FD-8EAE-7486BD460C00}" presName="textRect" presStyleLbl="revTx" presStyleIdx="1" presStyleCnt="7">
        <dgm:presLayoutVars>
          <dgm:bulletEnabled val="1"/>
        </dgm:presLayoutVars>
      </dgm:prSet>
      <dgm:spPr/>
    </dgm:pt>
    <dgm:pt modelId="{F664C1C6-E271-4C8D-B22B-E6DA28D581CC}" type="pres">
      <dgm:prSet presAssocID="{79ACD4F4-0788-4461-ADCD-1421CA89A86C}" presName="sibTrans" presStyleLbl="sibTrans2D1" presStyleIdx="0" presStyleCnt="0"/>
      <dgm:spPr/>
    </dgm:pt>
    <dgm:pt modelId="{27C46FAC-706E-45D6-8E33-A341307E390A}" type="pres">
      <dgm:prSet presAssocID="{E8632E37-BF60-4662-B06B-B88206FF9EC5}" presName="compNode" presStyleCnt="0"/>
      <dgm:spPr/>
    </dgm:pt>
    <dgm:pt modelId="{5EC55CFA-5491-40F4-958F-B21350D4D8F7}" type="pres">
      <dgm:prSet presAssocID="{E8632E37-BF60-4662-B06B-B88206FF9EC5}" presName="pictRect" presStyleLbl="node1" presStyleIdx="2" presStyleCnt="7"/>
      <dgm:spPr>
        <a:blipFill>
          <a:blip xmlns:r="http://schemas.openxmlformats.org/officeDocument/2006/relationships" r:embed="rId3"/>
          <a:srcRect/>
          <a:stretch>
            <a:fillRect t="-19000" b="-19000"/>
          </a:stretch>
        </a:blipFill>
      </dgm:spPr>
    </dgm:pt>
    <dgm:pt modelId="{A1AFB302-77B5-41FC-BF17-83CE6F5EEB08}" type="pres">
      <dgm:prSet presAssocID="{E8632E37-BF60-4662-B06B-B88206FF9EC5}" presName="textRect" presStyleLbl="revTx" presStyleIdx="2" presStyleCnt="7">
        <dgm:presLayoutVars>
          <dgm:bulletEnabled val="1"/>
        </dgm:presLayoutVars>
      </dgm:prSet>
      <dgm:spPr/>
    </dgm:pt>
    <dgm:pt modelId="{81404B0C-FC00-4146-BF57-0008F3831449}" type="pres">
      <dgm:prSet presAssocID="{30451832-792C-4AFA-9443-5B98D0686D6E}" presName="sibTrans" presStyleLbl="sibTrans2D1" presStyleIdx="0" presStyleCnt="0"/>
      <dgm:spPr/>
    </dgm:pt>
    <dgm:pt modelId="{724D3542-012D-451D-83BA-95494EA3FF53}" type="pres">
      <dgm:prSet presAssocID="{4A1B1B97-EEE9-4583-9D6B-3225719841A0}" presName="compNode" presStyleCnt="0"/>
      <dgm:spPr/>
    </dgm:pt>
    <dgm:pt modelId="{F024712C-B23C-476B-A42E-42039BC5AF4F}" type="pres">
      <dgm:prSet presAssocID="{4A1B1B97-EEE9-4583-9D6B-3225719841A0}" presName="pictRect" presStyleLbl="node1" presStyleIdx="3" presStyleCnt="7"/>
      <dgm:spPr>
        <a:blipFill>
          <a:blip xmlns:r="http://schemas.openxmlformats.org/officeDocument/2006/relationships" r:embed="rId4">
            <a:extLst>
              <a:ext uri="{28A0092B-C50C-407E-A947-70E740481C1C}">
                <a14:useLocalDpi xmlns:a14="http://schemas.microsoft.com/office/drawing/2010/main" val="0"/>
              </a:ext>
            </a:extLst>
          </a:blip>
          <a:stretch>
            <a:fillRect/>
          </a:stretch>
        </a:blipFill>
      </dgm:spPr>
      <dgm:extLst>
        <a:ext uri="{E40237B7-FDA0-4F09-8148-C483321AD2D9}">
          <dgm14:cNvPr xmlns:dgm14="http://schemas.microsoft.com/office/drawing/2010/diagram" id="0" name="" descr="A person in a gray coat&#10;&#10;AI-generated content may be incorrect."/>
        </a:ext>
      </dgm:extLst>
    </dgm:pt>
    <dgm:pt modelId="{88F72098-8DA4-46F6-88C5-F886D27BC996}" type="pres">
      <dgm:prSet presAssocID="{4A1B1B97-EEE9-4583-9D6B-3225719841A0}" presName="textRect" presStyleLbl="revTx" presStyleIdx="3" presStyleCnt="7">
        <dgm:presLayoutVars>
          <dgm:bulletEnabled val="1"/>
        </dgm:presLayoutVars>
      </dgm:prSet>
      <dgm:spPr/>
    </dgm:pt>
    <dgm:pt modelId="{FAC6ACD5-341F-4FE9-99B8-8CB78C970310}" type="pres">
      <dgm:prSet presAssocID="{A2D33685-5C28-403A-A4B5-E809804A9839}" presName="sibTrans" presStyleLbl="sibTrans2D1" presStyleIdx="0" presStyleCnt="0"/>
      <dgm:spPr/>
    </dgm:pt>
    <dgm:pt modelId="{DDCA7F80-C418-4D80-88B9-9862B79DAD46}" type="pres">
      <dgm:prSet presAssocID="{6E0AD03E-B16D-4B26-92DD-4A28067C1205}" presName="compNode" presStyleCnt="0"/>
      <dgm:spPr/>
    </dgm:pt>
    <dgm:pt modelId="{6974AAC8-56F9-4A74-9286-5D78290626BE}" type="pres">
      <dgm:prSet presAssocID="{6E0AD03E-B16D-4B26-92DD-4A28067C1205}" presName="pictRect" presStyleLbl="node1" presStyleIdx="4" presStyleCnt="7"/>
      <dgm:spPr>
        <a:blipFill>
          <a:blip xmlns:r="http://schemas.openxmlformats.org/officeDocument/2006/relationships" r:embed="rId5"/>
          <a:stretch>
            <a:fillRect/>
          </a:stretch>
        </a:blipFill>
      </dgm:spPr>
      <dgm:extLst>
        <a:ext uri="{E40237B7-FDA0-4F09-8148-C483321AD2D9}">
          <dgm14:cNvPr xmlns:dgm14="http://schemas.microsoft.com/office/drawing/2010/diagram" id="0" name="" descr="A person with a beard and mustache wearing a striped shirt&#10;&#10;AI-generated content may be incorrect."/>
        </a:ext>
      </dgm:extLst>
    </dgm:pt>
    <dgm:pt modelId="{CD2D31C1-07A9-424A-9215-C17DC23254CC}" type="pres">
      <dgm:prSet presAssocID="{6E0AD03E-B16D-4B26-92DD-4A28067C1205}" presName="textRect" presStyleLbl="revTx" presStyleIdx="4" presStyleCnt="7">
        <dgm:presLayoutVars>
          <dgm:bulletEnabled val="1"/>
        </dgm:presLayoutVars>
      </dgm:prSet>
      <dgm:spPr/>
    </dgm:pt>
    <dgm:pt modelId="{D2119738-7046-4A36-9FB2-2022140E4864}" type="pres">
      <dgm:prSet presAssocID="{3D28BB88-9A7B-43D8-B630-F741D43F1BA2}" presName="sibTrans" presStyleLbl="sibTrans2D1" presStyleIdx="0" presStyleCnt="0"/>
      <dgm:spPr/>
    </dgm:pt>
    <dgm:pt modelId="{DD7E3563-102F-4F01-B36E-FC8344540D9C}" type="pres">
      <dgm:prSet presAssocID="{7DA39779-1A5B-41C5-A078-DA732BD708FC}" presName="compNode" presStyleCnt="0"/>
      <dgm:spPr/>
    </dgm:pt>
    <dgm:pt modelId="{4B70BCAF-0E02-4A29-B4F1-A39CD949395B}" type="pres">
      <dgm:prSet presAssocID="{7DA39779-1A5B-41C5-A078-DA732BD708FC}" presName="pictRect" presStyleLbl="node1" presStyleIdx="5" presStyleCnt="7"/>
      <dgm:spPr>
        <a:blipFill>
          <a:blip xmlns:r="http://schemas.openxmlformats.org/officeDocument/2006/relationships" r:embed="rId6"/>
          <a:stretch>
            <a:fillRect/>
          </a:stretch>
        </a:blipFill>
      </dgm:spPr>
      <dgm:extLst>
        <a:ext uri="{E40237B7-FDA0-4F09-8148-C483321AD2D9}">
          <dgm14:cNvPr xmlns:dgm14="http://schemas.microsoft.com/office/drawing/2010/diagram" id="0" name="" descr="A person with glasses crossing his arms&#10;&#10;AI-generated content may be incorrect."/>
        </a:ext>
      </dgm:extLst>
    </dgm:pt>
    <dgm:pt modelId="{37E4192D-97C3-45B6-AE68-AAEAC9986E38}" type="pres">
      <dgm:prSet presAssocID="{7DA39779-1A5B-41C5-A078-DA732BD708FC}" presName="textRect" presStyleLbl="revTx" presStyleIdx="5" presStyleCnt="7">
        <dgm:presLayoutVars>
          <dgm:bulletEnabled val="1"/>
        </dgm:presLayoutVars>
      </dgm:prSet>
      <dgm:spPr/>
    </dgm:pt>
    <dgm:pt modelId="{869CB156-4B76-4E3E-BBD3-74FAFCAA8A2A}" type="pres">
      <dgm:prSet presAssocID="{E2EE76AE-C47D-4EC9-ADC3-7876C06A1150}" presName="sibTrans" presStyleLbl="sibTrans2D1" presStyleIdx="0" presStyleCnt="0"/>
      <dgm:spPr/>
    </dgm:pt>
    <dgm:pt modelId="{092F68BA-4831-494E-BF1E-53AA81970FF4}" type="pres">
      <dgm:prSet presAssocID="{6743124C-0B5E-4570-B5A8-CA691CE5CFA7}" presName="compNode" presStyleCnt="0"/>
      <dgm:spPr/>
    </dgm:pt>
    <dgm:pt modelId="{74863ED5-6D7C-48F4-90D6-22F06EDC8BCE}" type="pres">
      <dgm:prSet presAssocID="{6743124C-0B5E-4570-B5A8-CA691CE5CFA7}" presName="pictRect" presStyleLbl="node1" presStyleIdx="6" presStyleCnt="7"/>
      <dgm:spPr>
        <a:blipFill>
          <a:blip xmlns:r="http://schemas.openxmlformats.org/officeDocument/2006/relationships" r:embed="rId7"/>
          <a:stretch>
            <a:fillRect/>
          </a:stretch>
        </a:blipFill>
      </dgm:spPr>
      <dgm:extLst>
        <a:ext uri="{E40237B7-FDA0-4F09-8148-C483321AD2D9}">
          <dgm14:cNvPr xmlns:dgm14="http://schemas.microsoft.com/office/drawing/2010/diagram" id="0" name="" descr="A person with a beard and mustache wearing a black jacket&#10;&#10;AI-generated content may be incorrect."/>
        </a:ext>
      </dgm:extLst>
    </dgm:pt>
    <dgm:pt modelId="{2E9A26D7-C2CC-4EF1-A20F-B5998D0510E7}" type="pres">
      <dgm:prSet presAssocID="{6743124C-0B5E-4570-B5A8-CA691CE5CFA7}" presName="textRect" presStyleLbl="revTx" presStyleIdx="6" presStyleCnt="7">
        <dgm:presLayoutVars>
          <dgm:bulletEnabled val="1"/>
        </dgm:presLayoutVars>
      </dgm:prSet>
      <dgm:spPr/>
    </dgm:pt>
  </dgm:ptLst>
  <dgm:cxnLst>
    <dgm:cxn modelId="{56706F04-45AF-4FD5-A678-EE24BDCD10E4}" srcId="{0025A06D-5DF3-46C9-8541-1169108C3467}" destId="{0684C083-3A70-49FD-8EAE-7486BD460C00}" srcOrd="1" destOrd="0" parTransId="{361CF57C-B6F9-4E8F-AB1F-EB1EFB068128}" sibTransId="{79ACD4F4-0788-4461-ADCD-1421CA89A86C}"/>
    <dgm:cxn modelId="{8919AD09-5B65-482D-AB58-B3466C3A80EB}" srcId="{0025A06D-5DF3-46C9-8541-1169108C3467}" destId="{6E0AD03E-B16D-4B26-92DD-4A28067C1205}" srcOrd="4" destOrd="0" parTransId="{FCB37BBA-0665-486C-9F1C-38D3D521D5B3}" sibTransId="{3D28BB88-9A7B-43D8-B630-F741D43F1BA2}"/>
    <dgm:cxn modelId="{8BDB1E12-3CF3-4A09-8374-9F8D756F7BED}" type="presOf" srcId="{30451832-792C-4AFA-9443-5B98D0686D6E}" destId="{81404B0C-FC00-4146-BF57-0008F3831449}" srcOrd="0" destOrd="0" presId="urn:microsoft.com/office/officeart/2005/8/layout/pList1"/>
    <dgm:cxn modelId="{ECA27A29-A63C-483C-B9E2-DEE75E0F02D8}" type="presOf" srcId="{4A1B1B97-EEE9-4583-9D6B-3225719841A0}" destId="{88F72098-8DA4-46F6-88C5-F886D27BC996}" srcOrd="0" destOrd="0" presId="urn:microsoft.com/office/officeart/2005/8/layout/pList1"/>
    <dgm:cxn modelId="{1FCC963A-DAC8-43AA-8BF4-ABC3B8E61576}" type="presOf" srcId="{0684C083-3A70-49FD-8EAE-7486BD460C00}" destId="{C786EBDB-7E66-4C4C-883F-F160EF3FB090}" srcOrd="0" destOrd="0" presId="urn:microsoft.com/office/officeart/2005/8/layout/pList1"/>
    <dgm:cxn modelId="{194E915B-89EC-4081-A632-555922B529E5}" srcId="{0025A06D-5DF3-46C9-8541-1169108C3467}" destId="{6743124C-0B5E-4570-B5A8-CA691CE5CFA7}" srcOrd="6" destOrd="0" parTransId="{4BF128B9-A088-4B70-80DB-447710FC4562}" sibTransId="{DB2989BE-4A83-4058-9C8C-1F50957CF077}"/>
    <dgm:cxn modelId="{C9902465-133E-4D4A-B0B7-733F50122E86}" type="presOf" srcId="{6E0AD03E-B16D-4B26-92DD-4A28067C1205}" destId="{CD2D31C1-07A9-424A-9215-C17DC23254CC}" srcOrd="0" destOrd="0" presId="urn:microsoft.com/office/officeart/2005/8/layout/pList1"/>
    <dgm:cxn modelId="{AC35F64A-0096-4EF6-B73E-57E40ED8B026}" type="presOf" srcId="{0025A06D-5DF3-46C9-8541-1169108C3467}" destId="{705A11B9-4DE4-4816-925A-E241A1884FEF}" srcOrd="0" destOrd="0" presId="urn:microsoft.com/office/officeart/2005/8/layout/pList1"/>
    <dgm:cxn modelId="{32E7974C-76D0-4158-9370-9400322BD7B3}" type="presOf" srcId="{E8632E37-BF60-4662-B06B-B88206FF9EC5}" destId="{A1AFB302-77B5-41FC-BF17-83CE6F5EEB08}" srcOrd="0" destOrd="0" presId="urn:microsoft.com/office/officeart/2005/8/layout/pList1"/>
    <dgm:cxn modelId="{6E5BC64D-9E46-486D-B020-B91487E8B6C9}" srcId="{0025A06D-5DF3-46C9-8541-1169108C3467}" destId="{E8632E37-BF60-4662-B06B-B88206FF9EC5}" srcOrd="2" destOrd="0" parTransId="{46E3D97D-EA6D-4625-A0EB-ED531B916D7B}" sibTransId="{30451832-792C-4AFA-9443-5B98D0686D6E}"/>
    <dgm:cxn modelId="{3B45D77B-3B97-44CB-A553-CA53976BFDCD}" type="presOf" srcId="{E2EE76AE-C47D-4EC9-ADC3-7876C06A1150}" destId="{869CB156-4B76-4E3E-BBD3-74FAFCAA8A2A}" srcOrd="0" destOrd="0" presId="urn:microsoft.com/office/officeart/2005/8/layout/pList1"/>
    <dgm:cxn modelId="{2EDB348B-3685-4313-A1D2-0211DDA7A503}" srcId="{0025A06D-5DF3-46C9-8541-1169108C3467}" destId="{1B5A5E3A-000A-4ED7-8C7E-4A8A2FEA5B94}" srcOrd="0" destOrd="0" parTransId="{2755B1C9-EDE4-4E8E-9650-6F27694D8034}" sibTransId="{61273062-73D4-49BE-B8CA-10296CB494A5}"/>
    <dgm:cxn modelId="{F35DA5B8-7150-4CE8-9350-2B6D552423E1}" type="presOf" srcId="{1B5A5E3A-000A-4ED7-8C7E-4A8A2FEA5B94}" destId="{2317BBE9-71CC-4F79-85FD-4BF795E22672}" srcOrd="0" destOrd="0" presId="urn:microsoft.com/office/officeart/2005/8/layout/pList1"/>
    <dgm:cxn modelId="{03D6A8C2-1B14-481B-8AC9-11BC0BB7BAA2}" srcId="{0025A06D-5DF3-46C9-8541-1169108C3467}" destId="{7DA39779-1A5B-41C5-A078-DA732BD708FC}" srcOrd="5" destOrd="0" parTransId="{C0688252-D0D7-4D21-8A23-B3C03900C42B}" sibTransId="{E2EE76AE-C47D-4EC9-ADC3-7876C06A1150}"/>
    <dgm:cxn modelId="{A9775CD6-6714-4301-B516-207316EEF1DD}" type="presOf" srcId="{6743124C-0B5E-4570-B5A8-CA691CE5CFA7}" destId="{2E9A26D7-C2CC-4EF1-A20F-B5998D0510E7}" srcOrd="0" destOrd="0" presId="urn:microsoft.com/office/officeart/2005/8/layout/pList1"/>
    <dgm:cxn modelId="{A5B08AD7-8E78-459F-BEC4-396C47385B90}" type="presOf" srcId="{7DA39779-1A5B-41C5-A078-DA732BD708FC}" destId="{37E4192D-97C3-45B6-AE68-AAEAC9986E38}" srcOrd="0" destOrd="0" presId="urn:microsoft.com/office/officeart/2005/8/layout/pList1"/>
    <dgm:cxn modelId="{73DDA4DA-742D-4DCA-979F-49E594CD1969}" type="presOf" srcId="{79ACD4F4-0788-4461-ADCD-1421CA89A86C}" destId="{F664C1C6-E271-4C8D-B22B-E6DA28D581CC}" srcOrd="0" destOrd="0" presId="urn:microsoft.com/office/officeart/2005/8/layout/pList1"/>
    <dgm:cxn modelId="{438DC1E2-ED9D-429B-80CD-5F22350F7608}" srcId="{0025A06D-5DF3-46C9-8541-1169108C3467}" destId="{4A1B1B97-EEE9-4583-9D6B-3225719841A0}" srcOrd="3" destOrd="0" parTransId="{FB80FC4E-8E04-48BB-8465-322FA6042102}" sibTransId="{A2D33685-5C28-403A-A4B5-E809804A9839}"/>
    <dgm:cxn modelId="{1BF6CEEF-29E0-450E-B73D-51F70159F9A8}" type="presOf" srcId="{3D28BB88-9A7B-43D8-B630-F741D43F1BA2}" destId="{D2119738-7046-4A36-9FB2-2022140E4864}" srcOrd="0" destOrd="0" presId="urn:microsoft.com/office/officeart/2005/8/layout/pList1"/>
    <dgm:cxn modelId="{E073D3F1-1999-45FE-9687-476A2A7B7551}" type="presOf" srcId="{61273062-73D4-49BE-B8CA-10296CB494A5}" destId="{5D568D19-12A9-4589-9E98-8FDAB96EACBA}" srcOrd="0" destOrd="0" presId="urn:microsoft.com/office/officeart/2005/8/layout/pList1"/>
    <dgm:cxn modelId="{E3EAFEFE-070C-48A1-AEA8-1252E6020555}" type="presOf" srcId="{A2D33685-5C28-403A-A4B5-E809804A9839}" destId="{FAC6ACD5-341F-4FE9-99B8-8CB78C970310}" srcOrd="0" destOrd="0" presId="urn:microsoft.com/office/officeart/2005/8/layout/pList1"/>
    <dgm:cxn modelId="{112603A0-2CD4-44AF-8EA1-0AC6CB3F592A}" type="presParOf" srcId="{705A11B9-4DE4-4816-925A-E241A1884FEF}" destId="{D798C3A5-CF05-403D-B32C-4AB4E6444FD3}" srcOrd="0" destOrd="0" presId="urn:microsoft.com/office/officeart/2005/8/layout/pList1"/>
    <dgm:cxn modelId="{4E0E7F8E-76F2-4C7B-ADA8-766A857022DD}" type="presParOf" srcId="{D798C3A5-CF05-403D-B32C-4AB4E6444FD3}" destId="{D27FC734-2243-4F22-B764-C904C66F0C6D}" srcOrd="0" destOrd="0" presId="urn:microsoft.com/office/officeart/2005/8/layout/pList1"/>
    <dgm:cxn modelId="{33C1BC5A-02CF-45ED-9DAF-DE8BC475F013}" type="presParOf" srcId="{D798C3A5-CF05-403D-B32C-4AB4E6444FD3}" destId="{2317BBE9-71CC-4F79-85FD-4BF795E22672}" srcOrd="1" destOrd="0" presId="urn:microsoft.com/office/officeart/2005/8/layout/pList1"/>
    <dgm:cxn modelId="{B372EFBC-E6BA-4C42-AE9E-E6E7361C4C68}" type="presParOf" srcId="{705A11B9-4DE4-4816-925A-E241A1884FEF}" destId="{5D568D19-12A9-4589-9E98-8FDAB96EACBA}" srcOrd="1" destOrd="0" presId="urn:microsoft.com/office/officeart/2005/8/layout/pList1"/>
    <dgm:cxn modelId="{1496273B-B258-4366-9A41-25568CEE841C}" type="presParOf" srcId="{705A11B9-4DE4-4816-925A-E241A1884FEF}" destId="{FD0FB351-8C48-4A86-BDBF-F6D20F1557D5}" srcOrd="2" destOrd="0" presId="urn:microsoft.com/office/officeart/2005/8/layout/pList1"/>
    <dgm:cxn modelId="{B457C096-C7B7-49F1-AB12-07EBEBBBDA89}" type="presParOf" srcId="{FD0FB351-8C48-4A86-BDBF-F6D20F1557D5}" destId="{30EC0134-E95F-426A-BB0F-727C7C946B2E}" srcOrd="0" destOrd="0" presId="urn:microsoft.com/office/officeart/2005/8/layout/pList1"/>
    <dgm:cxn modelId="{D875364E-8C50-450C-B26F-4176C4C7655A}" type="presParOf" srcId="{FD0FB351-8C48-4A86-BDBF-F6D20F1557D5}" destId="{C786EBDB-7E66-4C4C-883F-F160EF3FB090}" srcOrd="1" destOrd="0" presId="urn:microsoft.com/office/officeart/2005/8/layout/pList1"/>
    <dgm:cxn modelId="{B4CC8A53-9CBE-4D49-AF85-57A4DF2AA3F3}" type="presParOf" srcId="{705A11B9-4DE4-4816-925A-E241A1884FEF}" destId="{F664C1C6-E271-4C8D-B22B-E6DA28D581CC}" srcOrd="3" destOrd="0" presId="urn:microsoft.com/office/officeart/2005/8/layout/pList1"/>
    <dgm:cxn modelId="{DD0EB00D-8E09-470F-8650-C4B06463947C}" type="presParOf" srcId="{705A11B9-4DE4-4816-925A-E241A1884FEF}" destId="{27C46FAC-706E-45D6-8E33-A341307E390A}" srcOrd="4" destOrd="0" presId="urn:microsoft.com/office/officeart/2005/8/layout/pList1"/>
    <dgm:cxn modelId="{C497F730-9913-42CF-8FB3-0DF6EB9EF144}" type="presParOf" srcId="{27C46FAC-706E-45D6-8E33-A341307E390A}" destId="{5EC55CFA-5491-40F4-958F-B21350D4D8F7}" srcOrd="0" destOrd="0" presId="urn:microsoft.com/office/officeart/2005/8/layout/pList1"/>
    <dgm:cxn modelId="{EE81A991-1568-4EBF-8DDB-470F4D34CFB5}" type="presParOf" srcId="{27C46FAC-706E-45D6-8E33-A341307E390A}" destId="{A1AFB302-77B5-41FC-BF17-83CE6F5EEB08}" srcOrd="1" destOrd="0" presId="urn:microsoft.com/office/officeart/2005/8/layout/pList1"/>
    <dgm:cxn modelId="{AD3870BD-8A2D-4F47-AB43-6FB08501C91E}" type="presParOf" srcId="{705A11B9-4DE4-4816-925A-E241A1884FEF}" destId="{81404B0C-FC00-4146-BF57-0008F3831449}" srcOrd="5" destOrd="0" presId="urn:microsoft.com/office/officeart/2005/8/layout/pList1"/>
    <dgm:cxn modelId="{829C719B-B220-41D3-A7F3-DD92653953F6}" type="presParOf" srcId="{705A11B9-4DE4-4816-925A-E241A1884FEF}" destId="{724D3542-012D-451D-83BA-95494EA3FF53}" srcOrd="6" destOrd="0" presId="urn:microsoft.com/office/officeart/2005/8/layout/pList1"/>
    <dgm:cxn modelId="{B9C15CF3-C191-4123-AC07-81713C6A545F}" type="presParOf" srcId="{724D3542-012D-451D-83BA-95494EA3FF53}" destId="{F024712C-B23C-476B-A42E-42039BC5AF4F}" srcOrd="0" destOrd="0" presId="urn:microsoft.com/office/officeart/2005/8/layout/pList1"/>
    <dgm:cxn modelId="{A83AE163-495B-46D5-AF66-96291CC52EC9}" type="presParOf" srcId="{724D3542-012D-451D-83BA-95494EA3FF53}" destId="{88F72098-8DA4-46F6-88C5-F886D27BC996}" srcOrd="1" destOrd="0" presId="urn:microsoft.com/office/officeart/2005/8/layout/pList1"/>
    <dgm:cxn modelId="{453009C9-2121-4891-8F43-F5A792E91589}" type="presParOf" srcId="{705A11B9-4DE4-4816-925A-E241A1884FEF}" destId="{FAC6ACD5-341F-4FE9-99B8-8CB78C970310}" srcOrd="7" destOrd="0" presId="urn:microsoft.com/office/officeart/2005/8/layout/pList1"/>
    <dgm:cxn modelId="{EDFC8E46-D03E-42F0-B73B-073B12FBF1A0}" type="presParOf" srcId="{705A11B9-4DE4-4816-925A-E241A1884FEF}" destId="{DDCA7F80-C418-4D80-88B9-9862B79DAD46}" srcOrd="8" destOrd="0" presId="urn:microsoft.com/office/officeart/2005/8/layout/pList1"/>
    <dgm:cxn modelId="{1D901210-4EB3-4FCF-97D1-6C63325C69F2}" type="presParOf" srcId="{DDCA7F80-C418-4D80-88B9-9862B79DAD46}" destId="{6974AAC8-56F9-4A74-9286-5D78290626BE}" srcOrd="0" destOrd="0" presId="urn:microsoft.com/office/officeart/2005/8/layout/pList1"/>
    <dgm:cxn modelId="{839B4CC7-F3B5-48B1-B368-FDB620FC9FE2}" type="presParOf" srcId="{DDCA7F80-C418-4D80-88B9-9862B79DAD46}" destId="{CD2D31C1-07A9-424A-9215-C17DC23254CC}" srcOrd="1" destOrd="0" presId="urn:microsoft.com/office/officeart/2005/8/layout/pList1"/>
    <dgm:cxn modelId="{92B5FC51-511E-442D-AE02-AC4DA1C4F8F7}" type="presParOf" srcId="{705A11B9-4DE4-4816-925A-E241A1884FEF}" destId="{D2119738-7046-4A36-9FB2-2022140E4864}" srcOrd="9" destOrd="0" presId="urn:microsoft.com/office/officeart/2005/8/layout/pList1"/>
    <dgm:cxn modelId="{803D4DC8-5C34-480D-8619-09B1FF14377D}" type="presParOf" srcId="{705A11B9-4DE4-4816-925A-E241A1884FEF}" destId="{DD7E3563-102F-4F01-B36E-FC8344540D9C}" srcOrd="10" destOrd="0" presId="urn:microsoft.com/office/officeart/2005/8/layout/pList1"/>
    <dgm:cxn modelId="{9141EEAE-7472-4413-BCC9-124CF6DFD256}" type="presParOf" srcId="{DD7E3563-102F-4F01-B36E-FC8344540D9C}" destId="{4B70BCAF-0E02-4A29-B4F1-A39CD949395B}" srcOrd="0" destOrd="0" presId="urn:microsoft.com/office/officeart/2005/8/layout/pList1"/>
    <dgm:cxn modelId="{B224A444-2CF7-46E5-86F7-5F40049A219E}" type="presParOf" srcId="{DD7E3563-102F-4F01-B36E-FC8344540D9C}" destId="{37E4192D-97C3-45B6-AE68-AAEAC9986E38}" srcOrd="1" destOrd="0" presId="urn:microsoft.com/office/officeart/2005/8/layout/pList1"/>
    <dgm:cxn modelId="{A90890E5-22A0-40C6-A247-8187715FD605}" type="presParOf" srcId="{705A11B9-4DE4-4816-925A-E241A1884FEF}" destId="{869CB156-4B76-4E3E-BBD3-74FAFCAA8A2A}" srcOrd="11" destOrd="0" presId="urn:microsoft.com/office/officeart/2005/8/layout/pList1"/>
    <dgm:cxn modelId="{9170BE88-8324-4B5B-ABAE-7918BC32FF50}" type="presParOf" srcId="{705A11B9-4DE4-4816-925A-E241A1884FEF}" destId="{092F68BA-4831-494E-BF1E-53AA81970FF4}" srcOrd="12" destOrd="0" presId="urn:microsoft.com/office/officeart/2005/8/layout/pList1"/>
    <dgm:cxn modelId="{5CE71142-FEA4-4ABC-A668-E6AC8B228A76}" type="presParOf" srcId="{092F68BA-4831-494E-BF1E-53AA81970FF4}" destId="{74863ED5-6D7C-48F4-90D6-22F06EDC8BCE}" srcOrd="0" destOrd="0" presId="urn:microsoft.com/office/officeart/2005/8/layout/pList1"/>
    <dgm:cxn modelId="{28DB0B1A-D45C-4985-8309-DFE8C93E74E7}" type="presParOf" srcId="{092F68BA-4831-494E-BF1E-53AA81970FF4}" destId="{2E9A26D7-C2CC-4EF1-A20F-B5998D0510E7}"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22033E-EBF2-49B7-BA37-19B963C6CB3D}" type="doc">
      <dgm:prSet loTypeId="urn:microsoft.com/office/officeart/2005/8/layout/process5" loCatId="process" qsTypeId="urn:microsoft.com/office/officeart/2005/8/quickstyle/simple1" qsCatId="simple" csTypeId="urn:microsoft.com/office/officeart/2005/8/colors/accent2_1" csCatId="accent2" phldr="1"/>
      <dgm:spPr/>
      <dgm:t>
        <a:bodyPr/>
        <a:lstStyle/>
        <a:p>
          <a:endParaRPr lang="en-US"/>
        </a:p>
      </dgm:t>
    </dgm:pt>
    <dgm:pt modelId="{BC47B0B2-F64E-41AC-A074-2458669302EE}">
      <dgm:prSet phldrT="[Text]" phldr="0"/>
      <dgm:spPr/>
      <dgm:t>
        <a:bodyPr/>
        <a:lstStyle/>
        <a:p>
          <a:pPr>
            <a:buNone/>
          </a:pPr>
          <a:r>
            <a:rPr lang="en-US"/>
            <a:t>Liquid impacts wall → sudden deceleration</a:t>
          </a:r>
        </a:p>
      </dgm:t>
    </dgm:pt>
    <dgm:pt modelId="{E7DBDCB5-FECD-4308-96D3-73AD1AB37ED3}" type="parTrans" cxnId="{E30BDB28-3B90-4DBF-B519-109A25E6BB71}">
      <dgm:prSet/>
      <dgm:spPr/>
      <dgm:t>
        <a:bodyPr/>
        <a:lstStyle/>
        <a:p>
          <a:endParaRPr lang="en-US"/>
        </a:p>
      </dgm:t>
    </dgm:pt>
    <dgm:pt modelId="{F94254F6-8D8C-4DF5-9E5F-156990776567}" type="sibTrans" cxnId="{E30BDB28-3B90-4DBF-B519-109A25E6BB71}">
      <dgm:prSet/>
      <dgm:spPr/>
      <dgm:t>
        <a:bodyPr/>
        <a:lstStyle/>
        <a:p>
          <a:endParaRPr lang="en-US"/>
        </a:p>
      </dgm:t>
    </dgm:pt>
    <dgm:pt modelId="{B60542A5-7A56-4499-9E1D-567CA9E64DDF}">
      <dgm:prSet phldrT="[Text]" phldr="0"/>
      <dgm:spPr/>
      <dgm:t>
        <a:bodyPr/>
        <a:lstStyle/>
        <a:p>
          <a:pPr>
            <a:buNone/>
          </a:pPr>
          <a:r>
            <a:rPr lang="en-US"/>
            <a:t>Momentum change → impact force</a:t>
          </a:r>
        </a:p>
      </dgm:t>
    </dgm:pt>
    <dgm:pt modelId="{0EE211B4-53F3-4893-B711-ECEF2F7D4F8D}" type="parTrans" cxnId="{8FD151D3-5E2D-4840-B9FE-ADEF111000D4}">
      <dgm:prSet/>
      <dgm:spPr/>
      <dgm:t>
        <a:bodyPr/>
        <a:lstStyle/>
        <a:p>
          <a:endParaRPr lang="en-US"/>
        </a:p>
      </dgm:t>
    </dgm:pt>
    <dgm:pt modelId="{CFDC4B4E-F70D-416F-85A2-B39A4AC330FA}" type="sibTrans" cxnId="{8FD151D3-5E2D-4840-B9FE-ADEF111000D4}">
      <dgm:prSet/>
      <dgm:spPr/>
      <dgm:t>
        <a:bodyPr/>
        <a:lstStyle/>
        <a:p>
          <a:endParaRPr lang="en-US"/>
        </a:p>
      </dgm:t>
    </dgm:pt>
    <dgm:pt modelId="{0B31A2E9-5381-4B0B-A96C-CC9D0C745D54}">
      <dgm:prSet phldrT="[Text]" phldr="0"/>
      <dgm:spPr/>
      <dgm:t>
        <a:bodyPr/>
        <a:lstStyle/>
        <a:p>
          <a:pPr>
            <a:buNone/>
          </a:pPr>
          <a:r>
            <a:rPr lang="en-US" b="0"/>
            <a:t>Local pressure rise (possible temperature increase)</a:t>
          </a:r>
        </a:p>
      </dgm:t>
    </dgm:pt>
    <dgm:pt modelId="{7EE75453-AC98-4E5B-8941-41022179F356}" type="parTrans" cxnId="{6DC95007-C1FE-46F0-AAEF-B0881420626B}">
      <dgm:prSet/>
      <dgm:spPr/>
      <dgm:t>
        <a:bodyPr/>
        <a:lstStyle/>
        <a:p>
          <a:endParaRPr lang="en-US"/>
        </a:p>
      </dgm:t>
    </dgm:pt>
    <dgm:pt modelId="{244441D5-3FF9-414A-A5CC-6ABE52A84D4C}" type="sibTrans" cxnId="{6DC95007-C1FE-46F0-AAEF-B0881420626B}">
      <dgm:prSet/>
      <dgm:spPr/>
      <dgm:t>
        <a:bodyPr/>
        <a:lstStyle/>
        <a:p>
          <a:endParaRPr lang="en-US"/>
        </a:p>
      </dgm:t>
    </dgm:pt>
    <dgm:pt modelId="{6DFC2F26-96A1-41E0-98E7-F5669EDC2879}">
      <dgm:prSet phldrT="[Text]" phldr="0"/>
      <dgm:spPr/>
      <dgm:t>
        <a:bodyPr/>
        <a:lstStyle/>
        <a:p>
          <a:pPr>
            <a:buNone/>
          </a:pPr>
          <a:r>
            <a:rPr lang="en-US" b="0"/>
            <a:t>Structural stress on tank</a:t>
          </a:r>
        </a:p>
      </dgm:t>
    </dgm:pt>
    <dgm:pt modelId="{8CF16566-3CBE-44B5-BE8F-CE463FB16481}" type="parTrans" cxnId="{26A4A342-F82A-4771-A5AB-8E12C8E16379}">
      <dgm:prSet/>
      <dgm:spPr/>
      <dgm:t>
        <a:bodyPr/>
        <a:lstStyle/>
        <a:p>
          <a:endParaRPr lang="en-US"/>
        </a:p>
      </dgm:t>
    </dgm:pt>
    <dgm:pt modelId="{96877368-069B-43C9-AECE-E776D4F5CB89}" type="sibTrans" cxnId="{26A4A342-F82A-4771-A5AB-8E12C8E16379}">
      <dgm:prSet/>
      <dgm:spPr/>
      <dgm:t>
        <a:bodyPr/>
        <a:lstStyle/>
        <a:p>
          <a:endParaRPr lang="en-US"/>
        </a:p>
      </dgm:t>
    </dgm:pt>
    <dgm:pt modelId="{68D6366E-225D-4C2F-A4AA-4D0C91A43D04}">
      <dgm:prSet phldrT="[Text]" phldr="0"/>
      <dgm:spPr/>
      <dgm:t>
        <a:bodyPr/>
        <a:lstStyle/>
        <a:p>
          <a:pPr>
            <a:buNone/>
          </a:pPr>
          <a:r>
            <a:rPr lang="en-US"/>
            <a:t>Gas compression → enhanced boil-off</a:t>
          </a:r>
        </a:p>
      </dgm:t>
    </dgm:pt>
    <dgm:pt modelId="{D610770A-418F-49A1-89BA-1D0CF77D7D3B}" type="parTrans" cxnId="{E3C2E12A-C00F-45FC-B59F-B91CBC8F9B54}">
      <dgm:prSet/>
      <dgm:spPr/>
      <dgm:t>
        <a:bodyPr/>
        <a:lstStyle/>
        <a:p>
          <a:endParaRPr lang="en-US"/>
        </a:p>
      </dgm:t>
    </dgm:pt>
    <dgm:pt modelId="{77444419-8A2A-491B-A83A-0D3507FAC146}" type="sibTrans" cxnId="{E3C2E12A-C00F-45FC-B59F-B91CBC8F9B54}">
      <dgm:prSet/>
      <dgm:spPr/>
      <dgm:t>
        <a:bodyPr/>
        <a:lstStyle/>
        <a:p>
          <a:endParaRPr lang="en-US"/>
        </a:p>
      </dgm:t>
    </dgm:pt>
    <dgm:pt modelId="{C635F493-9C51-4F4B-BB92-3BDA5D989662}">
      <dgm:prSet/>
      <dgm:spPr/>
      <dgm:t>
        <a:bodyPr/>
        <a:lstStyle/>
        <a:p>
          <a:r>
            <a:rPr lang="en-US"/>
            <a:t>Rocket/Vehicle functions failure risk</a:t>
          </a:r>
        </a:p>
      </dgm:t>
    </dgm:pt>
    <dgm:pt modelId="{612EAD78-89AB-4C5D-AC55-BC6B041C8F81}" type="parTrans" cxnId="{B5DDC22D-C53F-4BD7-A2C4-F47D2277568C}">
      <dgm:prSet/>
      <dgm:spPr/>
      <dgm:t>
        <a:bodyPr/>
        <a:lstStyle/>
        <a:p>
          <a:endParaRPr lang="en-US"/>
        </a:p>
      </dgm:t>
    </dgm:pt>
    <dgm:pt modelId="{5CE7E0AD-0640-4774-9A66-E5DDEC35EEB3}" type="sibTrans" cxnId="{B5DDC22D-C53F-4BD7-A2C4-F47D2277568C}">
      <dgm:prSet/>
      <dgm:spPr/>
      <dgm:t>
        <a:bodyPr/>
        <a:lstStyle/>
        <a:p>
          <a:endParaRPr lang="en-US"/>
        </a:p>
      </dgm:t>
    </dgm:pt>
    <dgm:pt modelId="{70C06979-1750-4B9E-84E1-16431A271130}" type="pres">
      <dgm:prSet presAssocID="{3C22033E-EBF2-49B7-BA37-19B963C6CB3D}" presName="diagram" presStyleCnt="0">
        <dgm:presLayoutVars>
          <dgm:dir/>
          <dgm:resizeHandles val="exact"/>
        </dgm:presLayoutVars>
      </dgm:prSet>
      <dgm:spPr/>
    </dgm:pt>
    <dgm:pt modelId="{E8CCE3A7-E63B-4A25-A3B8-A17FB4E445E7}" type="pres">
      <dgm:prSet presAssocID="{BC47B0B2-F64E-41AC-A074-2458669302EE}" presName="node" presStyleLbl="node1" presStyleIdx="0" presStyleCnt="6">
        <dgm:presLayoutVars>
          <dgm:bulletEnabled val="1"/>
        </dgm:presLayoutVars>
      </dgm:prSet>
      <dgm:spPr/>
    </dgm:pt>
    <dgm:pt modelId="{45A930D9-132C-4401-A1A4-E300F9D80526}" type="pres">
      <dgm:prSet presAssocID="{F94254F6-8D8C-4DF5-9E5F-156990776567}" presName="sibTrans" presStyleLbl="sibTrans2D1" presStyleIdx="0" presStyleCnt="5"/>
      <dgm:spPr/>
    </dgm:pt>
    <dgm:pt modelId="{1DD5FCD2-F5CD-4947-AB48-47A0E6C4D039}" type="pres">
      <dgm:prSet presAssocID="{F94254F6-8D8C-4DF5-9E5F-156990776567}" presName="connectorText" presStyleLbl="sibTrans2D1" presStyleIdx="0" presStyleCnt="5"/>
      <dgm:spPr/>
    </dgm:pt>
    <dgm:pt modelId="{A353732E-3AC6-436D-A5CF-CF5B90E9EEA8}" type="pres">
      <dgm:prSet presAssocID="{B60542A5-7A56-4499-9E1D-567CA9E64DDF}" presName="node" presStyleLbl="node1" presStyleIdx="1" presStyleCnt="6">
        <dgm:presLayoutVars>
          <dgm:bulletEnabled val="1"/>
        </dgm:presLayoutVars>
      </dgm:prSet>
      <dgm:spPr/>
    </dgm:pt>
    <dgm:pt modelId="{78625376-C597-40B0-9ADD-008B162ACDEE}" type="pres">
      <dgm:prSet presAssocID="{CFDC4B4E-F70D-416F-85A2-B39A4AC330FA}" presName="sibTrans" presStyleLbl="sibTrans2D1" presStyleIdx="1" presStyleCnt="5"/>
      <dgm:spPr/>
    </dgm:pt>
    <dgm:pt modelId="{8A646294-2CFF-4B33-9A5C-EEA308030C64}" type="pres">
      <dgm:prSet presAssocID="{CFDC4B4E-F70D-416F-85A2-B39A4AC330FA}" presName="connectorText" presStyleLbl="sibTrans2D1" presStyleIdx="1" presStyleCnt="5"/>
      <dgm:spPr/>
    </dgm:pt>
    <dgm:pt modelId="{EA5797F8-9441-4F40-9A2F-33A674B72B19}" type="pres">
      <dgm:prSet presAssocID="{0B31A2E9-5381-4B0B-A96C-CC9D0C745D54}" presName="node" presStyleLbl="node1" presStyleIdx="2" presStyleCnt="6">
        <dgm:presLayoutVars>
          <dgm:bulletEnabled val="1"/>
        </dgm:presLayoutVars>
      </dgm:prSet>
      <dgm:spPr/>
    </dgm:pt>
    <dgm:pt modelId="{A53FE75E-DFB7-403E-B293-8FD0D5F2BC58}" type="pres">
      <dgm:prSet presAssocID="{244441D5-3FF9-414A-A5CC-6ABE52A84D4C}" presName="sibTrans" presStyleLbl="sibTrans2D1" presStyleIdx="2" presStyleCnt="5"/>
      <dgm:spPr/>
    </dgm:pt>
    <dgm:pt modelId="{222756A2-0E40-4482-A17E-6AC745AA4CB4}" type="pres">
      <dgm:prSet presAssocID="{244441D5-3FF9-414A-A5CC-6ABE52A84D4C}" presName="connectorText" presStyleLbl="sibTrans2D1" presStyleIdx="2" presStyleCnt="5"/>
      <dgm:spPr/>
    </dgm:pt>
    <dgm:pt modelId="{F167648C-A18D-4F1A-ADF5-4DCB08146562}" type="pres">
      <dgm:prSet presAssocID="{68D6366E-225D-4C2F-A4AA-4D0C91A43D04}" presName="node" presStyleLbl="node1" presStyleIdx="3" presStyleCnt="6">
        <dgm:presLayoutVars>
          <dgm:bulletEnabled val="1"/>
        </dgm:presLayoutVars>
      </dgm:prSet>
      <dgm:spPr/>
    </dgm:pt>
    <dgm:pt modelId="{4F89EFDF-986A-49EC-B76E-B32091398509}" type="pres">
      <dgm:prSet presAssocID="{77444419-8A2A-491B-A83A-0D3507FAC146}" presName="sibTrans" presStyleLbl="sibTrans2D1" presStyleIdx="3" presStyleCnt="5"/>
      <dgm:spPr/>
    </dgm:pt>
    <dgm:pt modelId="{7EE04035-9867-4695-92DB-AE1AC045D25F}" type="pres">
      <dgm:prSet presAssocID="{77444419-8A2A-491B-A83A-0D3507FAC146}" presName="connectorText" presStyleLbl="sibTrans2D1" presStyleIdx="3" presStyleCnt="5"/>
      <dgm:spPr/>
    </dgm:pt>
    <dgm:pt modelId="{4D2E3B1C-2294-4AC1-A764-F0495104019F}" type="pres">
      <dgm:prSet presAssocID="{6DFC2F26-96A1-41E0-98E7-F5669EDC2879}" presName="node" presStyleLbl="node1" presStyleIdx="4" presStyleCnt="6">
        <dgm:presLayoutVars>
          <dgm:bulletEnabled val="1"/>
        </dgm:presLayoutVars>
      </dgm:prSet>
      <dgm:spPr/>
    </dgm:pt>
    <dgm:pt modelId="{64D44871-164F-4889-92A3-D40D97D31BF8}" type="pres">
      <dgm:prSet presAssocID="{96877368-069B-43C9-AECE-E776D4F5CB89}" presName="sibTrans" presStyleLbl="sibTrans2D1" presStyleIdx="4" presStyleCnt="5"/>
      <dgm:spPr/>
    </dgm:pt>
    <dgm:pt modelId="{64343F37-2438-41CF-BAD1-9A1EFAF4DD87}" type="pres">
      <dgm:prSet presAssocID="{96877368-069B-43C9-AECE-E776D4F5CB89}" presName="connectorText" presStyleLbl="sibTrans2D1" presStyleIdx="4" presStyleCnt="5"/>
      <dgm:spPr/>
    </dgm:pt>
    <dgm:pt modelId="{C84B929B-2536-4716-A58E-1502C83BC910}" type="pres">
      <dgm:prSet presAssocID="{C635F493-9C51-4F4B-BB92-3BDA5D989662}" presName="node" presStyleLbl="node1" presStyleIdx="5" presStyleCnt="6">
        <dgm:presLayoutVars>
          <dgm:bulletEnabled val="1"/>
        </dgm:presLayoutVars>
      </dgm:prSet>
      <dgm:spPr/>
    </dgm:pt>
  </dgm:ptLst>
  <dgm:cxnLst>
    <dgm:cxn modelId="{6DC95007-C1FE-46F0-AAEF-B0881420626B}" srcId="{3C22033E-EBF2-49B7-BA37-19B963C6CB3D}" destId="{0B31A2E9-5381-4B0B-A96C-CC9D0C745D54}" srcOrd="2" destOrd="0" parTransId="{7EE75453-AC98-4E5B-8941-41022179F356}" sibTransId="{244441D5-3FF9-414A-A5CC-6ABE52A84D4C}"/>
    <dgm:cxn modelId="{BC02A010-5BE4-4CD0-A396-43B73034CE4C}" type="presOf" srcId="{3C22033E-EBF2-49B7-BA37-19B963C6CB3D}" destId="{70C06979-1750-4B9E-84E1-16431A271130}" srcOrd="0" destOrd="0" presId="urn:microsoft.com/office/officeart/2005/8/layout/process5"/>
    <dgm:cxn modelId="{77CDA015-A506-4E8B-840E-B0970EF7B7C7}" type="presOf" srcId="{B60542A5-7A56-4499-9E1D-567CA9E64DDF}" destId="{A353732E-3AC6-436D-A5CF-CF5B90E9EEA8}" srcOrd="0" destOrd="0" presId="urn:microsoft.com/office/officeart/2005/8/layout/process5"/>
    <dgm:cxn modelId="{09DF9D17-3063-4C77-AF12-DA45A75732B8}" type="presOf" srcId="{F94254F6-8D8C-4DF5-9E5F-156990776567}" destId="{45A930D9-132C-4401-A1A4-E300F9D80526}" srcOrd="0" destOrd="0" presId="urn:microsoft.com/office/officeart/2005/8/layout/process5"/>
    <dgm:cxn modelId="{D9054624-87D4-4480-ABC1-CA7902055054}" type="presOf" srcId="{68D6366E-225D-4C2F-A4AA-4D0C91A43D04}" destId="{F167648C-A18D-4F1A-ADF5-4DCB08146562}" srcOrd="0" destOrd="0" presId="urn:microsoft.com/office/officeart/2005/8/layout/process5"/>
    <dgm:cxn modelId="{E30BDB28-3B90-4DBF-B519-109A25E6BB71}" srcId="{3C22033E-EBF2-49B7-BA37-19B963C6CB3D}" destId="{BC47B0B2-F64E-41AC-A074-2458669302EE}" srcOrd="0" destOrd="0" parTransId="{E7DBDCB5-FECD-4308-96D3-73AD1AB37ED3}" sibTransId="{F94254F6-8D8C-4DF5-9E5F-156990776567}"/>
    <dgm:cxn modelId="{E3C2E12A-C00F-45FC-B59F-B91CBC8F9B54}" srcId="{3C22033E-EBF2-49B7-BA37-19B963C6CB3D}" destId="{68D6366E-225D-4C2F-A4AA-4D0C91A43D04}" srcOrd="3" destOrd="0" parTransId="{D610770A-418F-49A1-89BA-1D0CF77D7D3B}" sibTransId="{77444419-8A2A-491B-A83A-0D3507FAC146}"/>
    <dgm:cxn modelId="{B5DDC22D-C53F-4BD7-A2C4-F47D2277568C}" srcId="{3C22033E-EBF2-49B7-BA37-19B963C6CB3D}" destId="{C635F493-9C51-4F4B-BB92-3BDA5D989662}" srcOrd="5" destOrd="0" parTransId="{612EAD78-89AB-4C5D-AC55-BC6B041C8F81}" sibTransId="{5CE7E0AD-0640-4774-9A66-E5DDEC35EEB3}"/>
    <dgm:cxn modelId="{26A4A342-F82A-4771-A5AB-8E12C8E16379}" srcId="{3C22033E-EBF2-49B7-BA37-19B963C6CB3D}" destId="{6DFC2F26-96A1-41E0-98E7-F5669EDC2879}" srcOrd="4" destOrd="0" parTransId="{8CF16566-3CBE-44B5-BE8F-CE463FB16481}" sibTransId="{96877368-069B-43C9-AECE-E776D4F5CB89}"/>
    <dgm:cxn modelId="{E5BBFE63-FF5F-4EA7-885F-64AED9C11851}" type="presOf" srcId="{C635F493-9C51-4F4B-BB92-3BDA5D989662}" destId="{C84B929B-2536-4716-A58E-1502C83BC910}" srcOrd="0" destOrd="0" presId="urn:microsoft.com/office/officeart/2005/8/layout/process5"/>
    <dgm:cxn modelId="{7E7EE169-B6D4-42B9-8775-22FFB0DE7291}" type="presOf" srcId="{244441D5-3FF9-414A-A5CC-6ABE52A84D4C}" destId="{A53FE75E-DFB7-403E-B293-8FD0D5F2BC58}" srcOrd="0" destOrd="0" presId="urn:microsoft.com/office/officeart/2005/8/layout/process5"/>
    <dgm:cxn modelId="{0FC1E34A-5BCC-4F2C-8BCC-E9A86F8D2051}" type="presOf" srcId="{244441D5-3FF9-414A-A5CC-6ABE52A84D4C}" destId="{222756A2-0E40-4482-A17E-6AC745AA4CB4}" srcOrd="1" destOrd="0" presId="urn:microsoft.com/office/officeart/2005/8/layout/process5"/>
    <dgm:cxn modelId="{D26B504B-B296-4449-A13B-F0A93DC1D560}" type="presOf" srcId="{CFDC4B4E-F70D-416F-85A2-B39A4AC330FA}" destId="{78625376-C597-40B0-9ADD-008B162ACDEE}" srcOrd="0" destOrd="0" presId="urn:microsoft.com/office/officeart/2005/8/layout/process5"/>
    <dgm:cxn modelId="{089E0850-B006-4818-8FC1-C2904D86E5E7}" type="presOf" srcId="{77444419-8A2A-491B-A83A-0D3507FAC146}" destId="{4F89EFDF-986A-49EC-B76E-B32091398509}" srcOrd="0" destOrd="0" presId="urn:microsoft.com/office/officeart/2005/8/layout/process5"/>
    <dgm:cxn modelId="{BA0D5971-8227-4FC2-AD30-74C0D11C635B}" type="presOf" srcId="{96877368-069B-43C9-AECE-E776D4F5CB89}" destId="{64D44871-164F-4889-92A3-D40D97D31BF8}" srcOrd="0" destOrd="0" presId="urn:microsoft.com/office/officeart/2005/8/layout/process5"/>
    <dgm:cxn modelId="{E69F8E58-0EA0-49C8-BA4C-DF4B4539E94B}" type="presOf" srcId="{F94254F6-8D8C-4DF5-9E5F-156990776567}" destId="{1DD5FCD2-F5CD-4947-AB48-47A0E6C4D039}" srcOrd="1" destOrd="0" presId="urn:microsoft.com/office/officeart/2005/8/layout/process5"/>
    <dgm:cxn modelId="{A8427F9C-E1A5-40DB-9348-8102F61D5B84}" type="presOf" srcId="{CFDC4B4E-F70D-416F-85A2-B39A4AC330FA}" destId="{8A646294-2CFF-4B33-9A5C-EEA308030C64}" srcOrd="1" destOrd="0" presId="urn:microsoft.com/office/officeart/2005/8/layout/process5"/>
    <dgm:cxn modelId="{CB6C7CA1-A875-406C-A1F3-1AF50BB066C0}" type="presOf" srcId="{BC47B0B2-F64E-41AC-A074-2458669302EE}" destId="{E8CCE3A7-E63B-4A25-A3B8-A17FB4E445E7}" srcOrd="0" destOrd="0" presId="urn:microsoft.com/office/officeart/2005/8/layout/process5"/>
    <dgm:cxn modelId="{78A495A4-FE75-4032-8F30-2E49F9BFCCF6}" type="presOf" srcId="{77444419-8A2A-491B-A83A-0D3507FAC146}" destId="{7EE04035-9867-4695-92DB-AE1AC045D25F}" srcOrd="1" destOrd="0" presId="urn:microsoft.com/office/officeart/2005/8/layout/process5"/>
    <dgm:cxn modelId="{3AE3F0C7-F882-47FE-B2E8-0E67B4BC96AE}" type="presOf" srcId="{0B31A2E9-5381-4B0B-A96C-CC9D0C745D54}" destId="{EA5797F8-9441-4F40-9A2F-33A674B72B19}" srcOrd="0" destOrd="0" presId="urn:microsoft.com/office/officeart/2005/8/layout/process5"/>
    <dgm:cxn modelId="{8FD151D3-5E2D-4840-B9FE-ADEF111000D4}" srcId="{3C22033E-EBF2-49B7-BA37-19B963C6CB3D}" destId="{B60542A5-7A56-4499-9E1D-567CA9E64DDF}" srcOrd="1" destOrd="0" parTransId="{0EE211B4-53F3-4893-B711-ECEF2F7D4F8D}" sibTransId="{CFDC4B4E-F70D-416F-85A2-B39A4AC330FA}"/>
    <dgm:cxn modelId="{B39812D6-412A-4C80-A352-D99C4E3B8210}" type="presOf" srcId="{96877368-069B-43C9-AECE-E776D4F5CB89}" destId="{64343F37-2438-41CF-BAD1-9A1EFAF4DD87}" srcOrd="1" destOrd="0" presId="urn:microsoft.com/office/officeart/2005/8/layout/process5"/>
    <dgm:cxn modelId="{9D7B7AD9-69AD-48E3-AFF5-30C5FAED804E}" type="presOf" srcId="{6DFC2F26-96A1-41E0-98E7-F5669EDC2879}" destId="{4D2E3B1C-2294-4AC1-A764-F0495104019F}" srcOrd="0" destOrd="0" presId="urn:microsoft.com/office/officeart/2005/8/layout/process5"/>
    <dgm:cxn modelId="{2A4E56DC-27C8-4512-8340-ED1D2FFFB551}" type="presParOf" srcId="{70C06979-1750-4B9E-84E1-16431A271130}" destId="{E8CCE3A7-E63B-4A25-A3B8-A17FB4E445E7}" srcOrd="0" destOrd="0" presId="urn:microsoft.com/office/officeart/2005/8/layout/process5"/>
    <dgm:cxn modelId="{2CE486BF-C9C5-4CB3-AEBA-9AB66E120171}" type="presParOf" srcId="{70C06979-1750-4B9E-84E1-16431A271130}" destId="{45A930D9-132C-4401-A1A4-E300F9D80526}" srcOrd="1" destOrd="0" presId="urn:microsoft.com/office/officeart/2005/8/layout/process5"/>
    <dgm:cxn modelId="{045DACE4-9348-4E7F-8553-4B6DEDF6B481}" type="presParOf" srcId="{45A930D9-132C-4401-A1A4-E300F9D80526}" destId="{1DD5FCD2-F5CD-4947-AB48-47A0E6C4D039}" srcOrd="0" destOrd="0" presId="urn:microsoft.com/office/officeart/2005/8/layout/process5"/>
    <dgm:cxn modelId="{9126E154-0276-4025-B183-A53CFDC26C0C}" type="presParOf" srcId="{70C06979-1750-4B9E-84E1-16431A271130}" destId="{A353732E-3AC6-436D-A5CF-CF5B90E9EEA8}" srcOrd="2" destOrd="0" presId="urn:microsoft.com/office/officeart/2005/8/layout/process5"/>
    <dgm:cxn modelId="{DB93CF6F-D0DD-47A5-B355-7C3DCD778DCD}" type="presParOf" srcId="{70C06979-1750-4B9E-84E1-16431A271130}" destId="{78625376-C597-40B0-9ADD-008B162ACDEE}" srcOrd="3" destOrd="0" presId="urn:microsoft.com/office/officeart/2005/8/layout/process5"/>
    <dgm:cxn modelId="{4B987A7C-DAD5-4573-8DA3-8DF48455A9EF}" type="presParOf" srcId="{78625376-C597-40B0-9ADD-008B162ACDEE}" destId="{8A646294-2CFF-4B33-9A5C-EEA308030C64}" srcOrd="0" destOrd="0" presId="urn:microsoft.com/office/officeart/2005/8/layout/process5"/>
    <dgm:cxn modelId="{A6CF71EC-BD86-47DA-B2CF-C0D04EC1A08E}" type="presParOf" srcId="{70C06979-1750-4B9E-84E1-16431A271130}" destId="{EA5797F8-9441-4F40-9A2F-33A674B72B19}" srcOrd="4" destOrd="0" presId="urn:microsoft.com/office/officeart/2005/8/layout/process5"/>
    <dgm:cxn modelId="{2554E6B5-FBA5-4CF0-97BE-BC404B7F13C0}" type="presParOf" srcId="{70C06979-1750-4B9E-84E1-16431A271130}" destId="{A53FE75E-DFB7-403E-B293-8FD0D5F2BC58}" srcOrd="5" destOrd="0" presId="urn:microsoft.com/office/officeart/2005/8/layout/process5"/>
    <dgm:cxn modelId="{BED5BE04-9E37-4070-952C-D8E31B5E7A91}" type="presParOf" srcId="{A53FE75E-DFB7-403E-B293-8FD0D5F2BC58}" destId="{222756A2-0E40-4482-A17E-6AC745AA4CB4}" srcOrd="0" destOrd="0" presId="urn:microsoft.com/office/officeart/2005/8/layout/process5"/>
    <dgm:cxn modelId="{0E2241F8-C52B-4EBE-90AB-9F46340BD3F5}" type="presParOf" srcId="{70C06979-1750-4B9E-84E1-16431A271130}" destId="{F167648C-A18D-4F1A-ADF5-4DCB08146562}" srcOrd="6" destOrd="0" presId="urn:microsoft.com/office/officeart/2005/8/layout/process5"/>
    <dgm:cxn modelId="{6EB2D963-4AEF-4D39-B455-4321EF4B1C6F}" type="presParOf" srcId="{70C06979-1750-4B9E-84E1-16431A271130}" destId="{4F89EFDF-986A-49EC-B76E-B32091398509}" srcOrd="7" destOrd="0" presId="urn:microsoft.com/office/officeart/2005/8/layout/process5"/>
    <dgm:cxn modelId="{60560AF1-D656-4FF1-8B7E-6EE53C970855}" type="presParOf" srcId="{4F89EFDF-986A-49EC-B76E-B32091398509}" destId="{7EE04035-9867-4695-92DB-AE1AC045D25F}" srcOrd="0" destOrd="0" presId="urn:microsoft.com/office/officeart/2005/8/layout/process5"/>
    <dgm:cxn modelId="{CB6D8430-14D7-4F6A-A0F9-47D57193CC68}" type="presParOf" srcId="{70C06979-1750-4B9E-84E1-16431A271130}" destId="{4D2E3B1C-2294-4AC1-A764-F0495104019F}" srcOrd="8" destOrd="0" presId="urn:microsoft.com/office/officeart/2005/8/layout/process5"/>
    <dgm:cxn modelId="{06B07278-95D0-48E8-8DEC-3F6A88F9D473}" type="presParOf" srcId="{70C06979-1750-4B9E-84E1-16431A271130}" destId="{64D44871-164F-4889-92A3-D40D97D31BF8}" srcOrd="9" destOrd="0" presId="urn:microsoft.com/office/officeart/2005/8/layout/process5"/>
    <dgm:cxn modelId="{F47E4777-F94B-4179-B2C5-DDBB0265737B}" type="presParOf" srcId="{64D44871-164F-4889-92A3-D40D97D31BF8}" destId="{64343F37-2438-41CF-BAD1-9A1EFAF4DD87}" srcOrd="0" destOrd="0" presId="urn:microsoft.com/office/officeart/2005/8/layout/process5"/>
    <dgm:cxn modelId="{C8265E0A-E152-40A4-9ED6-C817C8C8CD30}" type="presParOf" srcId="{70C06979-1750-4B9E-84E1-16431A271130}" destId="{C84B929B-2536-4716-A58E-1502C83BC910}"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93FA0A-4821-4060-8833-614B6E5A99A9}" type="doc">
      <dgm:prSet loTypeId="urn:microsoft.com/office/officeart/2009/3/layout/RandomtoResultProcess" loCatId="process" qsTypeId="urn:microsoft.com/office/officeart/2005/8/quickstyle/simple1" qsCatId="simple" csTypeId="urn:microsoft.com/office/officeart/2005/8/colors/accent1_5" csCatId="accent1" phldr="1"/>
      <dgm:spPr/>
      <dgm:t>
        <a:bodyPr/>
        <a:lstStyle/>
        <a:p>
          <a:endParaRPr lang="en-US"/>
        </a:p>
      </dgm:t>
    </dgm:pt>
    <dgm:pt modelId="{A8ECF0A0-9ECE-42B3-A6F5-DBF6455B1D6E}">
      <dgm:prSet phldrT="[Text]" phldr="0" custT="1"/>
      <dgm:spPr/>
      <dgm:t>
        <a:bodyPr/>
        <a:lstStyle/>
        <a:p>
          <a:r>
            <a:rPr lang="en-US" sz="1600"/>
            <a:t>Pre-Processing &amp; Numerical Solution</a:t>
          </a:r>
        </a:p>
      </dgm:t>
    </dgm:pt>
    <dgm:pt modelId="{A7B41EFB-8DFB-4467-B16F-250117DF179E}" type="parTrans" cxnId="{0638EA4B-A707-4E8B-B650-60BC8A7CA9D2}">
      <dgm:prSet/>
      <dgm:spPr/>
      <dgm:t>
        <a:bodyPr/>
        <a:lstStyle/>
        <a:p>
          <a:endParaRPr lang="en-US"/>
        </a:p>
      </dgm:t>
    </dgm:pt>
    <dgm:pt modelId="{0BBCF2B9-0C54-4D29-A3EF-8E19867FB79F}" type="sibTrans" cxnId="{0638EA4B-A707-4E8B-B650-60BC8A7CA9D2}">
      <dgm:prSet/>
      <dgm:spPr/>
      <dgm:t>
        <a:bodyPr/>
        <a:lstStyle/>
        <a:p>
          <a:endParaRPr lang="en-US"/>
        </a:p>
      </dgm:t>
    </dgm:pt>
    <dgm:pt modelId="{85B71D12-C24C-44FB-B15C-23A4AC5B252D}">
      <dgm:prSet phldrT="[Text]" phldr="0" custT="1"/>
      <dgm:spPr/>
      <dgm:t>
        <a:bodyPr/>
        <a:lstStyle/>
        <a:p>
          <a:endParaRPr lang="en-US" sz="1200"/>
        </a:p>
      </dgm:t>
    </dgm:pt>
    <dgm:pt modelId="{7CB00CA7-9EEF-4A49-9D72-332B435605D2}" type="parTrans" cxnId="{0A994C0F-ED60-434D-8F4C-51F4BFC51C4C}">
      <dgm:prSet/>
      <dgm:spPr/>
      <dgm:t>
        <a:bodyPr/>
        <a:lstStyle/>
        <a:p>
          <a:endParaRPr lang="en-US"/>
        </a:p>
      </dgm:t>
    </dgm:pt>
    <dgm:pt modelId="{1AB4E613-A596-4F21-A958-2D61F479CA3A}" type="sibTrans" cxnId="{0A994C0F-ED60-434D-8F4C-51F4BFC51C4C}">
      <dgm:prSet/>
      <dgm:spPr/>
      <dgm:t>
        <a:bodyPr/>
        <a:lstStyle/>
        <a:p>
          <a:endParaRPr lang="en-US"/>
        </a:p>
      </dgm:t>
    </dgm:pt>
    <dgm:pt modelId="{E83C47F3-BCA5-471B-89E2-84D4721EEDD9}">
      <dgm:prSet phldrT="[Text]" phldr="0" custT="1"/>
      <dgm:spPr/>
      <dgm:t>
        <a:bodyPr/>
        <a:lstStyle/>
        <a:p>
          <a:r>
            <a:rPr lang="en-US" sz="1800"/>
            <a:t>Post-Processing</a:t>
          </a:r>
        </a:p>
      </dgm:t>
    </dgm:pt>
    <dgm:pt modelId="{79316F5D-3B5D-4B82-8877-EF94AD68202E}" type="parTrans" cxnId="{38CF3081-2D5D-4789-97E0-D2B4F2D54A12}">
      <dgm:prSet/>
      <dgm:spPr/>
      <dgm:t>
        <a:bodyPr/>
        <a:lstStyle/>
        <a:p>
          <a:endParaRPr lang="en-US"/>
        </a:p>
      </dgm:t>
    </dgm:pt>
    <dgm:pt modelId="{22D5DB96-2ED5-41FC-886C-662743844A2A}" type="sibTrans" cxnId="{38CF3081-2D5D-4789-97E0-D2B4F2D54A12}">
      <dgm:prSet/>
      <dgm:spPr/>
      <dgm:t>
        <a:bodyPr/>
        <a:lstStyle/>
        <a:p>
          <a:endParaRPr lang="en-US"/>
        </a:p>
      </dgm:t>
    </dgm:pt>
    <dgm:pt modelId="{5EC89426-7D72-4B65-B1CA-E8D294A6C8A0}">
      <dgm:prSet phldrT="[Text]" phldr="0" custT="1"/>
      <dgm:spPr/>
      <dgm:t>
        <a:bodyPr/>
        <a:lstStyle/>
        <a:p>
          <a:endParaRPr lang="en-US" sz="1200"/>
        </a:p>
      </dgm:t>
    </dgm:pt>
    <dgm:pt modelId="{0899BB8E-5AE9-43FA-BE82-701843E57946}" type="parTrans" cxnId="{63365E4D-150B-4190-B6A3-945CB9FAB525}">
      <dgm:prSet/>
      <dgm:spPr/>
      <dgm:t>
        <a:bodyPr/>
        <a:lstStyle/>
        <a:p>
          <a:endParaRPr lang="en-US"/>
        </a:p>
      </dgm:t>
    </dgm:pt>
    <dgm:pt modelId="{BF5A18E2-4E18-4FAC-9557-E856D674641A}" type="sibTrans" cxnId="{63365E4D-150B-4190-B6A3-945CB9FAB525}">
      <dgm:prSet/>
      <dgm:spPr/>
      <dgm:t>
        <a:bodyPr/>
        <a:lstStyle/>
        <a:p>
          <a:endParaRPr lang="en-US"/>
        </a:p>
      </dgm:t>
    </dgm:pt>
    <dgm:pt modelId="{42382B0C-735E-4B58-B314-A9F30968D7F6}">
      <dgm:prSet phldrT="[Text]" phldr="0" custT="1"/>
      <dgm:spPr/>
      <dgm:t>
        <a:bodyPr/>
        <a:lstStyle/>
        <a:p>
          <a:r>
            <a:rPr lang="en-US" sz="1200"/>
            <a:t>Daniel Pineda Estrada</a:t>
          </a:r>
        </a:p>
      </dgm:t>
    </dgm:pt>
    <dgm:pt modelId="{AFC55267-F74D-4681-BA2D-CE3365EF02F0}" type="parTrans" cxnId="{7B94080D-76C2-4A9A-9921-96924DD3B718}">
      <dgm:prSet/>
      <dgm:spPr/>
      <dgm:t>
        <a:bodyPr/>
        <a:lstStyle/>
        <a:p>
          <a:endParaRPr lang="en-US"/>
        </a:p>
      </dgm:t>
    </dgm:pt>
    <dgm:pt modelId="{0DA7C99E-0209-485D-BA1C-33D592668A84}" type="sibTrans" cxnId="{7B94080D-76C2-4A9A-9921-96924DD3B718}">
      <dgm:prSet/>
      <dgm:spPr/>
      <dgm:t>
        <a:bodyPr/>
        <a:lstStyle/>
        <a:p>
          <a:endParaRPr lang="en-US"/>
        </a:p>
      </dgm:t>
    </dgm:pt>
    <dgm:pt modelId="{4BE2E64A-5785-415F-86C8-D5BABF2AFBBC}">
      <dgm:prSet phldrT="[Text]" phldr="0" custT="1"/>
      <dgm:spPr/>
      <dgm:t>
        <a:bodyPr/>
        <a:lstStyle/>
        <a:p>
          <a:r>
            <a:rPr lang="en-US" sz="1600"/>
            <a:t>Numerical Grid Independence Study</a:t>
          </a:r>
        </a:p>
      </dgm:t>
    </dgm:pt>
    <dgm:pt modelId="{27F40BB9-FA8F-4C87-B536-E89547F90783}" type="parTrans" cxnId="{EB38FA02-19B5-41C6-85A3-6D7EB79077C4}">
      <dgm:prSet/>
      <dgm:spPr/>
      <dgm:t>
        <a:bodyPr/>
        <a:lstStyle/>
        <a:p>
          <a:endParaRPr lang="en-US"/>
        </a:p>
      </dgm:t>
    </dgm:pt>
    <dgm:pt modelId="{C6EA1175-5159-4B82-BE8E-4A4B84C83CD5}" type="sibTrans" cxnId="{EB38FA02-19B5-41C6-85A3-6D7EB79077C4}">
      <dgm:prSet/>
      <dgm:spPr/>
      <dgm:t>
        <a:bodyPr/>
        <a:lstStyle/>
        <a:p>
          <a:endParaRPr lang="en-US"/>
        </a:p>
      </dgm:t>
    </dgm:pt>
    <dgm:pt modelId="{91EDC65A-7CDF-4EB9-AEE6-65CFB69B11B2}">
      <dgm:prSet phldrT="[Text]" phldr="0" custT="1"/>
      <dgm:spPr/>
      <dgm:t>
        <a:bodyPr/>
        <a:lstStyle/>
        <a:p>
          <a:endParaRPr lang="en-US" sz="1200"/>
        </a:p>
      </dgm:t>
    </dgm:pt>
    <dgm:pt modelId="{CE5985F1-D5EB-4920-9917-0E912712BA76}" type="parTrans" cxnId="{2E685E71-779B-498F-AA60-3FFDE8FFD9F7}">
      <dgm:prSet/>
      <dgm:spPr/>
      <dgm:t>
        <a:bodyPr/>
        <a:lstStyle/>
        <a:p>
          <a:endParaRPr lang="en-US"/>
        </a:p>
      </dgm:t>
    </dgm:pt>
    <dgm:pt modelId="{0CB0BC06-B702-4244-BE9E-1ADC93F6F021}" type="sibTrans" cxnId="{2E685E71-779B-498F-AA60-3FFDE8FFD9F7}">
      <dgm:prSet/>
      <dgm:spPr/>
      <dgm:t>
        <a:bodyPr/>
        <a:lstStyle/>
        <a:p>
          <a:endParaRPr lang="en-US"/>
        </a:p>
      </dgm:t>
    </dgm:pt>
    <dgm:pt modelId="{EAACF53B-5921-4E55-AD62-71820323086B}">
      <dgm:prSet phldrT="[Text]" phldr="0" custT="1"/>
      <dgm:spPr/>
      <dgm:t>
        <a:bodyPr/>
        <a:lstStyle/>
        <a:p>
          <a:r>
            <a:rPr lang="en-US" sz="1200"/>
            <a:t>Muhammad Ehab Nauman</a:t>
          </a:r>
        </a:p>
      </dgm:t>
    </dgm:pt>
    <dgm:pt modelId="{EB5BD09D-7DDD-4311-B903-EC03A48AF071}" type="parTrans" cxnId="{08D3B0CE-58AB-4B53-A2F4-F6BC7863255E}">
      <dgm:prSet/>
      <dgm:spPr/>
      <dgm:t>
        <a:bodyPr/>
        <a:lstStyle/>
        <a:p>
          <a:endParaRPr lang="en-US"/>
        </a:p>
      </dgm:t>
    </dgm:pt>
    <dgm:pt modelId="{963FDE22-6452-474B-AD7C-E9D8B9361048}" type="sibTrans" cxnId="{08D3B0CE-58AB-4B53-A2F4-F6BC7863255E}">
      <dgm:prSet/>
      <dgm:spPr/>
      <dgm:t>
        <a:bodyPr/>
        <a:lstStyle/>
        <a:p>
          <a:endParaRPr lang="en-US"/>
        </a:p>
      </dgm:t>
    </dgm:pt>
    <dgm:pt modelId="{783DA6DD-21E6-467F-B4BA-07D0C3E911AF}">
      <dgm:prSet custT="1"/>
      <dgm:spPr/>
      <dgm:t>
        <a:bodyPr/>
        <a:lstStyle/>
        <a:p>
          <a:r>
            <a:rPr lang="en-US" sz="1200"/>
            <a:t>Ali Morsy</a:t>
          </a:r>
        </a:p>
      </dgm:t>
    </dgm:pt>
    <dgm:pt modelId="{87358678-A14C-4086-BF92-CBC1E6FF546F}" type="parTrans" cxnId="{88DD268F-4596-414A-97BE-9B6AB2A8A51F}">
      <dgm:prSet/>
      <dgm:spPr/>
      <dgm:t>
        <a:bodyPr/>
        <a:lstStyle/>
        <a:p>
          <a:endParaRPr lang="en-US"/>
        </a:p>
      </dgm:t>
    </dgm:pt>
    <dgm:pt modelId="{B5BA7D82-2812-453B-9794-C79A9548194D}" type="sibTrans" cxnId="{88DD268F-4596-414A-97BE-9B6AB2A8A51F}">
      <dgm:prSet/>
      <dgm:spPr/>
      <dgm:t>
        <a:bodyPr/>
        <a:lstStyle/>
        <a:p>
          <a:endParaRPr lang="en-US"/>
        </a:p>
      </dgm:t>
    </dgm:pt>
    <dgm:pt modelId="{19CF4330-7C59-4ACE-9BA1-CB1D74F21843}">
      <dgm:prSet phldrT="[Text]" phldr="0" custT="1"/>
      <dgm:spPr/>
      <dgm:t>
        <a:bodyPr/>
        <a:lstStyle/>
        <a:p>
          <a:r>
            <a:rPr lang="en-US" sz="1200"/>
            <a:t>Pegah Aghasikhani</a:t>
          </a:r>
        </a:p>
      </dgm:t>
    </dgm:pt>
    <dgm:pt modelId="{4FEC0CFB-D33E-42FB-802F-3EC67A567956}" type="parTrans" cxnId="{7DF87B67-0254-4365-A80B-140B9CD44E37}">
      <dgm:prSet/>
      <dgm:spPr/>
      <dgm:t>
        <a:bodyPr/>
        <a:lstStyle/>
        <a:p>
          <a:endParaRPr lang="en-US"/>
        </a:p>
      </dgm:t>
    </dgm:pt>
    <dgm:pt modelId="{2B8B1C43-C387-4D1A-A3FA-0521B7E35F71}" type="sibTrans" cxnId="{7DF87B67-0254-4365-A80B-140B9CD44E37}">
      <dgm:prSet/>
      <dgm:spPr/>
      <dgm:t>
        <a:bodyPr/>
        <a:lstStyle/>
        <a:p>
          <a:endParaRPr lang="en-US"/>
        </a:p>
      </dgm:t>
    </dgm:pt>
    <dgm:pt modelId="{85DD4438-D44E-4305-8EE5-D0CFE0058F92}">
      <dgm:prSet phldrT="[Text]" phldr="0" custT="1"/>
      <dgm:spPr/>
      <dgm:t>
        <a:bodyPr/>
        <a:lstStyle/>
        <a:p>
          <a:r>
            <a:rPr lang="en-US" sz="1200"/>
            <a:t>Narmeen Asif</a:t>
          </a:r>
        </a:p>
      </dgm:t>
    </dgm:pt>
    <dgm:pt modelId="{F1CC5AEE-4A4A-4C99-AD5F-7C6C52E12FD0}" type="parTrans" cxnId="{1216288F-82F1-4BDD-B370-E64B97D27669}">
      <dgm:prSet/>
      <dgm:spPr/>
      <dgm:t>
        <a:bodyPr/>
        <a:lstStyle/>
        <a:p>
          <a:endParaRPr lang="en-US"/>
        </a:p>
      </dgm:t>
    </dgm:pt>
    <dgm:pt modelId="{DB8123B0-AAFB-4E0A-B21E-8DBFF6E0A167}" type="sibTrans" cxnId="{1216288F-82F1-4BDD-B370-E64B97D27669}">
      <dgm:prSet/>
      <dgm:spPr/>
      <dgm:t>
        <a:bodyPr/>
        <a:lstStyle/>
        <a:p>
          <a:endParaRPr lang="en-US"/>
        </a:p>
      </dgm:t>
    </dgm:pt>
    <dgm:pt modelId="{1CBDFD46-75A3-47B2-A6C6-0CB65D4E34DE}">
      <dgm:prSet phldrT="[Text]" phldr="0" custT="1"/>
      <dgm:spPr/>
      <dgm:t>
        <a:bodyPr/>
        <a:lstStyle/>
        <a:p>
          <a:r>
            <a:rPr lang="en-US" sz="1200"/>
            <a:t>Decency Chukwuemeka UKONU</a:t>
          </a:r>
        </a:p>
      </dgm:t>
    </dgm:pt>
    <dgm:pt modelId="{859CF863-4D3C-4D2B-A7AC-DA3EB977208D}" type="parTrans" cxnId="{7213DD47-68C4-4711-AB5A-63D178AFD86F}">
      <dgm:prSet/>
      <dgm:spPr/>
      <dgm:t>
        <a:bodyPr/>
        <a:lstStyle/>
        <a:p>
          <a:endParaRPr lang="en-US"/>
        </a:p>
      </dgm:t>
    </dgm:pt>
    <dgm:pt modelId="{95B17CB3-4373-46B4-A2A3-91BFA22DAFA5}" type="sibTrans" cxnId="{7213DD47-68C4-4711-AB5A-63D178AFD86F}">
      <dgm:prSet/>
      <dgm:spPr/>
      <dgm:t>
        <a:bodyPr/>
        <a:lstStyle/>
        <a:p>
          <a:endParaRPr lang="en-US"/>
        </a:p>
      </dgm:t>
    </dgm:pt>
    <dgm:pt modelId="{412C534B-BC80-4289-883A-620B33D6391E}">
      <dgm:prSet phldrT="[Text]" phldr="0" custT="1"/>
      <dgm:spPr/>
      <dgm:t>
        <a:bodyPr/>
        <a:lstStyle/>
        <a:p>
          <a:r>
            <a:rPr lang="en-US" sz="1200"/>
            <a:t>Taha Javed</a:t>
          </a:r>
        </a:p>
      </dgm:t>
    </dgm:pt>
    <dgm:pt modelId="{427BA94F-4987-4472-B780-B4BA607D66FB}" type="parTrans" cxnId="{7F9F0029-B134-4C9A-B752-AC71ACE84CFF}">
      <dgm:prSet/>
      <dgm:spPr/>
      <dgm:t>
        <a:bodyPr/>
        <a:lstStyle/>
        <a:p>
          <a:endParaRPr lang="en-US"/>
        </a:p>
      </dgm:t>
    </dgm:pt>
    <dgm:pt modelId="{0797F677-5251-4609-A488-7974209EAC5E}" type="sibTrans" cxnId="{7F9F0029-B134-4C9A-B752-AC71ACE84CFF}">
      <dgm:prSet/>
      <dgm:spPr/>
      <dgm:t>
        <a:bodyPr/>
        <a:lstStyle/>
        <a:p>
          <a:endParaRPr lang="en-US"/>
        </a:p>
      </dgm:t>
    </dgm:pt>
    <dgm:pt modelId="{533366D5-D82E-45EA-BB57-9F6ECE7319ED}" type="pres">
      <dgm:prSet presAssocID="{3E93FA0A-4821-4060-8833-614B6E5A99A9}" presName="Name0" presStyleCnt="0">
        <dgm:presLayoutVars>
          <dgm:dir/>
          <dgm:animOne val="branch"/>
          <dgm:animLvl val="lvl"/>
        </dgm:presLayoutVars>
      </dgm:prSet>
      <dgm:spPr/>
    </dgm:pt>
    <dgm:pt modelId="{F0260FB1-8F10-4E2D-9B36-D2735448B266}" type="pres">
      <dgm:prSet presAssocID="{A8ECF0A0-9ECE-42B3-A6F5-DBF6455B1D6E}" presName="chaos" presStyleCnt="0"/>
      <dgm:spPr/>
    </dgm:pt>
    <dgm:pt modelId="{03AD40A5-7B59-4C3A-96DD-A70134ABDB7A}" type="pres">
      <dgm:prSet presAssocID="{A8ECF0A0-9ECE-42B3-A6F5-DBF6455B1D6E}" presName="parTx1" presStyleLbl="revTx" presStyleIdx="0" presStyleCnt="5" custLinFactNeighborX="-7980"/>
      <dgm:spPr/>
    </dgm:pt>
    <dgm:pt modelId="{E3C3BDEE-BB17-4348-9FF2-C9F0712CAE93}" type="pres">
      <dgm:prSet presAssocID="{A8ECF0A0-9ECE-42B3-A6F5-DBF6455B1D6E}" presName="desTx1" presStyleLbl="revTx" presStyleIdx="1" presStyleCnt="5" custLinFactNeighborY="680">
        <dgm:presLayoutVars>
          <dgm:bulletEnabled val="1"/>
        </dgm:presLayoutVars>
      </dgm:prSet>
      <dgm:spPr/>
    </dgm:pt>
    <dgm:pt modelId="{0D3C91CA-F9FC-4BC4-8D33-EC33BB149F4C}" type="pres">
      <dgm:prSet presAssocID="{A8ECF0A0-9ECE-42B3-A6F5-DBF6455B1D6E}" presName="c1" presStyleLbl="node1" presStyleIdx="0" presStyleCnt="19" custLinFactNeighborX="-84447" custLinFactNeighborY="-5278"/>
      <dgm:spPr/>
    </dgm:pt>
    <dgm:pt modelId="{E8CC8AC2-7A4F-4A51-91AE-22305C409CC5}" type="pres">
      <dgm:prSet presAssocID="{A8ECF0A0-9ECE-42B3-A6F5-DBF6455B1D6E}" presName="c2" presStyleLbl="node1" presStyleIdx="1" presStyleCnt="19" custLinFactNeighborX="-84447" custLinFactNeighborY="-5278"/>
      <dgm:spPr/>
    </dgm:pt>
    <dgm:pt modelId="{565D53B7-175B-465B-8506-E501501B9B6A}" type="pres">
      <dgm:prSet presAssocID="{A8ECF0A0-9ECE-42B3-A6F5-DBF6455B1D6E}" presName="c3" presStyleLbl="node1" presStyleIdx="2" presStyleCnt="19" custLinFactNeighborX="-53744" custLinFactNeighborY="-3359"/>
      <dgm:spPr/>
    </dgm:pt>
    <dgm:pt modelId="{DD1E4364-C62F-4497-A779-8E7D4421C894}" type="pres">
      <dgm:prSet presAssocID="{A8ECF0A0-9ECE-42B3-A6F5-DBF6455B1D6E}" presName="c4" presStyleLbl="node1" presStyleIdx="3" presStyleCnt="19" custLinFactNeighborX="-84447" custLinFactNeighborY="-5278"/>
      <dgm:spPr/>
    </dgm:pt>
    <dgm:pt modelId="{D292CF27-74A0-4B1C-B0CE-DEF1F6006CA2}" type="pres">
      <dgm:prSet presAssocID="{A8ECF0A0-9ECE-42B3-A6F5-DBF6455B1D6E}" presName="c5" presStyleLbl="node1" presStyleIdx="4" presStyleCnt="19" custLinFactNeighborX="-84447"/>
      <dgm:spPr/>
    </dgm:pt>
    <dgm:pt modelId="{3884316C-0E20-4433-864B-B5CAFDF5EEDE}" type="pres">
      <dgm:prSet presAssocID="{A8ECF0A0-9ECE-42B3-A6F5-DBF6455B1D6E}" presName="c6" presStyleLbl="node1" presStyleIdx="5" presStyleCnt="19" custLinFactX="-282" custLinFactNeighborX="-100000"/>
      <dgm:spPr/>
    </dgm:pt>
    <dgm:pt modelId="{2A410C00-1CE2-4ABD-901E-64C3B3DD3178}" type="pres">
      <dgm:prSet presAssocID="{A8ECF0A0-9ECE-42B3-A6F5-DBF6455B1D6E}" presName="c7" presStyleLbl="node1" presStyleIdx="6" presStyleCnt="19" custLinFactNeighborX="-63821"/>
      <dgm:spPr/>
    </dgm:pt>
    <dgm:pt modelId="{BE99AA16-E040-4726-8B1C-E73F28755797}" type="pres">
      <dgm:prSet presAssocID="{A8ECF0A0-9ECE-42B3-A6F5-DBF6455B1D6E}" presName="c8" presStyleLbl="node1" presStyleIdx="7" presStyleCnt="19" custLinFactX="-282" custLinFactNeighborX="-100000"/>
      <dgm:spPr/>
    </dgm:pt>
    <dgm:pt modelId="{11C0EF2F-33AE-49AA-91CE-5386B028A700}" type="pres">
      <dgm:prSet presAssocID="{A8ECF0A0-9ECE-42B3-A6F5-DBF6455B1D6E}" presName="c9" presStyleLbl="node1" presStyleIdx="8" presStyleCnt="19" custLinFactX="-282" custLinFactNeighborX="-100000"/>
      <dgm:spPr/>
    </dgm:pt>
    <dgm:pt modelId="{EF532CF5-1432-45C4-936E-EC9C9F4A7C8C}" type="pres">
      <dgm:prSet presAssocID="{A8ECF0A0-9ECE-42B3-A6F5-DBF6455B1D6E}" presName="c10" presStyleLbl="node1" presStyleIdx="9" presStyleCnt="19" custLinFactNeighborX="-32849" custLinFactNeighborY="-2053"/>
      <dgm:spPr/>
    </dgm:pt>
    <dgm:pt modelId="{2A32CDA8-A223-4CD3-A330-FC4EEE24B2E2}" type="pres">
      <dgm:prSet presAssocID="{A8ECF0A0-9ECE-42B3-A6F5-DBF6455B1D6E}" presName="c11" presStyleLbl="node1" presStyleIdx="10" presStyleCnt="19" custLinFactX="-282" custLinFactNeighborX="-100000"/>
      <dgm:spPr/>
    </dgm:pt>
    <dgm:pt modelId="{FB16E616-861E-475A-8DED-E3C1A9009871}" type="pres">
      <dgm:prSet presAssocID="{A8ECF0A0-9ECE-42B3-A6F5-DBF6455B1D6E}" presName="c12" presStyleLbl="node1" presStyleIdx="11" presStyleCnt="19" custLinFactNeighborX="-63821"/>
      <dgm:spPr/>
    </dgm:pt>
    <dgm:pt modelId="{FB79DCA3-8F3A-475E-B33A-89313EAAD68D}" type="pres">
      <dgm:prSet presAssocID="{A8ECF0A0-9ECE-42B3-A6F5-DBF6455B1D6E}" presName="c13" presStyleLbl="node1" presStyleIdx="12" presStyleCnt="19" custLinFactNeighborX="-43871"/>
      <dgm:spPr/>
    </dgm:pt>
    <dgm:pt modelId="{0378E0A8-8DDA-4510-B989-B8525BEB3B5A}" type="pres">
      <dgm:prSet presAssocID="{A8ECF0A0-9ECE-42B3-A6F5-DBF6455B1D6E}" presName="c14" presStyleLbl="node1" presStyleIdx="13" presStyleCnt="19" custLinFactX="-282" custLinFactNeighborX="-100000"/>
      <dgm:spPr/>
    </dgm:pt>
    <dgm:pt modelId="{D01AB175-382D-4893-BE79-835CB377A380}" type="pres">
      <dgm:prSet presAssocID="{A8ECF0A0-9ECE-42B3-A6F5-DBF6455B1D6E}" presName="c15" presStyleLbl="node1" presStyleIdx="14" presStyleCnt="19" custLinFactNeighborX="-63821"/>
      <dgm:spPr/>
    </dgm:pt>
    <dgm:pt modelId="{8FFEAC3E-BB7A-41E0-B318-6CB931233EEE}" type="pres">
      <dgm:prSet presAssocID="{A8ECF0A0-9ECE-42B3-A6F5-DBF6455B1D6E}" presName="c16" presStyleLbl="node1" presStyleIdx="15" presStyleCnt="19" custLinFactX="-282" custLinFactNeighborX="-100000"/>
      <dgm:spPr/>
    </dgm:pt>
    <dgm:pt modelId="{67653F5A-7382-4090-A658-3CC5E41CF10E}" type="pres">
      <dgm:prSet presAssocID="{A8ECF0A0-9ECE-42B3-A6F5-DBF6455B1D6E}" presName="c17" presStyleLbl="node1" presStyleIdx="16" presStyleCnt="19" custLinFactNeighborX="-43871"/>
      <dgm:spPr/>
    </dgm:pt>
    <dgm:pt modelId="{BAFC2D2E-BBFF-40C8-A828-B7A4DA68CE0D}" type="pres">
      <dgm:prSet presAssocID="{A8ECF0A0-9ECE-42B3-A6F5-DBF6455B1D6E}" presName="c18" presStyleLbl="node1" presStyleIdx="17" presStyleCnt="19" custLinFactNeighborX="-63821"/>
      <dgm:spPr/>
    </dgm:pt>
    <dgm:pt modelId="{2E4633A6-95A2-4918-BA8E-32A2BF5D52AD}" type="pres">
      <dgm:prSet presAssocID="{0BBCF2B9-0C54-4D29-A3EF-8E19867FB79F}" presName="chevronComposite1" presStyleCnt="0"/>
      <dgm:spPr/>
    </dgm:pt>
    <dgm:pt modelId="{5FAAC892-43F9-4281-BA34-83729C7D9667}" type="pres">
      <dgm:prSet presAssocID="{0BBCF2B9-0C54-4D29-A3EF-8E19867FB79F}" presName="chevron1" presStyleLbl="sibTrans2D1" presStyleIdx="0" presStyleCnt="2" custLinFactNeighborX="-14872"/>
      <dgm:spPr/>
    </dgm:pt>
    <dgm:pt modelId="{A1165857-6B39-42D9-8816-63186F76A383}" type="pres">
      <dgm:prSet presAssocID="{0BBCF2B9-0C54-4D29-A3EF-8E19867FB79F}" presName="spChevron1" presStyleCnt="0"/>
      <dgm:spPr/>
    </dgm:pt>
    <dgm:pt modelId="{D07F0E14-AF4B-4E5C-9A08-57D2DA6FE2D0}" type="pres">
      <dgm:prSet presAssocID="{E83C47F3-BCA5-471B-89E2-84D4721EEDD9}" presName="middle" presStyleCnt="0"/>
      <dgm:spPr/>
    </dgm:pt>
    <dgm:pt modelId="{B223E463-3564-4948-8C9F-1FCF79ADBFF5}" type="pres">
      <dgm:prSet presAssocID="{E83C47F3-BCA5-471B-89E2-84D4721EEDD9}" presName="parTxMid" presStyleLbl="revTx" presStyleIdx="2" presStyleCnt="5"/>
      <dgm:spPr/>
    </dgm:pt>
    <dgm:pt modelId="{D781D819-2135-48AE-866C-4249056ADE29}" type="pres">
      <dgm:prSet presAssocID="{E83C47F3-BCA5-471B-89E2-84D4721EEDD9}" presName="desTxMid" presStyleLbl="revTx" presStyleIdx="3" presStyleCnt="5">
        <dgm:presLayoutVars>
          <dgm:bulletEnabled val="1"/>
        </dgm:presLayoutVars>
      </dgm:prSet>
      <dgm:spPr/>
    </dgm:pt>
    <dgm:pt modelId="{058AF25F-68D2-4115-957A-333482EFD1DB}" type="pres">
      <dgm:prSet presAssocID="{E83C47F3-BCA5-471B-89E2-84D4721EEDD9}" presName="spMid" presStyleCnt="0"/>
      <dgm:spPr/>
    </dgm:pt>
    <dgm:pt modelId="{F3710468-6BC5-44FE-9339-B0C1D31A69A3}" type="pres">
      <dgm:prSet presAssocID="{22D5DB96-2ED5-41FC-886C-662743844A2A}" presName="chevronComposite1" presStyleCnt="0"/>
      <dgm:spPr/>
    </dgm:pt>
    <dgm:pt modelId="{EF27FDFA-2FD0-441F-A421-C574D3EBF9C2}" type="pres">
      <dgm:prSet presAssocID="{22D5DB96-2ED5-41FC-886C-662743844A2A}" presName="chevron1" presStyleLbl="sibTrans2D1" presStyleIdx="1" presStyleCnt="2" custLinFactNeighborX="-23607" custLinFactNeighborY="-1292"/>
      <dgm:spPr/>
    </dgm:pt>
    <dgm:pt modelId="{40B7F6EE-3190-41E9-8779-65ECE3FC3900}" type="pres">
      <dgm:prSet presAssocID="{22D5DB96-2ED5-41FC-886C-662743844A2A}" presName="spChevron1" presStyleCnt="0"/>
      <dgm:spPr/>
    </dgm:pt>
    <dgm:pt modelId="{22846F59-B9F6-480D-910D-4B7332EB1A16}" type="pres">
      <dgm:prSet presAssocID="{4BE2E64A-5785-415F-86C8-D5BABF2AFBBC}" presName="last" presStyleCnt="0"/>
      <dgm:spPr/>
    </dgm:pt>
    <dgm:pt modelId="{560B0BD6-2219-4327-A8F5-5DF7E7B0A99D}" type="pres">
      <dgm:prSet presAssocID="{4BE2E64A-5785-415F-86C8-D5BABF2AFBBC}" presName="circleTx" presStyleLbl="node1" presStyleIdx="18" presStyleCnt="19" custScaleX="121369" custScaleY="84958" custLinFactNeighborY="-3269"/>
      <dgm:spPr>
        <a:prstGeom prst="flowChartConnector">
          <a:avLst/>
        </a:prstGeom>
      </dgm:spPr>
    </dgm:pt>
    <dgm:pt modelId="{38CB260D-8149-4019-979A-B06BDD7D600D}" type="pres">
      <dgm:prSet presAssocID="{4BE2E64A-5785-415F-86C8-D5BABF2AFBBC}" presName="desTxN" presStyleLbl="revTx" presStyleIdx="4" presStyleCnt="5" custLinFactNeighborX="397" custLinFactNeighborY="643">
        <dgm:presLayoutVars>
          <dgm:bulletEnabled val="1"/>
        </dgm:presLayoutVars>
      </dgm:prSet>
      <dgm:spPr/>
    </dgm:pt>
    <dgm:pt modelId="{A0603835-51EB-4965-8072-22305AFBF262}" type="pres">
      <dgm:prSet presAssocID="{4BE2E64A-5785-415F-86C8-D5BABF2AFBBC}" presName="spN" presStyleCnt="0"/>
      <dgm:spPr/>
    </dgm:pt>
  </dgm:ptLst>
  <dgm:cxnLst>
    <dgm:cxn modelId="{EB38FA02-19B5-41C6-85A3-6D7EB79077C4}" srcId="{3E93FA0A-4821-4060-8833-614B6E5A99A9}" destId="{4BE2E64A-5785-415F-86C8-D5BABF2AFBBC}" srcOrd="2" destOrd="0" parTransId="{27F40BB9-FA8F-4C87-B536-E89547F90783}" sibTransId="{C6EA1175-5159-4B82-BE8E-4A4B84C83CD5}"/>
    <dgm:cxn modelId="{7B94080D-76C2-4A9A-9921-96924DD3B718}" srcId="{E83C47F3-BCA5-471B-89E2-84D4721EEDD9}" destId="{42382B0C-735E-4B58-B314-A9F30968D7F6}" srcOrd="2" destOrd="0" parTransId="{AFC55267-F74D-4681-BA2D-CE3365EF02F0}" sibTransId="{0DA7C99E-0209-485D-BA1C-33D592668A84}"/>
    <dgm:cxn modelId="{0A994C0F-ED60-434D-8F4C-51F4BFC51C4C}" srcId="{A8ECF0A0-9ECE-42B3-A6F5-DBF6455B1D6E}" destId="{85B71D12-C24C-44FB-B15C-23A4AC5B252D}" srcOrd="0" destOrd="0" parTransId="{7CB00CA7-9EEF-4A49-9D72-332B435605D2}" sibTransId="{1AB4E613-A596-4F21-A958-2D61F479CA3A}"/>
    <dgm:cxn modelId="{9DEE0716-4D08-4CE2-A91F-63ADF32C86A9}" type="presOf" srcId="{EAACF53B-5921-4E55-AD62-71820323086B}" destId="{38CB260D-8149-4019-979A-B06BDD7D600D}" srcOrd="0" destOrd="2" presId="urn:microsoft.com/office/officeart/2009/3/layout/RandomtoResultProcess"/>
    <dgm:cxn modelId="{BBB34827-7447-48AD-860B-904ACA6736F2}" type="presOf" srcId="{783DA6DD-21E6-467F-B4BA-07D0C3E911AF}" destId="{D781D819-2135-48AE-866C-4249056ADE29}" srcOrd="0" destOrd="3" presId="urn:microsoft.com/office/officeart/2009/3/layout/RandomtoResultProcess"/>
    <dgm:cxn modelId="{7F9F0029-B134-4C9A-B752-AC71ACE84CFF}" srcId="{4BE2E64A-5785-415F-86C8-D5BABF2AFBBC}" destId="{412C534B-BC80-4289-883A-620B33D6391E}" srcOrd="1" destOrd="0" parTransId="{427BA94F-4987-4472-B780-B4BA607D66FB}" sibTransId="{0797F677-5251-4609-A488-7974209EAC5E}"/>
    <dgm:cxn modelId="{7DF87B67-0254-4365-A80B-140B9CD44E37}" srcId="{A8ECF0A0-9ECE-42B3-A6F5-DBF6455B1D6E}" destId="{19CF4330-7C59-4ACE-9BA1-CB1D74F21843}" srcOrd="2" destOrd="0" parTransId="{4FEC0CFB-D33E-42FB-802F-3EC67A567956}" sibTransId="{2B8B1C43-C387-4D1A-A3FA-0521B7E35F71}"/>
    <dgm:cxn modelId="{7213DD47-68C4-4711-AB5A-63D178AFD86F}" srcId="{E83C47F3-BCA5-471B-89E2-84D4721EEDD9}" destId="{1CBDFD46-75A3-47B2-A6C6-0CB65D4E34DE}" srcOrd="1" destOrd="0" parTransId="{859CF863-4D3C-4D2B-A7AC-DA3EB977208D}" sibTransId="{95B17CB3-4373-46B4-A2A3-91BFA22DAFA5}"/>
    <dgm:cxn modelId="{2B77ED47-3803-46CF-BB38-994D2FF963DF}" type="presOf" srcId="{A8ECF0A0-9ECE-42B3-A6F5-DBF6455B1D6E}" destId="{03AD40A5-7B59-4C3A-96DD-A70134ABDB7A}" srcOrd="0" destOrd="0" presId="urn:microsoft.com/office/officeart/2009/3/layout/RandomtoResultProcess"/>
    <dgm:cxn modelId="{0638EA4B-A707-4E8B-B650-60BC8A7CA9D2}" srcId="{3E93FA0A-4821-4060-8833-614B6E5A99A9}" destId="{A8ECF0A0-9ECE-42B3-A6F5-DBF6455B1D6E}" srcOrd="0" destOrd="0" parTransId="{A7B41EFB-8DFB-4467-B16F-250117DF179E}" sibTransId="{0BBCF2B9-0C54-4D29-A3EF-8E19867FB79F}"/>
    <dgm:cxn modelId="{63365E4D-150B-4190-B6A3-945CB9FAB525}" srcId="{E83C47F3-BCA5-471B-89E2-84D4721EEDD9}" destId="{5EC89426-7D72-4B65-B1CA-E8D294A6C8A0}" srcOrd="0" destOrd="0" parTransId="{0899BB8E-5AE9-43FA-BE82-701843E57946}" sibTransId="{BF5A18E2-4E18-4FAC-9557-E856D674641A}"/>
    <dgm:cxn modelId="{2E685E71-779B-498F-AA60-3FFDE8FFD9F7}" srcId="{4BE2E64A-5785-415F-86C8-D5BABF2AFBBC}" destId="{91EDC65A-7CDF-4EB9-AEE6-65CFB69B11B2}" srcOrd="0" destOrd="0" parTransId="{CE5985F1-D5EB-4920-9917-0E912712BA76}" sibTransId="{0CB0BC06-B702-4244-BE9E-1ADC93F6F021}"/>
    <dgm:cxn modelId="{D0DFB173-CEFD-4221-AE36-2B81C335D2DA}" type="presOf" srcId="{E83C47F3-BCA5-471B-89E2-84D4721EEDD9}" destId="{B223E463-3564-4948-8C9F-1FCF79ADBFF5}" srcOrd="0" destOrd="0" presId="urn:microsoft.com/office/officeart/2009/3/layout/RandomtoResultProcess"/>
    <dgm:cxn modelId="{E8DC847D-BC2D-4F40-B9D6-D5896882FA0E}" type="presOf" srcId="{85DD4438-D44E-4305-8EE5-D0CFE0058F92}" destId="{E3C3BDEE-BB17-4348-9FF2-C9F0712CAE93}" srcOrd="0" destOrd="1" presId="urn:microsoft.com/office/officeart/2009/3/layout/RandomtoResultProcess"/>
    <dgm:cxn modelId="{38CF3081-2D5D-4789-97E0-D2B4F2D54A12}" srcId="{3E93FA0A-4821-4060-8833-614B6E5A99A9}" destId="{E83C47F3-BCA5-471B-89E2-84D4721EEDD9}" srcOrd="1" destOrd="0" parTransId="{79316F5D-3B5D-4B82-8877-EF94AD68202E}" sibTransId="{22D5DB96-2ED5-41FC-886C-662743844A2A}"/>
    <dgm:cxn modelId="{E73AC18D-36C5-4F1A-9E1F-B0BD1B0E9DC6}" type="presOf" srcId="{91EDC65A-7CDF-4EB9-AEE6-65CFB69B11B2}" destId="{38CB260D-8149-4019-979A-B06BDD7D600D}" srcOrd="0" destOrd="0" presId="urn:microsoft.com/office/officeart/2009/3/layout/RandomtoResultProcess"/>
    <dgm:cxn modelId="{88DD268F-4596-414A-97BE-9B6AB2A8A51F}" srcId="{E83C47F3-BCA5-471B-89E2-84D4721EEDD9}" destId="{783DA6DD-21E6-467F-B4BA-07D0C3E911AF}" srcOrd="3" destOrd="0" parTransId="{87358678-A14C-4086-BF92-CBC1E6FF546F}" sibTransId="{B5BA7D82-2812-453B-9794-C79A9548194D}"/>
    <dgm:cxn modelId="{1216288F-82F1-4BDD-B370-E64B97D27669}" srcId="{A8ECF0A0-9ECE-42B3-A6F5-DBF6455B1D6E}" destId="{85DD4438-D44E-4305-8EE5-D0CFE0058F92}" srcOrd="1" destOrd="0" parTransId="{F1CC5AEE-4A4A-4C99-AD5F-7C6C52E12FD0}" sibTransId="{DB8123B0-AAFB-4E0A-B21E-8DBFF6E0A167}"/>
    <dgm:cxn modelId="{46C4E59C-6C46-4444-B85C-532119497559}" type="presOf" srcId="{412C534B-BC80-4289-883A-620B33D6391E}" destId="{38CB260D-8149-4019-979A-B06BDD7D600D}" srcOrd="0" destOrd="1" presId="urn:microsoft.com/office/officeart/2009/3/layout/RandomtoResultProcess"/>
    <dgm:cxn modelId="{9D45A8B2-BE1A-4828-8E9C-4A9E62A93DB7}" type="presOf" srcId="{1CBDFD46-75A3-47B2-A6C6-0CB65D4E34DE}" destId="{D781D819-2135-48AE-866C-4249056ADE29}" srcOrd="0" destOrd="1" presId="urn:microsoft.com/office/officeart/2009/3/layout/RandomtoResultProcess"/>
    <dgm:cxn modelId="{C8BB91B9-B0A3-4A53-AFE0-675597342ECE}" type="presOf" srcId="{42382B0C-735E-4B58-B314-A9F30968D7F6}" destId="{D781D819-2135-48AE-866C-4249056ADE29}" srcOrd="0" destOrd="2" presId="urn:microsoft.com/office/officeart/2009/3/layout/RandomtoResultProcess"/>
    <dgm:cxn modelId="{7D0D8BBC-9A63-4348-AFFB-77012F867E2B}" type="presOf" srcId="{5EC89426-7D72-4B65-B1CA-E8D294A6C8A0}" destId="{D781D819-2135-48AE-866C-4249056ADE29}" srcOrd="0" destOrd="0" presId="urn:microsoft.com/office/officeart/2009/3/layout/RandomtoResultProcess"/>
    <dgm:cxn modelId="{086122C5-DA90-4F95-88E9-EC309078CE22}" type="presOf" srcId="{85B71D12-C24C-44FB-B15C-23A4AC5B252D}" destId="{E3C3BDEE-BB17-4348-9FF2-C9F0712CAE93}" srcOrd="0" destOrd="0" presId="urn:microsoft.com/office/officeart/2009/3/layout/RandomtoResultProcess"/>
    <dgm:cxn modelId="{08D3B0CE-58AB-4B53-A2F4-F6BC7863255E}" srcId="{4BE2E64A-5785-415F-86C8-D5BABF2AFBBC}" destId="{EAACF53B-5921-4E55-AD62-71820323086B}" srcOrd="2" destOrd="0" parTransId="{EB5BD09D-7DDD-4311-B903-EC03A48AF071}" sibTransId="{963FDE22-6452-474B-AD7C-E9D8B9361048}"/>
    <dgm:cxn modelId="{ED3D77DA-4F2B-4721-A473-BFEE822A2AC7}" type="presOf" srcId="{4BE2E64A-5785-415F-86C8-D5BABF2AFBBC}" destId="{560B0BD6-2219-4327-A8F5-5DF7E7B0A99D}" srcOrd="0" destOrd="0" presId="urn:microsoft.com/office/officeart/2009/3/layout/RandomtoResultProcess"/>
    <dgm:cxn modelId="{EB673BF8-3A73-4921-ADFB-8C67F0927A15}" type="presOf" srcId="{3E93FA0A-4821-4060-8833-614B6E5A99A9}" destId="{533366D5-D82E-45EA-BB57-9F6ECE7319ED}" srcOrd="0" destOrd="0" presId="urn:microsoft.com/office/officeart/2009/3/layout/RandomtoResultProcess"/>
    <dgm:cxn modelId="{9274C7FE-E0E6-489F-BD1E-3629DE0C73D3}" type="presOf" srcId="{19CF4330-7C59-4ACE-9BA1-CB1D74F21843}" destId="{E3C3BDEE-BB17-4348-9FF2-C9F0712CAE93}" srcOrd="0" destOrd="2" presId="urn:microsoft.com/office/officeart/2009/3/layout/RandomtoResultProcess"/>
    <dgm:cxn modelId="{DE997CBA-235C-49FC-94A4-ACEEA8920CBF}" type="presParOf" srcId="{533366D5-D82E-45EA-BB57-9F6ECE7319ED}" destId="{F0260FB1-8F10-4E2D-9B36-D2735448B266}" srcOrd="0" destOrd="0" presId="urn:microsoft.com/office/officeart/2009/3/layout/RandomtoResultProcess"/>
    <dgm:cxn modelId="{BBAE687D-52F9-477A-89B0-CCC4494BA8A7}" type="presParOf" srcId="{F0260FB1-8F10-4E2D-9B36-D2735448B266}" destId="{03AD40A5-7B59-4C3A-96DD-A70134ABDB7A}" srcOrd="0" destOrd="0" presId="urn:microsoft.com/office/officeart/2009/3/layout/RandomtoResultProcess"/>
    <dgm:cxn modelId="{A622024E-440C-4B06-8234-96EE4351ACDD}" type="presParOf" srcId="{F0260FB1-8F10-4E2D-9B36-D2735448B266}" destId="{E3C3BDEE-BB17-4348-9FF2-C9F0712CAE93}" srcOrd="1" destOrd="0" presId="urn:microsoft.com/office/officeart/2009/3/layout/RandomtoResultProcess"/>
    <dgm:cxn modelId="{DB20079E-CD11-4DBB-9405-FEBA9E77D839}" type="presParOf" srcId="{F0260FB1-8F10-4E2D-9B36-D2735448B266}" destId="{0D3C91CA-F9FC-4BC4-8D33-EC33BB149F4C}" srcOrd="2" destOrd="0" presId="urn:microsoft.com/office/officeart/2009/3/layout/RandomtoResultProcess"/>
    <dgm:cxn modelId="{5235023C-B76A-4B2B-B3D1-37C367F067AE}" type="presParOf" srcId="{F0260FB1-8F10-4E2D-9B36-D2735448B266}" destId="{E8CC8AC2-7A4F-4A51-91AE-22305C409CC5}" srcOrd="3" destOrd="0" presId="urn:microsoft.com/office/officeart/2009/3/layout/RandomtoResultProcess"/>
    <dgm:cxn modelId="{AA9AFB57-D340-45E6-9A5D-E01418F88FF1}" type="presParOf" srcId="{F0260FB1-8F10-4E2D-9B36-D2735448B266}" destId="{565D53B7-175B-465B-8506-E501501B9B6A}" srcOrd="4" destOrd="0" presId="urn:microsoft.com/office/officeart/2009/3/layout/RandomtoResultProcess"/>
    <dgm:cxn modelId="{A97D5E72-FF53-414A-AF3A-F7D77FB1C5FA}" type="presParOf" srcId="{F0260FB1-8F10-4E2D-9B36-D2735448B266}" destId="{DD1E4364-C62F-4497-A779-8E7D4421C894}" srcOrd="5" destOrd="0" presId="urn:microsoft.com/office/officeart/2009/3/layout/RandomtoResultProcess"/>
    <dgm:cxn modelId="{C3B1BC60-EA42-4EFF-9F29-3F4EA2687E6D}" type="presParOf" srcId="{F0260FB1-8F10-4E2D-9B36-D2735448B266}" destId="{D292CF27-74A0-4B1C-B0CE-DEF1F6006CA2}" srcOrd="6" destOrd="0" presId="urn:microsoft.com/office/officeart/2009/3/layout/RandomtoResultProcess"/>
    <dgm:cxn modelId="{B2C37519-4FA2-477C-A775-6421F4C695F3}" type="presParOf" srcId="{F0260FB1-8F10-4E2D-9B36-D2735448B266}" destId="{3884316C-0E20-4433-864B-B5CAFDF5EEDE}" srcOrd="7" destOrd="0" presId="urn:microsoft.com/office/officeart/2009/3/layout/RandomtoResultProcess"/>
    <dgm:cxn modelId="{E0263B9C-078E-4F8A-AF0C-E687FD37B8E4}" type="presParOf" srcId="{F0260FB1-8F10-4E2D-9B36-D2735448B266}" destId="{2A410C00-1CE2-4ABD-901E-64C3B3DD3178}" srcOrd="8" destOrd="0" presId="urn:microsoft.com/office/officeart/2009/3/layout/RandomtoResultProcess"/>
    <dgm:cxn modelId="{D75BF69F-52EC-4298-8739-611BF816ECE8}" type="presParOf" srcId="{F0260FB1-8F10-4E2D-9B36-D2735448B266}" destId="{BE99AA16-E040-4726-8B1C-E73F28755797}" srcOrd="9" destOrd="0" presId="urn:microsoft.com/office/officeart/2009/3/layout/RandomtoResultProcess"/>
    <dgm:cxn modelId="{98E384AA-7798-4A4B-A4C5-58FAF730A0F2}" type="presParOf" srcId="{F0260FB1-8F10-4E2D-9B36-D2735448B266}" destId="{11C0EF2F-33AE-49AA-91CE-5386B028A700}" srcOrd="10" destOrd="0" presId="urn:microsoft.com/office/officeart/2009/3/layout/RandomtoResultProcess"/>
    <dgm:cxn modelId="{1053AA60-0629-4102-AD2E-2B5FBD78CA26}" type="presParOf" srcId="{F0260FB1-8F10-4E2D-9B36-D2735448B266}" destId="{EF532CF5-1432-45C4-936E-EC9C9F4A7C8C}" srcOrd="11" destOrd="0" presId="urn:microsoft.com/office/officeart/2009/3/layout/RandomtoResultProcess"/>
    <dgm:cxn modelId="{E02F5BF3-5DE7-47AB-A6D4-D4801EB073FA}" type="presParOf" srcId="{F0260FB1-8F10-4E2D-9B36-D2735448B266}" destId="{2A32CDA8-A223-4CD3-A330-FC4EEE24B2E2}" srcOrd="12" destOrd="0" presId="urn:microsoft.com/office/officeart/2009/3/layout/RandomtoResultProcess"/>
    <dgm:cxn modelId="{484F10F5-3EF9-46ED-A5DD-BBD65EDE2F95}" type="presParOf" srcId="{F0260FB1-8F10-4E2D-9B36-D2735448B266}" destId="{FB16E616-861E-475A-8DED-E3C1A9009871}" srcOrd="13" destOrd="0" presId="urn:microsoft.com/office/officeart/2009/3/layout/RandomtoResultProcess"/>
    <dgm:cxn modelId="{4C3811E5-4FB9-4D39-8B32-813B2BEC8E5E}" type="presParOf" srcId="{F0260FB1-8F10-4E2D-9B36-D2735448B266}" destId="{FB79DCA3-8F3A-475E-B33A-89313EAAD68D}" srcOrd="14" destOrd="0" presId="urn:microsoft.com/office/officeart/2009/3/layout/RandomtoResultProcess"/>
    <dgm:cxn modelId="{BFF51496-BBFD-43FC-A9B2-4FACAD834895}" type="presParOf" srcId="{F0260FB1-8F10-4E2D-9B36-D2735448B266}" destId="{0378E0A8-8DDA-4510-B989-B8525BEB3B5A}" srcOrd="15" destOrd="0" presId="urn:microsoft.com/office/officeart/2009/3/layout/RandomtoResultProcess"/>
    <dgm:cxn modelId="{30E1FFDD-00BE-43F9-A7AE-2180BCADE045}" type="presParOf" srcId="{F0260FB1-8F10-4E2D-9B36-D2735448B266}" destId="{D01AB175-382D-4893-BE79-835CB377A380}" srcOrd="16" destOrd="0" presId="urn:microsoft.com/office/officeart/2009/3/layout/RandomtoResultProcess"/>
    <dgm:cxn modelId="{987AC33A-BF48-4729-9E83-E985A9B2D914}" type="presParOf" srcId="{F0260FB1-8F10-4E2D-9B36-D2735448B266}" destId="{8FFEAC3E-BB7A-41E0-B318-6CB931233EEE}" srcOrd="17" destOrd="0" presId="urn:microsoft.com/office/officeart/2009/3/layout/RandomtoResultProcess"/>
    <dgm:cxn modelId="{38443BE9-5F86-4285-9405-8DEC20AFC484}" type="presParOf" srcId="{F0260FB1-8F10-4E2D-9B36-D2735448B266}" destId="{67653F5A-7382-4090-A658-3CC5E41CF10E}" srcOrd="18" destOrd="0" presId="urn:microsoft.com/office/officeart/2009/3/layout/RandomtoResultProcess"/>
    <dgm:cxn modelId="{F5A67B9F-8D36-42AF-A75A-D29C8E913AD1}" type="presParOf" srcId="{F0260FB1-8F10-4E2D-9B36-D2735448B266}" destId="{BAFC2D2E-BBFF-40C8-A828-B7A4DA68CE0D}" srcOrd="19" destOrd="0" presId="urn:microsoft.com/office/officeart/2009/3/layout/RandomtoResultProcess"/>
    <dgm:cxn modelId="{60E9335D-F8CB-4F5C-891B-B7EB1A0072F0}" type="presParOf" srcId="{533366D5-D82E-45EA-BB57-9F6ECE7319ED}" destId="{2E4633A6-95A2-4918-BA8E-32A2BF5D52AD}" srcOrd="1" destOrd="0" presId="urn:microsoft.com/office/officeart/2009/3/layout/RandomtoResultProcess"/>
    <dgm:cxn modelId="{12728B4C-35CD-424D-81B8-C1C991BFEE32}" type="presParOf" srcId="{2E4633A6-95A2-4918-BA8E-32A2BF5D52AD}" destId="{5FAAC892-43F9-4281-BA34-83729C7D9667}" srcOrd="0" destOrd="0" presId="urn:microsoft.com/office/officeart/2009/3/layout/RandomtoResultProcess"/>
    <dgm:cxn modelId="{B2B04C01-C55A-4F6C-B09D-A1AC26217152}" type="presParOf" srcId="{2E4633A6-95A2-4918-BA8E-32A2BF5D52AD}" destId="{A1165857-6B39-42D9-8816-63186F76A383}" srcOrd="1" destOrd="0" presId="urn:microsoft.com/office/officeart/2009/3/layout/RandomtoResultProcess"/>
    <dgm:cxn modelId="{ACE21703-4266-4491-B09E-D4F327F99A43}" type="presParOf" srcId="{533366D5-D82E-45EA-BB57-9F6ECE7319ED}" destId="{D07F0E14-AF4B-4E5C-9A08-57D2DA6FE2D0}" srcOrd="2" destOrd="0" presId="urn:microsoft.com/office/officeart/2009/3/layout/RandomtoResultProcess"/>
    <dgm:cxn modelId="{0B29CEEE-4D29-4132-B96B-42A12EA2F912}" type="presParOf" srcId="{D07F0E14-AF4B-4E5C-9A08-57D2DA6FE2D0}" destId="{B223E463-3564-4948-8C9F-1FCF79ADBFF5}" srcOrd="0" destOrd="0" presId="urn:microsoft.com/office/officeart/2009/3/layout/RandomtoResultProcess"/>
    <dgm:cxn modelId="{8975583B-F6B6-4257-86C1-4A161EC2F2B2}" type="presParOf" srcId="{D07F0E14-AF4B-4E5C-9A08-57D2DA6FE2D0}" destId="{D781D819-2135-48AE-866C-4249056ADE29}" srcOrd="1" destOrd="0" presId="urn:microsoft.com/office/officeart/2009/3/layout/RandomtoResultProcess"/>
    <dgm:cxn modelId="{720E91B9-F07D-4656-BF69-87A588CF1FFA}" type="presParOf" srcId="{D07F0E14-AF4B-4E5C-9A08-57D2DA6FE2D0}" destId="{058AF25F-68D2-4115-957A-333482EFD1DB}" srcOrd="2" destOrd="0" presId="urn:microsoft.com/office/officeart/2009/3/layout/RandomtoResultProcess"/>
    <dgm:cxn modelId="{67E9325A-28F3-49DC-AA74-DD2A8DDDFD7E}" type="presParOf" srcId="{533366D5-D82E-45EA-BB57-9F6ECE7319ED}" destId="{F3710468-6BC5-44FE-9339-B0C1D31A69A3}" srcOrd="3" destOrd="0" presId="urn:microsoft.com/office/officeart/2009/3/layout/RandomtoResultProcess"/>
    <dgm:cxn modelId="{A61B58C5-9A07-4AAC-90F3-74058CD743C4}" type="presParOf" srcId="{F3710468-6BC5-44FE-9339-B0C1D31A69A3}" destId="{EF27FDFA-2FD0-441F-A421-C574D3EBF9C2}" srcOrd="0" destOrd="0" presId="urn:microsoft.com/office/officeart/2009/3/layout/RandomtoResultProcess"/>
    <dgm:cxn modelId="{4C626DA3-32A1-4ABB-A2A4-C8EE057722F1}" type="presParOf" srcId="{F3710468-6BC5-44FE-9339-B0C1D31A69A3}" destId="{40B7F6EE-3190-41E9-8779-65ECE3FC3900}" srcOrd="1" destOrd="0" presId="urn:microsoft.com/office/officeart/2009/3/layout/RandomtoResultProcess"/>
    <dgm:cxn modelId="{B53C1B12-46B5-4531-8B97-537AF961CCC9}" type="presParOf" srcId="{533366D5-D82E-45EA-BB57-9F6ECE7319ED}" destId="{22846F59-B9F6-480D-910D-4B7332EB1A16}" srcOrd="4" destOrd="0" presId="urn:microsoft.com/office/officeart/2009/3/layout/RandomtoResultProcess"/>
    <dgm:cxn modelId="{D9DE6F41-D572-492A-8980-FB901DC2792C}" type="presParOf" srcId="{22846F59-B9F6-480D-910D-4B7332EB1A16}" destId="{560B0BD6-2219-4327-A8F5-5DF7E7B0A99D}" srcOrd="0" destOrd="0" presId="urn:microsoft.com/office/officeart/2009/3/layout/RandomtoResultProcess"/>
    <dgm:cxn modelId="{B1B8C358-410B-4919-8ED2-43911A7C20DF}" type="presParOf" srcId="{22846F59-B9F6-480D-910D-4B7332EB1A16}" destId="{38CB260D-8149-4019-979A-B06BDD7D600D}" srcOrd="1" destOrd="0" presId="urn:microsoft.com/office/officeart/2009/3/layout/RandomtoResultProcess"/>
    <dgm:cxn modelId="{E8841E61-EB82-4C49-B4FB-303C386A7867}" type="presParOf" srcId="{22846F59-B9F6-480D-910D-4B7332EB1A16}" destId="{A0603835-51EB-4965-8072-22305AFBF262}" srcOrd="2"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72DCF2-F80E-48BD-9C1B-7FADC40F3438}" type="doc">
      <dgm:prSet loTypeId="urn:microsoft.com/office/officeart/2005/8/layout/hProcess4" loCatId="process" qsTypeId="urn:microsoft.com/office/officeart/2005/8/quickstyle/simple1" qsCatId="simple" csTypeId="urn:microsoft.com/office/officeart/2005/8/colors/colorful4" csCatId="colorful" phldr="1"/>
      <dgm:spPr/>
      <dgm:t>
        <a:bodyPr/>
        <a:lstStyle/>
        <a:p>
          <a:endParaRPr lang="en-US"/>
        </a:p>
      </dgm:t>
    </dgm:pt>
    <dgm:pt modelId="{A922B5E9-20E6-485D-A498-CD038D718D85}">
      <dgm:prSet phldrT="[Text]" phldr="0"/>
      <dgm:spPr/>
      <dgm:t>
        <a:bodyPr/>
        <a:lstStyle/>
        <a:p>
          <a:r>
            <a:rPr lang="en-US"/>
            <a:t>Week 01 (12/01 – 16/01)</a:t>
          </a:r>
        </a:p>
      </dgm:t>
    </dgm:pt>
    <dgm:pt modelId="{B95F51C7-1E46-4B6A-9B2A-877943385938}" type="parTrans" cxnId="{86762352-4A02-49EF-8FFD-35AACEFC1959}">
      <dgm:prSet/>
      <dgm:spPr/>
      <dgm:t>
        <a:bodyPr/>
        <a:lstStyle/>
        <a:p>
          <a:endParaRPr lang="en-US"/>
        </a:p>
      </dgm:t>
    </dgm:pt>
    <dgm:pt modelId="{6A1A6D7E-ABAD-40B1-8FDB-EFDFEA5645E3}" type="sibTrans" cxnId="{86762352-4A02-49EF-8FFD-35AACEFC1959}">
      <dgm:prSet/>
      <dgm:spPr/>
      <dgm:t>
        <a:bodyPr/>
        <a:lstStyle/>
        <a:p>
          <a:endParaRPr lang="en-US"/>
        </a:p>
      </dgm:t>
    </dgm:pt>
    <dgm:pt modelId="{D2C1F432-4D1D-4A6D-874E-6BA79DF04D81}">
      <dgm:prSet phldrT="[Text]"/>
      <dgm:spPr/>
      <dgm:t>
        <a:bodyPr/>
        <a:lstStyle/>
        <a:p>
          <a:pPr>
            <a:buNone/>
          </a:pPr>
          <a:r>
            <a:rPr lang="en-US" b="1" i="0"/>
            <a:t>Project onboarding &amp; planning: </a:t>
          </a:r>
          <a:r>
            <a:rPr lang="en-US" b="0" i="0"/>
            <a:t>Understanding project description, defining tasks, assigning roles</a:t>
          </a:r>
          <a:endParaRPr lang="en-US"/>
        </a:p>
      </dgm:t>
    </dgm:pt>
    <dgm:pt modelId="{62C078C3-174F-4078-A7C1-8D3F9BF85306}" type="parTrans" cxnId="{7ED46AB5-A4A5-4285-B0CD-57239204553F}">
      <dgm:prSet/>
      <dgm:spPr/>
      <dgm:t>
        <a:bodyPr/>
        <a:lstStyle/>
        <a:p>
          <a:endParaRPr lang="en-US"/>
        </a:p>
      </dgm:t>
    </dgm:pt>
    <dgm:pt modelId="{C64B9771-5527-4334-9D33-0577A2719493}" type="sibTrans" cxnId="{7ED46AB5-A4A5-4285-B0CD-57239204553F}">
      <dgm:prSet/>
      <dgm:spPr/>
      <dgm:t>
        <a:bodyPr/>
        <a:lstStyle/>
        <a:p>
          <a:endParaRPr lang="en-US"/>
        </a:p>
      </dgm:t>
    </dgm:pt>
    <dgm:pt modelId="{DDC856FD-FE16-4AC6-847C-B7F80705BC7C}">
      <dgm:prSet phldrT="[Text]" phldr="0"/>
      <dgm:spPr/>
      <dgm:t>
        <a:bodyPr/>
        <a:lstStyle/>
        <a:p>
          <a:r>
            <a:rPr lang="en-US"/>
            <a:t>Week 02 (19/01 – 23/01)</a:t>
          </a:r>
        </a:p>
      </dgm:t>
    </dgm:pt>
    <dgm:pt modelId="{42494DC7-8C59-421A-B7DE-8A69D84D8E65}" type="parTrans" cxnId="{863F527E-02E0-4A7F-9CEE-C6A7BDED88C5}">
      <dgm:prSet/>
      <dgm:spPr/>
      <dgm:t>
        <a:bodyPr/>
        <a:lstStyle/>
        <a:p>
          <a:endParaRPr lang="en-US"/>
        </a:p>
      </dgm:t>
    </dgm:pt>
    <dgm:pt modelId="{53881463-BA0F-4EA4-903F-A0DFF4E8124D}" type="sibTrans" cxnId="{863F527E-02E0-4A7F-9CEE-C6A7BDED88C5}">
      <dgm:prSet/>
      <dgm:spPr/>
      <dgm:t>
        <a:bodyPr/>
        <a:lstStyle/>
        <a:p>
          <a:endParaRPr lang="en-US"/>
        </a:p>
      </dgm:t>
    </dgm:pt>
    <dgm:pt modelId="{9155C666-6E76-40C3-AA4B-BE9F864026E5}">
      <dgm:prSet phldrT="[Text]"/>
      <dgm:spPr/>
      <dgm:t>
        <a:bodyPr/>
        <a:lstStyle/>
        <a:p>
          <a:pPr>
            <a:buNone/>
          </a:pPr>
          <a:r>
            <a:rPr lang="en-US" b="1" i="0"/>
            <a:t>Geometry Cleanup and  </a:t>
          </a:r>
          <a:r>
            <a:rPr lang="en-US" b="1"/>
            <a:t>Meshing</a:t>
          </a:r>
          <a:r>
            <a:rPr lang="en-US"/>
            <a:t>: Edge and face sizing, quality checks</a:t>
          </a:r>
          <a:r>
            <a:rPr lang="en-US" b="0" i="0"/>
            <a:t> defining fluid/solid zones, motion setup</a:t>
          </a:r>
          <a:endParaRPr lang="en-US"/>
        </a:p>
      </dgm:t>
    </dgm:pt>
    <dgm:pt modelId="{B57CE02B-3805-43E1-BE17-3ECE1C9E0BA3}" type="parTrans" cxnId="{A1EBC595-C363-4F4A-A83A-B7F74AD1E275}">
      <dgm:prSet/>
      <dgm:spPr/>
      <dgm:t>
        <a:bodyPr/>
        <a:lstStyle/>
        <a:p>
          <a:endParaRPr lang="en-US"/>
        </a:p>
      </dgm:t>
    </dgm:pt>
    <dgm:pt modelId="{BD7ED5ED-6199-4FA6-9A9E-788C6FAAF4F6}" type="sibTrans" cxnId="{A1EBC595-C363-4F4A-A83A-B7F74AD1E275}">
      <dgm:prSet/>
      <dgm:spPr/>
      <dgm:t>
        <a:bodyPr/>
        <a:lstStyle/>
        <a:p>
          <a:endParaRPr lang="en-US"/>
        </a:p>
      </dgm:t>
    </dgm:pt>
    <dgm:pt modelId="{86CFF6F3-2AB4-4718-905D-3E6300499BEF}">
      <dgm:prSet phldrT="[Text]" phldr="0"/>
      <dgm:spPr/>
      <dgm:t>
        <a:bodyPr/>
        <a:lstStyle/>
        <a:p>
          <a:r>
            <a:rPr lang="en-US"/>
            <a:t>Week 03 (26/01 – 30/01)</a:t>
          </a:r>
        </a:p>
      </dgm:t>
    </dgm:pt>
    <dgm:pt modelId="{58E8D04D-54B0-42CB-906F-B4740A1ED022}" type="parTrans" cxnId="{1A043FCE-D520-48E2-AFB5-134C959F32EC}">
      <dgm:prSet/>
      <dgm:spPr/>
      <dgm:t>
        <a:bodyPr/>
        <a:lstStyle/>
        <a:p>
          <a:endParaRPr lang="en-US"/>
        </a:p>
      </dgm:t>
    </dgm:pt>
    <dgm:pt modelId="{FF0B69B3-E3FD-4A9D-A791-057C4DEDF562}" type="sibTrans" cxnId="{1A043FCE-D520-48E2-AFB5-134C959F32EC}">
      <dgm:prSet/>
      <dgm:spPr/>
      <dgm:t>
        <a:bodyPr/>
        <a:lstStyle/>
        <a:p>
          <a:endParaRPr lang="en-US"/>
        </a:p>
      </dgm:t>
    </dgm:pt>
    <dgm:pt modelId="{C4A4DDFC-4777-4F33-8B90-C3141F8AB620}">
      <dgm:prSet phldrT="[Text]" phldr="0"/>
      <dgm:spPr/>
      <dgm:t>
        <a:bodyPr/>
        <a:lstStyle/>
        <a:p>
          <a:r>
            <a:rPr lang="en-US"/>
            <a:t>Week 04 (02/02 – 06/02)</a:t>
          </a:r>
        </a:p>
      </dgm:t>
    </dgm:pt>
    <dgm:pt modelId="{734BBF28-8093-4E5E-AE20-6E7136CBC9B0}" type="parTrans" cxnId="{A93E782D-C26E-483B-93F9-5D65D76883DF}">
      <dgm:prSet/>
      <dgm:spPr/>
      <dgm:t>
        <a:bodyPr/>
        <a:lstStyle/>
        <a:p>
          <a:endParaRPr lang="en-US"/>
        </a:p>
      </dgm:t>
    </dgm:pt>
    <dgm:pt modelId="{24D3D532-7505-444D-A844-607763D9F3D6}" type="sibTrans" cxnId="{A93E782D-C26E-483B-93F9-5D65D76883DF}">
      <dgm:prSet/>
      <dgm:spPr/>
      <dgm:t>
        <a:bodyPr/>
        <a:lstStyle/>
        <a:p>
          <a:endParaRPr lang="en-US"/>
        </a:p>
      </dgm:t>
    </dgm:pt>
    <dgm:pt modelId="{AE7A3DAF-E3B3-4EC2-BA45-F47268BD5467}">
      <dgm:prSet phldrT="[Text]" phldr="0"/>
      <dgm:spPr/>
      <dgm:t>
        <a:bodyPr/>
        <a:lstStyle/>
        <a:p>
          <a:r>
            <a:rPr lang="en-US"/>
            <a:t>Week 05 (09/02 – 13/02)</a:t>
          </a:r>
        </a:p>
      </dgm:t>
    </dgm:pt>
    <dgm:pt modelId="{391BCE25-269E-429B-AD7B-EBD84F37AE7E}" type="parTrans" cxnId="{60F979C7-8409-4ADF-99A5-8BE10F5BCD1A}">
      <dgm:prSet/>
      <dgm:spPr/>
      <dgm:t>
        <a:bodyPr/>
        <a:lstStyle/>
        <a:p>
          <a:endParaRPr lang="en-US"/>
        </a:p>
      </dgm:t>
    </dgm:pt>
    <dgm:pt modelId="{D4B1779A-705C-42F3-992E-0E59E633BA99}" type="sibTrans" cxnId="{60F979C7-8409-4ADF-99A5-8BE10F5BCD1A}">
      <dgm:prSet/>
      <dgm:spPr/>
      <dgm:t>
        <a:bodyPr/>
        <a:lstStyle/>
        <a:p>
          <a:endParaRPr lang="en-US"/>
        </a:p>
      </dgm:t>
    </dgm:pt>
    <dgm:pt modelId="{7FBE270F-6A6A-4545-8632-FE8CA3CFEBA1}">
      <dgm:prSet/>
      <dgm:spPr/>
      <dgm:t>
        <a:bodyPr/>
        <a:lstStyle/>
        <a:p>
          <a:pPr>
            <a:buNone/>
          </a:pPr>
          <a:r>
            <a:rPr lang="en-US" b="1" i="0"/>
            <a:t>Mesh Independence Study</a:t>
          </a:r>
          <a:r>
            <a:rPr lang="en-US" b="0" i="0"/>
            <a:t>, </a:t>
          </a:r>
          <a:r>
            <a:rPr lang="en-US" b="1" i="0"/>
            <a:t>Presentation preparation</a:t>
          </a:r>
          <a:r>
            <a:rPr lang="en-US" b="0" i="0"/>
            <a:t>, cross-checking results, team integration</a:t>
          </a:r>
          <a:endParaRPr lang="en-US"/>
        </a:p>
      </dgm:t>
    </dgm:pt>
    <dgm:pt modelId="{2FA647E6-9A91-4286-95F9-F31198F79E32}" type="parTrans" cxnId="{4EA72D03-EE32-4004-8C88-87590629E509}">
      <dgm:prSet/>
      <dgm:spPr/>
      <dgm:t>
        <a:bodyPr/>
        <a:lstStyle/>
        <a:p>
          <a:endParaRPr lang="en-US"/>
        </a:p>
      </dgm:t>
    </dgm:pt>
    <dgm:pt modelId="{EFEC7B26-F375-41DB-A9E1-2878DE7187E7}" type="sibTrans" cxnId="{4EA72D03-EE32-4004-8C88-87590629E509}">
      <dgm:prSet/>
      <dgm:spPr/>
      <dgm:t>
        <a:bodyPr/>
        <a:lstStyle/>
        <a:p>
          <a:endParaRPr lang="en-US"/>
        </a:p>
      </dgm:t>
    </dgm:pt>
    <dgm:pt modelId="{9192C54F-E3E7-4CCE-B808-BAEAA7E23C17}">
      <dgm:prSet/>
      <dgm:spPr/>
      <dgm:t>
        <a:bodyPr/>
        <a:lstStyle/>
        <a:p>
          <a:pPr>
            <a:buNone/>
          </a:pPr>
          <a:r>
            <a:rPr lang="en-US" b="1"/>
            <a:t>Post-Processing: </a:t>
          </a:r>
          <a:r>
            <a:rPr lang="en-US" b="0" i="0"/>
            <a:t>Extracting contours, vectors, pressure plots, heat flux, interface evolution</a:t>
          </a:r>
          <a:endParaRPr lang="en-US"/>
        </a:p>
      </dgm:t>
    </dgm:pt>
    <dgm:pt modelId="{269828F1-DDEB-4D9D-BF78-E251CC5D02F9}" type="parTrans" cxnId="{56709B53-1D05-42BF-94D4-05074B9A9763}">
      <dgm:prSet/>
      <dgm:spPr/>
      <dgm:t>
        <a:bodyPr/>
        <a:lstStyle/>
        <a:p>
          <a:endParaRPr lang="en-US"/>
        </a:p>
      </dgm:t>
    </dgm:pt>
    <dgm:pt modelId="{C6A491A6-2E2F-40AF-8FEE-202F7C78EF3B}" type="sibTrans" cxnId="{56709B53-1D05-42BF-94D4-05074B9A9763}">
      <dgm:prSet/>
      <dgm:spPr/>
      <dgm:t>
        <a:bodyPr/>
        <a:lstStyle/>
        <a:p>
          <a:endParaRPr lang="en-US"/>
        </a:p>
      </dgm:t>
    </dgm:pt>
    <dgm:pt modelId="{FD82B26F-EAAD-475F-AE7B-468C635613E2}">
      <dgm:prSet/>
      <dgm:spPr/>
      <dgm:t>
        <a:bodyPr/>
        <a:lstStyle/>
        <a:p>
          <a:r>
            <a:rPr lang="en-US" b="1"/>
            <a:t>Solver Setup</a:t>
          </a:r>
          <a:r>
            <a:rPr lang="en-US"/>
            <a:t>: </a:t>
          </a:r>
          <a:r>
            <a:rPr lang="en-US" b="0" i="0"/>
            <a:t>Physics models, boundary conditions, time‑step selection</a:t>
          </a:r>
          <a:endParaRPr lang="en-US"/>
        </a:p>
      </dgm:t>
    </dgm:pt>
    <dgm:pt modelId="{CDADAECF-D6F4-4D9D-B79C-D90F0A6D7532}" type="parTrans" cxnId="{19F85C67-2806-461E-B1B9-C9D88D49E5AE}">
      <dgm:prSet/>
      <dgm:spPr/>
      <dgm:t>
        <a:bodyPr/>
        <a:lstStyle/>
        <a:p>
          <a:endParaRPr lang="en-US"/>
        </a:p>
      </dgm:t>
    </dgm:pt>
    <dgm:pt modelId="{5666E68C-79B6-4F7C-BAD9-C677C4DFEF73}" type="sibTrans" cxnId="{19F85C67-2806-461E-B1B9-C9D88D49E5AE}">
      <dgm:prSet/>
      <dgm:spPr/>
      <dgm:t>
        <a:bodyPr/>
        <a:lstStyle/>
        <a:p>
          <a:endParaRPr lang="en-US"/>
        </a:p>
      </dgm:t>
    </dgm:pt>
    <dgm:pt modelId="{06530501-B41F-45EA-87DF-E25BE9C6AF6B}" type="pres">
      <dgm:prSet presAssocID="{1872DCF2-F80E-48BD-9C1B-7FADC40F3438}" presName="Name0" presStyleCnt="0">
        <dgm:presLayoutVars>
          <dgm:dir/>
          <dgm:animLvl val="lvl"/>
          <dgm:resizeHandles val="exact"/>
        </dgm:presLayoutVars>
      </dgm:prSet>
      <dgm:spPr/>
    </dgm:pt>
    <dgm:pt modelId="{812EF44A-5FAB-4583-AA71-B6338D11693E}" type="pres">
      <dgm:prSet presAssocID="{1872DCF2-F80E-48BD-9C1B-7FADC40F3438}" presName="tSp" presStyleCnt="0"/>
      <dgm:spPr/>
    </dgm:pt>
    <dgm:pt modelId="{FA45ADBE-32C6-48B3-A79E-EECC14536A5C}" type="pres">
      <dgm:prSet presAssocID="{1872DCF2-F80E-48BD-9C1B-7FADC40F3438}" presName="bSp" presStyleCnt="0"/>
      <dgm:spPr/>
    </dgm:pt>
    <dgm:pt modelId="{73168246-7FFC-4EBD-959C-66166D8B369E}" type="pres">
      <dgm:prSet presAssocID="{1872DCF2-F80E-48BD-9C1B-7FADC40F3438}" presName="process" presStyleCnt="0"/>
      <dgm:spPr/>
    </dgm:pt>
    <dgm:pt modelId="{D5ED5EC3-3181-4D25-A99B-D0462D152528}" type="pres">
      <dgm:prSet presAssocID="{A922B5E9-20E6-485D-A498-CD038D718D85}" presName="composite1" presStyleCnt="0"/>
      <dgm:spPr/>
    </dgm:pt>
    <dgm:pt modelId="{77A04D53-D9A8-4004-B61E-F2AB0CEAB9F5}" type="pres">
      <dgm:prSet presAssocID="{A922B5E9-20E6-485D-A498-CD038D718D85}" presName="dummyNode1" presStyleLbl="node1" presStyleIdx="0" presStyleCnt="5"/>
      <dgm:spPr/>
    </dgm:pt>
    <dgm:pt modelId="{15788A88-02A0-4386-A325-9EF54D19A892}" type="pres">
      <dgm:prSet presAssocID="{A922B5E9-20E6-485D-A498-CD038D718D85}" presName="childNode1" presStyleLbl="bgAcc1" presStyleIdx="0" presStyleCnt="5">
        <dgm:presLayoutVars>
          <dgm:bulletEnabled val="1"/>
        </dgm:presLayoutVars>
      </dgm:prSet>
      <dgm:spPr/>
    </dgm:pt>
    <dgm:pt modelId="{39C8671B-096C-407D-A5B3-D8407D705909}" type="pres">
      <dgm:prSet presAssocID="{A922B5E9-20E6-485D-A498-CD038D718D85}" presName="childNode1tx" presStyleLbl="bgAcc1" presStyleIdx="0" presStyleCnt="5">
        <dgm:presLayoutVars>
          <dgm:bulletEnabled val="1"/>
        </dgm:presLayoutVars>
      </dgm:prSet>
      <dgm:spPr/>
    </dgm:pt>
    <dgm:pt modelId="{53ED41C5-65A8-4207-9856-3293E9F9EBCD}" type="pres">
      <dgm:prSet presAssocID="{A922B5E9-20E6-485D-A498-CD038D718D85}" presName="parentNode1" presStyleLbl="node1" presStyleIdx="0" presStyleCnt="5">
        <dgm:presLayoutVars>
          <dgm:chMax val="1"/>
          <dgm:bulletEnabled val="1"/>
        </dgm:presLayoutVars>
      </dgm:prSet>
      <dgm:spPr/>
    </dgm:pt>
    <dgm:pt modelId="{314BE372-5600-48B1-A954-59A873B6F9DA}" type="pres">
      <dgm:prSet presAssocID="{A922B5E9-20E6-485D-A498-CD038D718D85}" presName="connSite1" presStyleCnt="0"/>
      <dgm:spPr/>
    </dgm:pt>
    <dgm:pt modelId="{ECB0F108-0F92-4168-BF47-56202F48CFAB}" type="pres">
      <dgm:prSet presAssocID="{6A1A6D7E-ABAD-40B1-8FDB-EFDFEA5645E3}" presName="Name9" presStyleLbl="sibTrans2D1" presStyleIdx="0" presStyleCnt="4"/>
      <dgm:spPr/>
    </dgm:pt>
    <dgm:pt modelId="{F56CCD33-7757-4F4A-B21F-C9C8C0CEF8B1}" type="pres">
      <dgm:prSet presAssocID="{DDC856FD-FE16-4AC6-847C-B7F80705BC7C}" presName="composite2" presStyleCnt="0"/>
      <dgm:spPr/>
    </dgm:pt>
    <dgm:pt modelId="{192D552F-2007-4A00-BE5E-1C64BF2ABA84}" type="pres">
      <dgm:prSet presAssocID="{DDC856FD-FE16-4AC6-847C-B7F80705BC7C}" presName="dummyNode2" presStyleLbl="node1" presStyleIdx="0" presStyleCnt="5"/>
      <dgm:spPr/>
    </dgm:pt>
    <dgm:pt modelId="{0EFD094C-0FEC-445B-86D6-4A992697FA1B}" type="pres">
      <dgm:prSet presAssocID="{DDC856FD-FE16-4AC6-847C-B7F80705BC7C}" presName="childNode2" presStyleLbl="bgAcc1" presStyleIdx="1" presStyleCnt="5">
        <dgm:presLayoutVars>
          <dgm:bulletEnabled val="1"/>
        </dgm:presLayoutVars>
      </dgm:prSet>
      <dgm:spPr/>
    </dgm:pt>
    <dgm:pt modelId="{E15419E0-BB7F-4746-AC88-BB9B82EF8C78}" type="pres">
      <dgm:prSet presAssocID="{DDC856FD-FE16-4AC6-847C-B7F80705BC7C}" presName="childNode2tx" presStyleLbl="bgAcc1" presStyleIdx="1" presStyleCnt="5">
        <dgm:presLayoutVars>
          <dgm:bulletEnabled val="1"/>
        </dgm:presLayoutVars>
      </dgm:prSet>
      <dgm:spPr/>
    </dgm:pt>
    <dgm:pt modelId="{0A1C474A-D4AA-485F-834A-820686239339}" type="pres">
      <dgm:prSet presAssocID="{DDC856FD-FE16-4AC6-847C-B7F80705BC7C}" presName="parentNode2" presStyleLbl="node1" presStyleIdx="1" presStyleCnt="5">
        <dgm:presLayoutVars>
          <dgm:chMax val="0"/>
          <dgm:bulletEnabled val="1"/>
        </dgm:presLayoutVars>
      </dgm:prSet>
      <dgm:spPr/>
    </dgm:pt>
    <dgm:pt modelId="{24141074-AC0E-4ACB-85A7-B3961B7DE904}" type="pres">
      <dgm:prSet presAssocID="{DDC856FD-FE16-4AC6-847C-B7F80705BC7C}" presName="connSite2" presStyleCnt="0"/>
      <dgm:spPr/>
    </dgm:pt>
    <dgm:pt modelId="{E88BA0C6-5B8C-4A99-95D9-794DE03AF5A7}" type="pres">
      <dgm:prSet presAssocID="{53881463-BA0F-4EA4-903F-A0DFF4E8124D}" presName="Name18" presStyleLbl="sibTrans2D1" presStyleIdx="1" presStyleCnt="4"/>
      <dgm:spPr/>
    </dgm:pt>
    <dgm:pt modelId="{6BFDAD1A-4A68-4B88-BCB8-6CDCA70A8E80}" type="pres">
      <dgm:prSet presAssocID="{86CFF6F3-2AB4-4718-905D-3E6300499BEF}" presName="composite1" presStyleCnt="0"/>
      <dgm:spPr/>
    </dgm:pt>
    <dgm:pt modelId="{0286EAB9-8C63-4CAD-8B00-9BA2B29AB648}" type="pres">
      <dgm:prSet presAssocID="{86CFF6F3-2AB4-4718-905D-3E6300499BEF}" presName="dummyNode1" presStyleLbl="node1" presStyleIdx="1" presStyleCnt="5"/>
      <dgm:spPr/>
    </dgm:pt>
    <dgm:pt modelId="{31EDF09D-1D8D-4AA7-AF25-034DA00D9E2C}" type="pres">
      <dgm:prSet presAssocID="{86CFF6F3-2AB4-4718-905D-3E6300499BEF}" presName="childNode1" presStyleLbl="bgAcc1" presStyleIdx="2" presStyleCnt="5">
        <dgm:presLayoutVars>
          <dgm:bulletEnabled val="1"/>
        </dgm:presLayoutVars>
      </dgm:prSet>
      <dgm:spPr/>
    </dgm:pt>
    <dgm:pt modelId="{E33B8D2C-B5BF-4312-8B2E-B6E99E226B15}" type="pres">
      <dgm:prSet presAssocID="{86CFF6F3-2AB4-4718-905D-3E6300499BEF}" presName="childNode1tx" presStyleLbl="bgAcc1" presStyleIdx="2" presStyleCnt="5">
        <dgm:presLayoutVars>
          <dgm:bulletEnabled val="1"/>
        </dgm:presLayoutVars>
      </dgm:prSet>
      <dgm:spPr/>
    </dgm:pt>
    <dgm:pt modelId="{837DDBFA-10D3-4601-BB01-8A851C98AF36}" type="pres">
      <dgm:prSet presAssocID="{86CFF6F3-2AB4-4718-905D-3E6300499BEF}" presName="parentNode1" presStyleLbl="node1" presStyleIdx="2" presStyleCnt="5">
        <dgm:presLayoutVars>
          <dgm:chMax val="1"/>
          <dgm:bulletEnabled val="1"/>
        </dgm:presLayoutVars>
      </dgm:prSet>
      <dgm:spPr/>
    </dgm:pt>
    <dgm:pt modelId="{456566D5-8C95-4C91-A194-3320CE710835}" type="pres">
      <dgm:prSet presAssocID="{86CFF6F3-2AB4-4718-905D-3E6300499BEF}" presName="connSite1" presStyleCnt="0"/>
      <dgm:spPr/>
    </dgm:pt>
    <dgm:pt modelId="{B403B5E3-C468-4C52-9EAF-5133BA970987}" type="pres">
      <dgm:prSet presAssocID="{FF0B69B3-E3FD-4A9D-A791-057C4DEDF562}" presName="Name9" presStyleLbl="sibTrans2D1" presStyleIdx="2" presStyleCnt="4"/>
      <dgm:spPr/>
    </dgm:pt>
    <dgm:pt modelId="{F6EB669E-8D63-4EA3-B1A3-418A031954FD}" type="pres">
      <dgm:prSet presAssocID="{C4A4DDFC-4777-4F33-8B90-C3141F8AB620}" presName="composite2" presStyleCnt="0"/>
      <dgm:spPr/>
    </dgm:pt>
    <dgm:pt modelId="{014EA8DE-9A9D-40EA-9B52-052622D26866}" type="pres">
      <dgm:prSet presAssocID="{C4A4DDFC-4777-4F33-8B90-C3141F8AB620}" presName="dummyNode2" presStyleLbl="node1" presStyleIdx="2" presStyleCnt="5"/>
      <dgm:spPr/>
    </dgm:pt>
    <dgm:pt modelId="{D72F1F91-78EC-438A-917A-CF496AEF5546}" type="pres">
      <dgm:prSet presAssocID="{C4A4DDFC-4777-4F33-8B90-C3141F8AB620}" presName="childNode2" presStyleLbl="bgAcc1" presStyleIdx="3" presStyleCnt="5">
        <dgm:presLayoutVars>
          <dgm:bulletEnabled val="1"/>
        </dgm:presLayoutVars>
      </dgm:prSet>
      <dgm:spPr/>
    </dgm:pt>
    <dgm:pt modelId="{4A680E77-CD45-484B-93A0-8E208D5784AA}" type="pres">
      <dgm:prSet presAssocID="{C4A4DDFC-4777-4F33-8B90-C3141F8AB620}" presName="childNode2tx" presStyleLbl="bgAcc1" presStyleIdx="3" presStyleCnt="5">
        <dgm:presLayoutVars>
          <dgm:bulletEnabled val="1"/>
        </dgm:presLayoutVars>
      </dgm:prSet>
      <dgm:spPr/>
    </dgm:pt>
    <dgm:pt modelId="{D0698737-9B1A-44BE-8372-B99C6A4F19B7}" type="pres">
      <dgm:prSet presAssocID="{C4A4DDFC-4777-4F33-8B90-C3141F8AB620}" presName="parentNode2" presStyleLbl="node1" presStyleIdx="3" presStyleCnt="5">
        <dgm:presLayoutVars>
          <dgm:chMax val="0"/>
          <dgm:bulletEnabled val="1"/>
        </dgm:presLayoutVars>
      </dgm:prSet>
      <dgm:spPr/>
    </dgm:pt>
    <dgm:pt modelId="{06BB2B24-6BEB-4A65-95EE-6A25CB878DB9}" type="pres">
      <dgm:prSet presAssocID="{C4A4DDFC-4777-4F33-8B90-C3141F8AB620}" presName="connSite2" presStyleCnt="0"/>
      <dgm:spPr/>
    </dgm:pt>
    <dgm:pt modelId="{7AF9B493-6BAC-466D-9FC3-5B5DC9DFA435}" type="pres">
      <dgm:prSet presAssocID="{24D3D532-7505-444D-A844-607763D9F3D6}" presName="Name18" presStyleLbl="sibTrans2D1" presStyleIdx="3" presStyleCnt="4"/>
      <dgm:spPr/>
    </dgm:pt>
    <dgm:pt modelId="{F4EE3D01-091E-4E5C-9D75-CAB42E00E1E4}" type="pres">
      <dgm:prSet presAssocID="{AE7A3DAF-E3B3-4EC2-BA45-F47268BD5467}" presName="composite1" presStyleCnt="0"/>
      <dgm:spPr/>
    </dgm:pt>
    <dgm:pt modelId="{B05AA90F-317F-43C9-90FB-834D64B7FED4}" type="pres">
      <dgm:prSet presAssocID="{AE7A3DAF-E3B3-4EC2-BA45-F47268BD5467}" presName="dummyNode1" presStyleLbl="node1" presStyleIdx="3" presStyleCnt="5"/>
      <dgm:spPr/>
    </dgm:pt>
    <dgm:pt modelId="{70068AAA-CDFF-4835-8862-ED1B7E017341}" type="pres">
      <dgm:prSet presAssocID="{AE7A3DAF-E3B3-4EC2-BA45-F47268BD5467}" presName="childNode1" presStyleLbl="bgAcc1" presStyleIdx="4" presStyleCnt="5">
        <dgm:presLayoutVars>
          <dgm:bulletEnabled val="1"/>
        </dgm:presLayoutVars>
      </dgm:prSet>
      <dgm:spPr/>
    </dgm:pt>
    <dgm:pt modelId="{0E693060-CE01-44F4-9D28-8B3063228D1E}" type="pres">
      <dgm:prSet presAssocID="{AE7A3DAF-E3B3-4EC2-BA45-F47268BD5467}" presName="childNode1tx" presStyleLbl="bgAcc1" presStyleIdx="4" presStyleCnt="5">
        <dgm:presLayoutVars>
          <dgm:bulletEnabled val="1"/>
        </dgm:presLayoutVars>
      </dgm:prSet>
      <dgm:spPr/>
    </dgm:pt>
    <dgm:pt modelId="{A9D01A4A-D554-44AB-AC0A-4FCCF214E1D4}" type="pres">
      <dgm:prSet presAssocID="{AE7A3DAF-E3B3-4EC2-BA45-F47268BD5467}" presName="parentNode1" presStyleLbl="node1" presStyleIdx="4" presStyleCnt="5">
        <dgm:presLayoutVars>
          <dgm:chMax val="1"/>
          <dgm:bulletEnabled val="1"/>
        </dgm:presLayoutVars>
      </dgm:prSet>
      <dgm:spPr/>
    </dgm:pt>
    <dgm:pt modelId="{12462179-E670-41FD-AE3C-D3D1A0FEAA44}" type="pres">
      <dgm:prSet presAssocID="{AE7A3DAF-E3B3-4EC2-BA45-F47268BD5467}" presName="connSite1" presStyleCnt="0"/>
      <dgm:spPr/>
    </dgm:pt>
  </dgm:ptLst>
  <dgm:cxnLst>
    <dgm:cxn modelId="{4EA72D03-EE32-4004-8C88-87590629E509}" srcId="{AE7A3DAF-E3B3-4EC2-BA45-F47268BD5467}" destId="{7FBE270F-6A6A-4545-8632-FE8CA3CFEBA1}" srcOrd="0" destOrd="0" parTransId="{2FA647E6-9A91-4286-95F9-F31198F79E32}" sibTransId="{EFEC7B26-F375-41DB-A9E1-2878DE7187E7}"/>
    <dgm:cxn modelId="{03641205-3E6B-4ABB-BBD0-4CF08C448994}" type="presOf" srcId="{9192C54F-E3E7-4CCE-B808-BAEAA7E23C17}" destId="{4A680E77-CD45-484B-93A0-8E208D5784AA}" srcOrd="1" destOrd="0" presId="urn:microsoft.com/office/officeart/2005/8/layout/hProcess4"/>
    <dgm:cxn modelId="{0BB8D90E-2674-49ED-9477-070C4ADB024E}" type="presOf" srcId="{C4A4DDFC-4777-4F33-8B90-C3141F8AB620}" destId="{D0698737-9B1A-44BE-8372-B99C6A4F19B7}" srcOrd="0" destOrd="0" presId="urn:microsoft.com/office/officeart/2005/8/layout/hProcess4"/>
    <dgm:cxn modelId="{C0759916-01F2-4989-9FDC-051F061C2015}" type="presOf" srcId="{9155C666-6E76-40C3-AA4B-BE9F864026E5}" destId="{0EFD094C-0FEC-445B-86D6-4A992697FA1B}" srcOrd="0" destOrd="0" presId="urn:microsoft.com/office/officeart/2005/8/layout/hProcess4"/>
    <dgm:cxn modelId="{A93E782D-C26E-483B-93F9-5D65D76883DF}" srcId="{1872DCF2-F80E-48BD-9C1B-7FADC40F3438}" destId="{C4A4DDFC-4777-4F33-8B90-C3141F8AB620}" srcOrd="3" destOrd="0" parTransId="{734BBF28-8093-4E5E-AE20-6E7136CBC9B0}" sibTransId="{24D3D532-7505-444D-A844-607763D9F3D6}"/>
    <dgm:cxn modelId="{C96E412E-0A44-4985-AD1D-3F2F33280015}" type="presOf" srcId="{FD82B26F-EAAD-475F-AE7B-468C635613E2}" destId="{E33B8D2C-B5BF-4312-8B2E-B6E99E226B15}" srcOrd="1" destOrd="0" presId="urn:microsoft.com/office/officeart/2005/8/layout/hProcess4"/>
    <dgm:cxn modelId="{111A912F-A1A2-4E1A-92EE-28CD38B7860B}" type="presOf" srcId="{FD82B26F-EAAD-475F-AE7B-468C635613E2}" destId="{31EDF09D-1D8D-4AA7-AF25-034DA00D9E2C}" srcOrd="0" destOrd="0" presId="urn:microsoft.com/office/officeart/2005/8/layout/hProcess4"/>
    <dgm:cxn modelId="{80C01944-09B7-4A99-A326-724313B42CDC}" type="presOf" srcId="{24D3D532-7505-444D-A844-607763D9F3D6}" destId="{7AF9B493-6BAC-466D-9FC3-5B5DC9DFA435}" srcOrd="0" destOrd="0" presId="urn:microsoft.com/office/officeart/2005/8/layout/hProcess4"/>
    <dgm:cxn modelId="{19F85C67-2806-461E-B1B9-C9D88D49E5AE}" srcId="{86CFF6F3-2AB4-4718-905D-3E6300499BEF}" destId="{FD82B26F-EAAD-475F-AE7B-468C635613E2}" srcOrd="0" destOrd="0" parTransId="{CDADAECF-D6F4-4D9D-B79C-D90F0A6D7532}" sibTransId="{5666E68C-79B6-4F7C-BAD9-C677C4DFEF73}"/>
    <dgm:cxn modelId="{86762352-4A02-49EF-8FFD-35AACEFC1959}" srcId="{1872DCF2-F80E-48BD-9C1B-7FADC40F3438}" destId="{A922B5E9-20E6-485D-A498-CD038D718D85}" srcOrd="0" destOrd="0" parTransId="{B95F51C7-1E46-4B6A-9B2A-877943385938}" sibTransId="{6A1A6D7E-ABAD-40B1-8FDB-EFDFEA5645E3}"/>
    <dgm:cxn modelId="{56709B53-1D05-42BF-94D4-05074B9A9763}" srcId="{C4A4DDFC-4777-4F33-8B90-C3141F8AB620}" destId="{9192C54F-E3E7-4CCE-B808-BAEAA7E23C17}" srcOrd="0" destOrd="0" parTransId="{269828F1-DDEB-4D9D-BF78-E251CC5D02F9}" sibTransId="{C6A491A6-2E2F-40AF-8FEE-202F7C78EF3B}"/>
    <dgm:cxn modelId="{8AD45258-31D1-429B-A3AB-F25D9F367E4A}" type="presOf" srcId="{AE7A3DAF-E3B3-4EC2-BA45-F47268BD5467}" destId="{A9D01A4A-D554-44AB-AC0A-4FCCF214E1D4}" srcOrd="0" destOrd="0" presId="urn:microsoft.com/office/officeart/2005/8/layout/hProcess4"/>
    <dgm:cxn modelId="{46B9C459-1ED1-4D7A-8509-5DA132029E9A}" type="presOf" srcId="{DDC856FD-FE16-4AC6-847C-B7F80705BC7C}" destId="{0A1C474A-D4AA-485F-834A-820686239339}" srcOrd="0" destOrd="0" presId="urn:microsoft.com/office/officeart/2005/8/layout/hProcess4"/>
    <dgm:cxn modelId="{863F527E-02E0-4A7F-9CEE-C6A7BDED88C5}" srcId="{1872DCF2-F80E-48BD-9C1B-7FADC40F3438}" destId="{DDC856FD-FE16-4AC6-847C-B7F80705BC7C}" srcOrd="1" destOrd="0" parTransId="{42494DC7-8C59-421A-B7DE-8A69D84D8E65}" sibTransId="{53881463-BA0F-4EA4-903F-A0DFF4E8124D}"/>
    <dgm:cxn modelId="{2C49B085-8DAF-4EFE-A8AE-F59394F5C725}" type="presOf" srcId="{1872DCF2-F80E-48BD-9C1B-7FADC40F3438}" destId="{06530501-B41F-45EA-87DF-E25BE9C6AF6B}" srcOrd="0" destOrd="0" presId="urn:microsoft.com/office/officeart/2005/8/layout/hProcess4"/>
    <dgm:cxn modelId="{5CB5B68A-097E-4C5B-937C-B2B6B01409B4}" type="presOf" srcId="{D2C1F432-4D1D-4A6D-874E-6BA79DF04D81}" destId="{15788A88-02A0-4386-A325-9EF54D19A892}" srcOrd="0" destOrd="0" presId="urn:microsoft.com/office/officeart/2005/8/layout/hProcess4"/>
    <dgm:cxn modelId="{01DD2295-A5BA-424E-8BB9-B3FD2ABE18BA}" type="presOf" srcId="{7FBE270F-6A6A-4545-8632-FE8CA3CFEBA1}" destId="{70068AAA-CDFF-4835-8862-ED1B7E017341}" srcOrd="0" destOrd="0" presId="urn:microsoft.com/office/officeart/2005/8/layout/hProcess4"/>
    <dgm:cxn modelId="{A1EBC595-C363-4F4A-A83A-B7F74AD1E275}" srcId="{DDC856FD-FE16-4AC6-847C-B7F80705BC7C}" destId="{9155C666-6E76-40C3-AA4B-BE9F864026E5}" srcOrd="0" destOrd="0" parTransId="{B57CE02B-3805-43E1-BE17-3ECE1C9E0BA3}" sibTransId="{BD7ED5ED-6199-4FA6-9A9E-788C6FAAF4F6}"/>
    <dgm:cxn modelId="{9F944D9B-0FA1-4D92-BA8A-71297DF6E141}" type="presOf" srcId="{9192C54F-E3E7-4CCE-B808-BAEAA7E23C17}" destId="{D72F1F91-78EC-438A-917A-CF496AEF5546}" srcOrd="0" destOrd="0" presId="urn:microsoft.com/office/officeart/2005/8/layout/hProcess4"/>
    <dgm:cxn modelId="{3B0BD1A3-8668-4125-8328-F34686615DA3}" type="presOf" srcId="{FF0B69B3-E3FD-4A9D-A791-057C4DEDF562}" destId="{B403B5E3-C468-4C52-9EAF-5133BA970987}" srcOrd="0" destOrd="0" presId="urn:microsoft.com/office/officeart/2005/8/layout/hProcess4"/>
    <dgm:cxn modelId="{07C2BDA6-0D08-44EE-8FC0-7EDA95F929DD}" type="presOf" srcId="{6A1A6D7E-ABAD-40B1-8FDB-EFDFEA5645E3}" destId="{ECB0F108-0F92-4168-BF47-56202F48CFAB}" srcOrd="0" destOrd="0" presId="urn:microsoft.com/office/officeart/2005/8/layout/hProcess4"/>
    <dgm:cxn modelId="{7ED46AB5-A4A5-4285-B0CD-57239204553F}" srcId="{A922B5E9-20E6-485D-A498-CD038D718D85}" destId="{D2C1F432-4D1D-4A6D-874E-6BA79DF04D81}" srcOrd="0" destOrd="0" parTransId="{62C078C3-174F-4078-A7C1-8D3F9BF85306}" sibTransId="{C64B9771-5527-4334-9D33-0577A2719493}"/>
    <dgm:cxn modelId="{2F21F7B8-0DB8-42D6-BBC0-E697A60DF34B}" type="presOf" srcId="{9155C666-6E76-40C3-AA4B-BE9F864026E5}" destId="{E15419E0-BB7F-4746-AC88-BB9B82EF8C78}" srcOrd="1" destOrd="0" presId="urn:microsoft.com/office/officeart/2005/8/layout/hProcess4"/>
    <dgm:cxn modelId="{CFA627BA-085E-4696-9D77-717BB9BED564}" type="presOf" srcId="{D2C1F432-4D1D-4A6D-874E-6BA79DF04D81}" destId="{39C8671B-096C-407D-A5B3-D8407D705909}" srcOrd="1" destOrd="0" presId="urn:microsoft.com/office/officeart/2005/8/layout/hProcess4"/>
    <dgm:cxn modelId="{A0FCB5BF-D5C1-4839-967D-30C95442DD5E}" type="presOf" srcId="{7FBE270F-6A6A-4545-8632-FE8CA3CFEBA1}" destId="{0E693060-CE01-44F4-9D28-8B3063228D1E}" srcOrd="1" destOrd="0" presId="urn:microsoft.com/office/officeart/2005/8/layout/hProcess4"/>
    <dgm:cxn modelId="{60F979C7-8409-4ADF-99A5-8BE10F5BCD1A}" srcId="{1872DCF2-F80E-48BD-9C1B-7FADC40F3438}" destId="{AE7A3DAF-E3B3-4EC2-BA45-F47268BD5467}" srcOrd="4" destOrd="0" parTransId="{391BCE25-269E-429B-AD7B-EBD84F37AE7E}" sibTransId="{D4B1779A-705C-42F3-992E-0E59E633BA99}"/>
    <dgm:cxn modelId="{1A043FCE-D520-48E2-AFB5-134C959F32EC}" srcId="{1872DCF2-F80E-48BD-9C1B-7FADC40F3438}" destId="{86CFF6F3-2AB4-4718-905D-3E6300499BEF}" srcOrd="2" destOrd="0" parTransId="{58E8D04D-54B0-42CB-906F-B4740A1ED022}" sibTransId="{FF0B69B3-E3FD-4A9D-A791-057C4DEDF562}"/>
    <dgm:cxn modelId="{05EE3FDF-D730-4B47-A090-9A2A5FE967C4}" type="presOf" srcId="{86CFF6F3-2AB4-4718-905D-3E6300499BEF}" destId="{837DDBFA-10D3-4601-BB01-8A851C98AF36}" srcOrd="0" destOrd="0" presId="urn:microsoft.com/office/officeart/2005/8/layout/hProcess4"/>
    <dgm:cxn modelId="{A7BE53EA-91C9-4F87-B21A-8ED684215398}" type="presOf" srcId="{53881463-BA0F-4EA4-903F-A0DFF4E8124D}" destId="{E88BA0C6-5B8C-4A99-95D9-794DE03AF5A7}" srcOrd="0" destOrd="0" presId="urn:microsoft.com/office/officeart/2005/8/layout/hProcess4"/>
    <dgm:cxn modelId="{4C7AC8FF-DD06-46C9-B40F-65C32C87AE71}" type="presOf" srcId="{A922B5E9-20E6-485D-A498-CD038D718D85}" destId="{53ED41C5-65A8-4207-9856-3293E9F9EBCD}" srcOrd="0" destOrd="0" presId="urn:microsoft.com/office/officeart/2005/8/layout/hProcess4"/>
    <dgm:cxn modelId="{07C36E13-3F50-49D8-9510-04AE57CAE08F}" type="presParOf" srcId="{06530501-B41F-45EA-87DF-E25BE9C6AF6B}" destId="{812EF44A-5FAB-4583-AA71-B6338D11693E}" srcOrd="0" destOrd="0" presId="urn:microsoft.com/office/officeart/2005/8/layout/hProcess4"/>
    <dgm:cxn modelId="{B610623A-A53A-47FE-9F71-4AFB4282DBF4}" type="presParOf" srcId="{06530501-B41F-45EA-87DF-E25BE9C6AF6B}" destId="{FA45ADBE-32C6-48B3-A79E-EECC14536A5C}" srcOrd="1" destOrd="0" presId="urn:microsoft.com/office/officeart/2005/8/layout/hProcess4"/>
    <dgm:cxn modelId="{8C82FC41-99C3-4330-91E7-C0A307174935}" type="presParOf" srcId="{06530501-B41F-45EA-87DF-E25BE9C6AF6B}" destId="{73168246-7FFC-4EBD-959C-66166D8B369E}" srcOrd="2" destOrd="0" presId="urn:microsoft.com/office/officeart/2005/8/layout/hProcess4"/>
    <dgm:cxn modelId="{A5819897-561C-48D0-96F2-8E350BB9307F}" type="presParOf" srcId="{73168246-7FFC-4EBD-959C-66166D8B369E}" destId="{D5ED5EC3-3181-4D25-A99B-D0462D152528}" srcOrd="0" destOrd="0" presId="urn:microsoft.com/office/officeart/2005/8/layout/hProcess4"/>
    <dgm:cxn modelId="{9A5762F3-767E-4011-9CEA-15C5BACDD4C3}" type="presParOf" srcId="{D5ED5EC3-3181-4D25-A99B-D0462D152528}" destId="{77A04D53-D9A8-4004-B61E-F2AB0CEAB9F5}" srcOrd="0" destOrd="0" presId="urn:microsoft.com/office/officeart/2005/8/layout/hProcess4"/>
    <dgm:cxn modelId="{584475EA-03DA-446A-BF13-A43A5D82A61E}" type="presParOf" srcId="{D5ED5EC3-3181-4D25-A99B-D0462D152528}" destId="{15788A88-02A0-4386-A325-9EF54D19A892}" srcOrd="1" destOrd="0" presId="urn:microsoft.com/office/officeart/2005/8/layout/hProcess4"/>
    <dgm:cxn modelId="{DC977D06-A90C-49FD-8E0B-34D1DAA86DFA}" type="presParOf" srcId="{D5ED5EC3-3181-4D25-A99B-D0462D152528}" destId="{39C8671B-096C-407D-A5B3-D8407D705909}" srcOrd="2" destOrd="0" presId="urn:microsoft.com/office/officeart/2005/8/layout/hProcess4"/>
    <dgm:cxn modelId="{F05954B1-4A69-4950-AE18-63885267C27C}" type="presParOf" srcId="{D5ED5EC3-3181-4D25-A99B-D0462D152528}" destId="{53ED41C5-65A8-4207-9856-3293E9F9EBCD}" srcOrd="3" destOrd="0" presId="urn:microsoft.com/office/officeart/2005/8/layout/hProcess4"/>
    <dgm:cxn modelId="{E53C3404-3339-4D79-844B-B06F1A2FAC04}" type="presParOf" srcId="{D5ED5EC3-3181-4D25-A99B-D0462D152528}" destId="{314BE372-5600-48B1-A954-59A873B6F9DA}" srcOrd="4" destOrd="0" presId="urn:microsoft.com/office/officeart/2005/8/layout/hProcess4"/>
    <dgm:cxn modelId="{E4DCFEA4-343A-4B88-9B87-344CC9BA9AE3}" type="presParOf" srcId="{73168246-7FFC-4EBD-959C-66166D8B369E}" destId="{ECB0F108-0F92-4168-BF47-56202F48CFAB}" srcOrd="1" destOrd="0" presId="urn:microsoft.com/office/officeart/2005/8/layout/hProcess4"/>
    <dgm:cxn modelId="{C7246B8D-F8E0-46A1-8EC2-3072218C0668}" type="presParOf" srcId="{73168246-7FFC-4EBD-959C-66166D8B369E}" destId="{F56CCD33-7757-4F4A-B21F-C9C8C0CEF8B1}" srcOrd="2" destOrd="0" presId="urn:microsoft.com/office/officeart/2005/8/layout/hProcess4"/>
    <dgm:cxn modelId="{EA2B68B9-A7C0-42F4-A24E-59CAB5BFBAD9}" type="presParOf" srcId="{F56CCD33-7757-4F4A-B21F-C9C8C0CEF8B1}" destId="{192D552F-2007-4A00-BE5E-1C64BF2ABA84}" srcOrd="0" destOrd="0" presId="urn:microsoft.com/office/officeart/2005/8/layout/hProcess4"/>
    <dgm:cxn modelId="{0788646B-9A5D-47D9-8BE2-B9B5BF89459C}" type="presParOf" srcId="{F56CCD33-7757-4F4A-B21F-C9C8C0CEF8B1}" destId="{0EFD094C-0FEC-445B-86D6-4A992697FA1B}" srcOrd="1" destOrd="0" presId="urn:microsoft.com/office/officeart/2005/8/layout/hProcess4"/>
    <dgm:cxn modelId="{E5918A43-7FD2-4781-A422-F9FD082AB2A5}" type="presParOf" srcId="{F56CCD33-7757-4F4A-B21F-C9C8C0CEF8B1}" destId="{E15419E0-BB7F-4746-AC88-BB9B82EF8C78}" srcOrd="2" destOrd="0" presId="urn:microsoft.com/office/officeart/2005/8/layout/hProcess4"/>
    <dgm:cxn modelId="{6FA4AA33-EE98-4FD3-9338-2CDBE6580F5E}" type="presParOf" srcId="{F56CCD33-7757-4F4A-B21F-C9C8C0CEF8B1}" destId="{0A1C474A-D4AA-485F-834A-820686239339}" srcOrd="3" destOrd="0" presId="urn:microsoft.com/office/officeart/2005/8/layout/hProcess4"/>
    <dgm:cxn modelId="{5EEDD6A5-21D7-424F-AAE0-C874889ADDDB}" type="presParOf" srcId="{F56CCD33-7757-4F4A-B21F-C9C8C0CEF8B1}" destId="{24141074-AC0E-4ACB-85A7-B3961B7DE904}" srcOrd="4" destOrd="0" presId="urn:microsoft.com/office/officeart/2005/8/layout/hProcess4"/>
    <dgm:cxn modelId="{82B91B06-1C89-4FF8-A561-F2C68EC08D82}" type="presParOf" srcId="{73168246-7FFC-4EBD-959C-66166D8B369E}" destId="{E88BA0C6-5B8C-4A99-95D9-794DE03AF5A7}" srcOrd="3" destOrd="0" presId="urn:microsoft.com/office/officeart/2005/8/layout/hProcess4"/>
    <dgm:cxn modelId="{6166D340-CAC9-4A4A-AB52-94677857AA39}" type="presParOf" srcId="{73168246-7FFC-4EBD-959C-66166D8B369E}" destId="{6BFDAD1A-4A68-4B88-BCB8-6CDCA70A8E80}" srcOrd="4" destOrd="0" presId="urn:microsoft.com/office/officeart/2005/8/layout/hProcess4"/>
    <dgm:cxn modelId="{EC5F0215-247F-49BC-94BE-7DE82C5722FC}" type="presParOf" srcId="{6BFDAD1A-4A68-4B88-BCB8-6CDCA70A8E80}" destId="{0286EAB9-8C63-4CAD-8B00-9BA2B29AB648}" srcOrd="0" destOrd="0" presId="urn:microsoft.com/office/officeart/2005/8/layout/hProcess4"/>
    <dgm:cxn modelId="{0887105A-F1FA-4839-BADD-59CEA59AC5CD}" type="presParOf" srcId="{6BFDAD1A-4A68-4B88-BCB8-6CDCA70A8E80}" destId="{31EDF09D-1D8D-4AA7-AF25-034DA00D9E2C}" srcOrd="1" destOrd="0" presId="urn:microsoft.com/office/officeart/2005/8/layout/hProcess4"/>
    <dgm:cxn modelId="{EE72B967-716D-42B4-82FE-89B13B7B8B33}" type="presParOf" srcId="{6BFDAD1A-4A68-4B88-BCB8-6CDCA70A8E80}" destId="{E33B8D2C-B5BF-4312-8B2E-B6E99E226B15}" srcOrd="2" destOrd="0" presId="urn:microsoft.com/office/officeart/2005/8/layout/hProcess4"/>
    <dgm:cxn modelId="{41D81CD9-170A-4AD9-A3E8-9AAE052040B1}" type="presParOf" srcId="{6BFDAD1A-4A68-4B88-BCB8-6CDCA70A8E80}" destId="{837DDBFA-10D3-4601-BB01-8A851C98AF36}" srcOrd="3" destOrd="0" presId="urn:microsoft.com/office/officeart/2005/8/layout/hProcess4"/>
    <dgm:cxn modelId="{0F24D64E-48E3-42E1-B750-53A3B653ACE6}" type="presParOf" srcId="{6BFDAD1A-4A68-4B88-BCB8-6CDCA70A8E80}" destId="{456566D5-8C95-4C91-A194-3320CE710835}" srcOrd="4" destOrd="0" presId="urn:microsoft.com/office/officeart/2005/8/layout/hProcess4"/>
    <dgm:cxn modelId="{B0BD972F-951B-4446-A4E7-CCAA0A8561B4}" type="presParOf" srcId="{73168246-7FFC-4EBD-959C-66166D8B369E}" destId="{B403B5E3-C468-4C52-9EAF-5133BA970987}" srcOrd="5" destOrd="0" presId="urn:microsoft.com/office/officeart/2005/8/layout/hProcess4"/>
    <dgm:cxn modelId="{99E8EA4F-59E7-4498-B653-FEFD3B40D333}" type="presParOf" srcId="{73168246-7FFC-4EBD-959C-66166D8B369E}" destId="{F6EB669E-8D63-4EA3-B1A3-418A031954FD}" srcOrd="6" destOrd="0" presId="urn:microsoft.com/office/officeart/2005/8/layout/hProcess4"/>
    <dgm:cxn modelId="{29E28198-B308-419D-B136-B9F9F137E2E7}" type="presParOf" srcId="{F6EB669E-8D63-4EA3-B1A3-418A031954FD}" destId="{014EA8DE-9A9D-40EA-9B52-052622D26866}" srcOrd="0" destOrd="0" presId="urn:microsoft.com/office/officeart/2005/8/layout/hProcess4"/>
    <dgm:cxn modelId="{E3320D88-A6F2-4A8D-B6B6-7758BB0079F1}" type="presParOf" srcId="{F6EB669E-8D63-4EA3-B1A3-418A031954FD}" destId="{D72F1F91-78EC-438A-917A-CF496AEF5546}" srcOrd="1" destOrd="0" presId="urn:microsoft.com/office/officeart/2005/8/layout/hProcess4"/>
    <dgm:cxn modelId="{6DFE6EBE-E302-49A0-B0F7-22E23651B171}" type="presParOf" srcId="{F6EB669E-8D63-4EA3-B1A3-418A031954FD}" destId="{4A680E77-CD45-484B-93A0-8E208D5784AA}" srcOrd="2" destOrd="0" presId="urn:microsoft.com/office/officeart/2005/8/layout/hProcess4"/>
    <dgm:cxn modelId="{63C8D621-FF1C-4474-8E6D-B8B339576A93}" type="presParOf" srcId="{F6EB669E-8D63-4EA3-B1A3-418A031954FD}" destId="{D0698737-9B1A-44BE-8372-B99C6A4F19B7}" srcOrd="3" destOrd="0" presId="urn:microsoft.com/office/officeart/2005/8/layout/hProcess4"/>
    <dgm:cxn modelId="{FA2B2B0E-2601-4EAC-AAC8-D970CE7D49F0}" type="presParOf" srcId="{F6EB669E-8D63-4EA3-B1A3-418A031954FD}" destId="{06BB2B24-6BEB-4A65-95EE-6A25CB878DB9}" srcOrd="4" destOrd="0" presId="urn:microsoft.com/office/officeart/2005/8/layout/hProcess4"/>
    <dgm:cxn modelId="{AF2AB6BF-610F-486A-8C5A-7D41CD4D4AB0}" type="presParOf" srcId="{73168246-7FFC-4EBD-959C-66166D8B369E}" destId="{7AF9B493-6BAC-466D-9FC3-5B5DC9DFA435}" srcOrd="7" destOrd="0" presId="urn:microsoft.com/office/officeart/2005/8/layout/hProcess4"/>
    <dgm:cxn modelId="{8098009B-36A3-46C7-86E0-AF19D42EC0AF}" type="presParOf" srcId="{73168246-7FFC-4EBD-959C-66166D8B369E}" destId="{F4EE3D01-091E-4E5C-9D75-CAB42E00E1E4}" srcOrd="8" destOrd="0" presId="urn:microsoft.com/office/officeart/2005/8/layout/hProcess4"/>
    <dgm:cxn modelId="{9C933FE3-7F04-4638-9BD1-07C605E4CA0F}" type="presParOf" srcId="{F4EE3D01-091E-4E5C-9D75-CAB42E00E1E4}" destId="{B05AA90F-317F-43C9-90FB-834D64B7FED4}" srcOrd="0" destOrd="0" presId="urn:microsoft.com/office/officeart/2005/8/layout/hProcess4"/>
    <dgm:cxn modelId="{9AF61404-6454-4057-80D7-8B2A5CDE38D9}" type="presParOf" srcId="{F4EE3D01-091E-4E5C-9D75-CAB42E00E1E4}" destId="{70068AAA-CDFF-4835-8862-ED1B7E017341}" srcOrd="1" destOrd="0" presId="urn:microsoft.com/office/officeart/2005/8/layout/hProcess4"/>
    <dgm:cxn modelId="{B32CA020-6DA0-4641-BFB4-82FCFFF1184B}" type="presParOf" srcId="{F4EE3D01-091E-4E5C-9D75-CAB42E00E1E4}" destId="{0E693060-CE01-44F4-9D28-8B3063228D1E}" srcOrd="2" destOrd="0" presId="urn:microsoft.com/office/officeart/2005/8/layout/hProcess4"/>
    <dgm:cxn modelId="{62FF92DF-CF1A-43D7-9A4F-884BB3B10E86}" type="presParOf" srcId="{F4EE3D01-091E-4E5C-9D75-CAB42E00E1E4}" destId="{A9D01A4A-D554-44AB-AC0A-4FCCF214E1D4}" srcOrd="3" destOrd="0" presId="urn:microsoft.com/office/officeart/2005/8/layout/hProcess4"/>
    <dgm:cxn modelId="{77ADC139-0368-4059-BECA-428F707C0552}" type="presParOf" srcId="{F4EE3D01-091E-4E5C-9D75-CAB42E00E1E4}" destId="{12462179-E670-41FD-AE3C-D3D1A0FEAA44}"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4E95DE-728D-4E94-BBA4-D7EE46E8B670}"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en-US"/>
        </a:p>
      </dgm:t>
    </dgm:pt>
    <dgm:pt modelId="{816CE752-992B-495A-9D3B-4BCCAF786CDD}">
      <dgm:prSet phldrT="[Text]" phldr="0" custT="1"/>
      <dgm:spPr/>
      <dgm:t>
        <a:bodyPr/>
        <a:lstStyle/>
        <a:p>
          <a:r>
            <a:rPr lang="en-US" sz="1200"/>
            <a:t>Edge Sizing </a:t>
          </a:r>
        </a:p>
        <a:p>
          <a:r>
            <a:rPr lang="en-US" sz="1200"/>
            <a:t>Horizontal walls – 50 Divisions</a:t>
          </a:r>
        </a:p>
        <a:p>
          <a:r>
            <a:rPr lang="en-US" sz="1200"/>
            <a:t>Vertical walls – 10 Divisions</a:t>
          </a:r>
        </a:p>
      </dgm:t>
    </dgm:pt>
    <dgm:pt modelId="{CC98D826-C89C-4B6C-98DF-0AC96F9DEB31}" type="parTrans" cxnId="{798ACC5C-92F3-49BC-9C08-E3CB924AF204}">
      <dgm:prSet/>
      <dgm:spPr/>
      <dgm:t>
        <a:bodyPr/>
        <a:lstStyle/>
        <a:p>
          <a:endParaRPr lang="en-US"/>
        </a:p>
      </dgm:t>
    </dgm:pt>
    <dgm:pt modelId="{EC95CF7E-BBE7-417C-A295-4F12FF54D74F}" type="sibTrans" cxnId="{798ACC5C-92F3-49BC-9C08-E3CB924AF204}">
      <dgm:prSet/>
      <dgm:spPr/>
      <dgm:t>
        <a:bodyPr/>
        <a:lstStyle/>
        <a:p>
          <a:endParaRPr lang="en-US"/>
        </a:p>
      </dgm:t>
    </dgm:pt>
    <dgm:pt modelId="{D35764E1-5B3B-4D08-98F0-1A85DE52A884}">
      <dgm:prSet phldrT="[Text]" phldr="0" custT="1"/>
      <dgm:spPr/>
      <dgm:t>
        <a:bodyPr/>
        <a:lstStyle/>
        <a:p>
          <a:r>
            <a:rPr lang="en-US" sz="1200"/>
            <a:t>Face Sizing with element size = 0.005m</a:t>
          </a:r>
        </a:p>
        <a:p>
          <a:r>
            <a:rPr lang="en-US" sz="1200"/>
            <a:t>Skewness ~ 0.5, Orthogonality  ~ 0.95</a:t>
          </a:r>
        </a:p>
      </dgm:t>
    </dgm:pt>
    <dgm:pt modelId="{CAA02A31-4A97-4FEB-A591-75E96BD266D6}" type="sibTrans" cxnId="{920F88E0-B57C-4136-A4F3-000EB3FAC0B1}">
      <dgm:prSet/>
      <dgm:spPr/>
      <dgm:t>
        <a:bodyPr/>
        <a:lstStyle/>
        <a:p>
          <a:endParaRPr lang="en-US"/>
        </a:p>
      </dgm:t>
    </dgm:pt>
    <dgm:pt modelId="{7601B375-995E-4894-B4EC-73A6E40ADA14}" type="parTrans" cxnId="{920F88E0-B57C-4136-A4F3-000EB3FAC0B1}">
      <dgm:prSet/>
      <dgm:spPr/>
      <dgm:t>
        <a:bodyPr/>
        <a:lstStyle/>
        <a:p>
          <a:endParaRPr lang="en-US"/>
        </a:p>
      </dgm:t>
    </dgm:pt>
    <dgm:pt modelId="{BFE92DCB-8DD9-4C00-8383-103ACF0C1E01}" type="pres">
      <dgm:prSet presAssocID="{8F4E95DE-728D-4E94-BBA4-D7EE46E8B670}" presName="outerComposite" presStyleCnt="0">
        <dgm:presLayoutVars>
          <dgm:chMax val="5"/>
          <dgm:dir/>
          <dgm:resizeHandles val="exact"/>
        </dgm:presLayoutVars>
      </dgm:prSet>
      <dgm:spPr/>
    </dgm:pt>
    <dgm:pt modelId="{AC8200CA-A9F3-47C2-9317-82AF18FFAD42}" type="pres">
      <dgm:prSet presAssocID="{8F4E95DE-728D-4E94-BBA4-D7EE46E8B670}" presName="dummyMaxCanvas" presStyleCnt="0">
        <dgm:presLayoutVars/>
      </dgm:prSet>
      <dgm:spPr/>
    </dgm:pt>
    <dgm:pt modelId="{0A37F057-0AFC-4BB3-B53B-7711A835F6CC}" type="pres">
      <dgm:prSet presAssocID="{8F4E95DE-728D-4E94-BBA4-D7EE46E8B670}" presName="TwoNodes_1" presStyleLbl="node1" presStyleIdx="0" presStyleCnt="2">
        <dgm:presLayoutVars>
          <dgm:bulletEnabled val="1"/>
        </dgm:presLayoutVars>
      </dgm:prSet>
      <dgm:spPr/>
    </dgm:pt>
    <dgm:pt modelId="{0E94EBE2-884F-41EC-98DC-327DA057DCAE}" type="pres">
      <dgm:prSet presAssocID="{8F4E95DE-728D-4E94-BBA4-D7EE46E8B670}" presName="TwoNodes_2" presStyleLbl="node1" presStyleIdx="1" presStyleCnt="2">
        <dgm:presLayoutVars>
          <dgm:bulletEnabled val="1"/>
        </dgm:presLayoutVars>
      </dgm:prSet>
      <dgm:spPr/>
    </dgm:pt>
    <dgm:pt modelId="{951B0ACF-50F0-42E8-AC04-DC5B9BB11D7C}" type="pres">
      <dgm:prSet presAssocID="{8F4E95DE-728D-4E94-BBA4-D7EE46E8B670}" presName="TwoConn_1-2" presStyleLbl="fgAccFollowNode1" presStyleIdx="0" presStyleCnt="1" custLinFactNeighborY="-7870">
        <dgm:presLayoutVars>
          <dgm:bulletEnabled val="1"/>
        </dgm:presLayoutVars>
      </dgm:prSet>
      <dgm:spPr/>
    </dgm:pt>
    <dgm:pt modelId="{D2BE3185-5156-4109-A69E-4BDB1363AD1C}" type="pres">
      <dgm:prSet presAssocID="{8F4E95DE-728D-4E94-BBA4-D7EE46E8B670}" presName="TwoNodes_1_text" presStyleLbl="node1" presStyleIdx="1" presStyleCnt="2">
        <dgm:presLayoutVars>
          <dgm:bulletEnabled val="1"/>
        </dgm:presLayoutVars>
      </dgm:prSet>
      <dgm:spPr/>
    </dgm:pt>
    <dgm:pt modelId="{ABFBD75B-E836-40AD-8592-293D0FBCA428}" type="pres">
      <dgm:prSet presAssocID="{8F4E95DE-728D-4E94-BBA4-D7EE46E8B670}" presName="TwoNodes_2_text" presStyleLbl="node1" presStyleIdx="1" presStyleCnt="2">
        <dgm:presLayoutVars>
          <dgm:bulletEnabled val="1"/>
        </dgm:presLayoutVars>
      </dgm:prSet>
      <dgm:spPr/>
    </dgm:pt>
  </dgm:ptLst>
  <dgm:cxnLst>
    <dgm:cxn modelId="{B410C62C-2AAF-4946-B80C-F156E29A700C}" type="presOf" srcId="{D35764E1-5B3B-4D08-98F0-1A85DE52A884}" destId="{ABFBD75B-E836-40AD-8592-293D0FBCA428}" srcOrd="1" destOrd="0" presId="urn:microsoft.com/office/officeart/2005/8/layout/vProcess5"/>
    <dgm:cxn modelId="{6D656B33-D1FD-45F3-A81F-0EC7EA8F03BA}" type="presOf" srcId="{D35764E1-5B3B-4D08-98F0-1A85DE52A884}" destId="{0E94EBE2-884F-41EC-98DC-327DA057DCAE}" srcOrd="0" destOrd="0" presId="urn:microsoft.com/office/officeart/2005/8/layout/vProcess5"/>
    <dgm:cxn modelId="{798ACC5C-92F3-49BC-9C08-E3CB924AF204}" srcId="{8F4E95DE-728D-4E94-BBA4-D7EE46E8B670}" destId="{816CE752-992B-495A-9D3B-4BCCAF786CDD}" srcOrd="0" destOrd="0" parTransId="{CC98D826-C89C-4B6C-98DF-0AC96F9DEB31}" sibTransId="{EC95CF7E-BBE7-417C-A295-4F12FF54D74F}"/>
    <dgm:cxn modelId="{930D8093-0F39-481A-8BE8-E1C608AAD324}" type="presOf" srcId="{816CE752-992B-495A-9D3B-4BCCAF786CDD}" destId="{0A37F057-0AFC-4BB3-B53B-7711A835F6CC}" srcOrd="0" destOrd="0" presId="urn:microsoft.com/office/officeart/2005/8/layout/vProcess5"/>
    <dgm:cxn modelId="{B10F119E-442A-44AF-B1C3-0FD83B1E1BA7}" type="presOf" srcId="{8F4E95DE-728D-4E94-BBA4-D7EE46E8B670}" destId="{BFE92DCB-8DD9-4C00-8383-103ACF0C1E01}" srcOrd="0" destOrd="0" presId="urn:microsoft.com/office/officeart/2005/8/layout/vProcess5"/>
    <dgm:cxn modelId="{443A8FB7-FC98-4C08-8B40-0C755703A939}" type="presOf" srcId="{EC95CF7E-BBE7-417C-A295-4F12FF54D74F}" destId="{951B0ACF-50F0-42E8-AC04-DC5B9BB11D7C}" srcOrd="0" destOrd="0" presId="urn:microsoft.com/office/officeart/2005/8/layout/vProcess5"/>
    <dgm:cxn modelId="{920F88E0-B57C-4136-A4F3-000EB3FAC0B1}" srcId="{8F4E95DE-728D-4E94-BBA4-D7EE46E8B670}" destId="{D35764E1-5B3B-4D08-98F0-1A85DE52A884}" srcOrd="1" destOrd="0" parTransId="{7601B375-995E-4894-B4EC-73A6E40ADA14}" sibTransId="{CAA02A31-4A97-4FEB-A591-75E96BD266D6}"/>
    <dgm:cxn modelId="{152205FC-273F-4A80-9013-F9632614DA9E}" type="presOf" srcId="{816CE752-992B-495A-9D3B-4BCCAF786CDD}" destId="{D2BE3185-5156-4109-A69E-4BDB1363AD1C}" srcOrd="1" destOrd="0" presId="urn:microsoft.com/office/officeart/2005/8/layout/vProcess5"/>
    <dgm:cxn modelId="{9C7370D6-4DCB-4EDB-9701-C52CD6341873}" type="presParOf" srcId="{BFE92DCB-8DD9-4C00-8383-103ACF0C1E01}" destId="{AC8200CA-A9F3-47C2-9317-82AF18FFAD42}" srcOrd="0" destOrd="0" presId="urn:microsoft.com/office/officeart/2005/8/layout/vProcess5"/>
    <dgm:cxn modelId="{50A0D42D-A7EA-4010-8DD6-C26D73382308}" type="presParOf" srcId="{BFE92DCB-8DD9-4C00-8383-103ACF0C1E01}" destId="{0A37F057-0AFC-4BB3-B53B-7711A835F6CC}" srcOrd="1" destOrd="0" presId="urn:microsoft.com/office/officeart/2005/8/layout/vProcess5"/>
    <dgm:cxn modelId="{0607BD4E-4EC0-44B9-9179-4187DE008A61}" type="presParOf" srcId="{BFE92DCB-8DD9-4C00-8383-103ACF0C1E01}" destId="{0E94EBE2-884F-41EC-98DC-327DA057DCAE}" srcOrd="2" destOrd="0" presId="urn:microsoft.com/office/officeart/2005/8/layout/vProcess5"/>
    <dgm:cxn modelId="{63E1BC3B-FF0D-49E7-8FE9-7E43D0D0A512}" type="presParOf" srcId="{BFE92DCB-8DD9-4C00-8383-103ACF0C1E01}" destId="{951B0ACF-50F0-42E8-AC04-DC5B9BB11D7C}" srcOrd="3" destOrd="0" presId="urn:microsoft.com/office/officeart/2005/8/layout/vProcess5"/>
    <dgm:cxn modelId="{DFE763DB-B0CF-403A-AB5F-DF733B4E52EB}" type="presParOf" srcId="{BFE92DCB-8DD9-4C00-8383-103ACF0C1E01}" destId="{D2BE3185-5156-4109-A69E-4BDB1363AD1C}" srcOrd="4" destOrd="0" presId="urn:microsoft.com/office/officeart/2005/8/layout/vProcess5"/>
    <dgm:cxn modelId="{D720B4CD-1309-4C36-9725-4141BB5810B1}" type="presParOf" srcId="{BFE92DCB-8DD9-4C00-8383-103ACF0C1E01}" destId="{ABFBD75B-E836-40AD-8592-293D0FBCA428}" srcOrd="5"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71AEE8D-8CC4-4677-9C94-B3610667B429}"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14F4A4BD-AECE-4B3C-9D06-3DDC36EE19EF}">
      <dgm:prSet phldrT="[Text]" phldr="0"/>
      <dgm:spPr/>
      <dgm:t>
        <a:bodyPr/>
        <a:lstStyle/>
        <a:p>
          <a:pPr rtl="0"/>
          <a:r>
            <a:rPr lang="en-US">
              <a:latin typeface="Arial"/>
            </a:rPr>
            <a:t>Tight Iterations</a:t>
          </a:r>
          <a:endParaRPr lang="en-US"/>
        </a:p>
      </dgm:t>
    </dgm:pt>
    <dgm:pt modelId="{D346ABD7-A9A8-44B7-8915-0D952DBC63FC}" type="parTrans" cxnId="{2FA82929-D776-4515-B5AC-5398BFE81021}">
      <dgm:prSet/>
      <dgm:spPr/>
      <dgm:t>
        <a:bodyPr/>
        <a:lstStyle/>
        <a:p>
          <a:endParaRPr lang="en-US"/>
        </a:p>
      </dgm:t>
    </dgm:pt>
    <dgm:pt modelId="{BFA1D6C3-DCDA-4A22-B2F7-036DCC2B9895}" type="sibTrans" cxnId="{2FA82929-D776-4515-B5AC-5398BFE81021}">
      <dgm:prSet/>
      <dgm:spPr/>
      <dgm:t>
        <a:bodyPr/>
        <a:lstStyle/>
        <a:p>
          <a:endParaRPr lang="en-US"/>
        </a:p>
      </dgm:t>
    </dgm:pt>
    <dgm:pt modelId="{5D72168C-D4AD-444A-B9DE-7409E67D9C45}">
      <dgm:prSet phldrT="[Text]" phldr="0"/>
      <dgm:spPr/>
      <dgm:t>
        <a:bodyPr/>
        <a:lstStyle/>
        <a:p>
          <a:pPr rtl="0"/>
          <a:r>
            <a:rPr lang="en-US">
              <a:latin typeface="Arial"/>
            </a:rPr>
            <a:t>20 step workout</a:t>
          </a:r>
          <a:endParaRPr lang="en-US"/>
        </a:p>
      </dgm:t>
    </dgm:pt>
    <dgm:pt modelId="{6C82578F-AC33-4E15-A1AE-CAC819E28F8C}" type="parTrans" cxnId="{76BBF636-F603-47C2-AABB-661B1E950C67}">
      <dgm:prSet/>
      <dgm:spPr/>
      <dgm:t>
        <a:bodyPr/>
        <a:lstStyle/>
        <a:p>
          <a:endParaRPr lang="en-US"/>
        </a:p>
      </dgm:t>
    </dgm:pt>
    <dgm:pt modelId="{05D9DE00-F0B5-4F08-BCD0-FB4CAC383777}" type="sibTrans" cxnId="{76BBF636-F603-47C2-AABB-661B1E950C67}">
      <dgm:prSet/>
      <dgm:spPr/>
      <dgm:t>
        <a:bodyPr/>
        <a:lstStyle/>
        <a:p>
          <a:endParaRPr lang="en-US"/>
        </a:p>
      </dgm:t>
    </dgm:pt>
    <dgm:pt modelId="{65136C57-721E-4889-81CA-6D8D340B75A7}">
      <dgm:prSet phldrT="[Text]"/>
      <dgm:spPr/>
      <dgm:t>
        <a:bodyPr/>
        <a:lstStyle/>
        <a:p>
          <a:pPr rtl="0"/>
          <a:r>
            <a:rPr lang="en-US">
              <a:latin typeface="Arial"/>
            </a:rPr>
            <a:t>Solver</a:t>
          </a:r>
          <a:r>
            <a:rPr lang="en-US"/>
            <a:t> </a:t>
          </a:r>
          <a:r>
            <a:rPr lang="en-US">
              <a:latin typeface="Arial"/>
            </a:rPr>
            <a:t>refines the</a:t>
          </a:r>
          <a:r>
            <a:rPr lang="en-US"/>
            <a:t> math before moving on. </a:t>
          </a:r>
        </a:p>
      </dgm:t>
    </dgm:pt>
    <dgm:pt modelId="{300F4B78-1B8D-48DF-8EE6-7643F02D191E}" type="parTrans" cxnId="{6330D319-3E3C-4429-BF42-14C537CA40CC}">
      <dgm:prSet/>
      <dgm:spPr/>
      <dgm:t>
        <a:bodyPr/>
        <a:lstStyle/>
        <a:p>
          <a:endParaRPr lang="en-US"/>
        </a:p>
      </dgm:t>
    </dgm:pt>
    <dgm:pt modelId="{A48832FE-93E4-4F00-8A0A-798A8FD204E7}" type="sibTrans" cxnId="{6330D319-3E3C-4429-BF42-14C537CA40CC}">
      <dgm:prSet/>
      <dgm:spPr/>
      <dgm:t>
        <a:bodyPr/>
        <a:lstStyle/>
        <a:p>
          <a:endParaRPr lang="en-US"/>
        </a:p>
      </dgm:t>
    </dgm:pt>
    <dgm:pt modelId="{8F6A8D9D-79A4-4D19-AF5C-BC564EE86C38}">
      <dgm:prSet phldrT="[Text]" phldr="0"/>
      <dgm:spPr/>
      <dgm:t>
        <a:bodyPr/>
        <a:lstStyle/>
        <a:p>
          <a:pPr rtl="0"/>
          <a:r>
            <a:rPr lang="en-US">
              <a:latin typeface="Arial"/>
            </a:rPr>
            <a:t> Sawtooth</a:t>
          </a:r>
          <a:r>
            <a:rPr lang="en-US"/>
            <a:t> Drop</a:t>
          </a:r>
        </a:p>
      </dgm:t>
    </dgm:pt>
    <dgm:pt modelId="{76091B4C-92D0-4B80-9FB9-99CD20427A5D}" type="parTrans" cxnId="{9D7066D5-79C1-4670-9306-AF45BDA42CBD}">
      <dgm:prSet/>
      <dgm:spPr/>
      <dgm:t>
        <a:bodyPr/>
        <a:lstStyle/>
        <a:p>
          <a:endParaRPr lang="en-US"/>
        </a:p>
      </dgm:t>
    </dgm:pt>
    <dgm:pt modelId="{99F906B2-42E9-4FCD-822E-E06BFAE0F459}" type="sibTrans" cxnId="{9D7066D5-79C1-4670-9306-AF45BDA42CBD}">
      <dgm:prSet/>
      <dgm:spPr/>
      <dgm:t>
        <a:bodyPr/>
        <a:lstStyle/>
        <a:p>
          <a:endParaRPr lang="en-US"/>
        </a:p>
      </dgm:t>
    </dgm:pt>
    <dgm:pt modelId="{B30299BA-7F88-4B8E-B005-A54E2B53749A}">
      <dgm:prSet phldrT="[Text]"/>
      <dgm:spPr/>
      <dgm:t>
        <a:bodyPr/>
        <a:lstStyle/>
        <a:p>
          <a:pPr rtl="0"/>
          <a:r>
            <a:rPr lang="en-US"/>
            <a:t>Residual Nose-Dive</a:t>
          </a:r>
        </a:p>
      </dgm:t>
    </dgm:pt>
    <dgm:pt modelId="{2D83D8A5-EF38-4001-A69C-9BE1A5591B50}" type="parTrans" cxnId="{66A6DE94-DF1D-4D3A-A9C4-C4C3780E8E2B}">
      <dgm:prSet/>
      <dgm:spPr/>
      <dgm:t>
        <a:bodyPr/>
        <a:lstStyle/>
        <a:p>
          <a:endParaRPr lang="en-US"/>
        </a:p>
      </dgm:t>
    </dgm:pt>
    <dgm:pt modelId="{818D9222-A847-4DAB-81D6-315EED3783DF}" type="sibTrans" cxnId="{66A6DE94-DF1D-4D3A-A9C4-C4C3780E8E2B}">
      <dgm:prSet/>
      <dgm:spPr/>
      <dgm:t>
        <a:bodyPr/>
        <a:lstStyle/>
        <a:p>
          <a:endParaRPr lang="en-US"/>
        </a:p>
      </dgm:t>
    </dgm:pt>
    <dgm:pt modelId="{DBA3A1A5-481A-468A-B7C3-AE481A3EC86B}">
      <dgm:prSet phldrT="[Text]"/>
      <dgm:spPr/>
      <dgm:t>
        <a:bodyPr/>
        <a:lstStyle/>
        <a:p>
          <a:pPr rtl="0"/>
          <a:r>
            <a:rPr lang="en-US" b="0"/>
            <a:t>Error levels drop </a:t>
          </a:r>
          <a:r>
            <a:rPr lang="en-US" b="0">
              <a:latin typeface="Arial"/>
            </a:rPr>
            <a:t>up to 3</a:t>
          </a:r>
          <a:r>
            <a:rPr lang="en-US" b="0"/>
            <a:t>+ orders of magnitude every 0.005s.</a:t>
          </a:r>
          <a:r>
            <a:rPr lang="en-US">
              <a:latin typeface="Arial"/>
            </a:rPr>
            <a:t> </a:t>
          </a:r>
        </a:p>
      </dgm:t>
    </dgm:pt>
    <dgm:pt modelId="{B1B20B2F-C284-4704-AF6C-EFF01BD4DA27}" type="parTrans" cxnId="{A6284FD9-86AE-4E75-AA6B-D55184F5708B}">
      <dgm:prSet/>
      <dgm:spPr/>
      <dgm:t>
        <a:bodyPr/>
        <a:lstStyle/>
        <a:p>
          <a:endParaRPr lang="en-US"/>
        </a:p>
      </dgm:t>
    </dgm:pt>
    <dgm:pt modelId="{A0BBFC6D-06F0-42C1-B8CB-5CE0C4ADFA03}" type="sibTrans" cxnId="{A6284FD9-86AE-4E75-AA6B-D55184F5708B}">
      <dgm:prSet/>
      <dgm:spPr/>
      <dgm:t>
        <a:bodyPr/>
        <a:lstStyle/>
        <a:p>
          <a:endParaRPr lang="en-US"/>
        </a:p>
      </dgm:t>
    </dgm:pt>
    <dgm:pt modelId="{5D7F48C6-DBC8-402F-906C-826935BAE9F9}">
      <dgm:prSet phldrT="[Text]" phldr="0"/>
      <dgm:spPr/>
      <dgm:t>
        <a:bodyPr/>
        <a:lstStyle/>
        <a:p>
          <a:pPr rtl="0"/>
          <a:r>
            <a:rPr lang="en-US"/>
            <a:t>Energy </a:t>
          </a:r>
          <a:r>
            <a:rPr lang="en-US">
              <a:latin typeface="Arial"/>
            </a:rPr>
            <a:t>&lt;</a:t>
          </a:r>
          <a:r>
            <a:rPr lang="en-US"/>
            <a:t> </a:t>
          </a:r>
          <a:r>
            <a:rPr lang="en-US">
              <a:latin typeface="Arial"/>
            </a:rPr>
            <a:t>10</a:t>
          </a:r>
          <a:r>
            <a:rPr lang="en-US" baseline="30000">
              <a:latin typeface="Arial"/>
            </a:rPr>
            <a:t>-6</a:t>
          </a:r>
          <a:endParaRPr lang="en-US" baseline="30000"/>
        </a:p>
      </dgm:t>
    </dgm:pt>
    <dgm:pt modelId="{E850AF93-D22C-4A9A-A54F-4AB56C782D4A}" type="parTrans" cxnId="{B6535E4A-34CC-4743-8BBE-123C7A35766D}">
      <dgm:prSet/>
      <dgm:spPr/>
      <dgm:t>
        <a:bodyPr/>
        <a:lstStyle/>
        <a:p>
          <a:endParaRPr lang="en-US"/>
        </a:p>
      </dgm:t>
    </dgm:pt>
    <dgm:pt modelId="{6E0181CD-7C40-46D4-8761-411C18D1A6E5}" type="sibTrans" cxnId="{B6535E4A-34CC-4743-8BBE-123C7A35766D}">
      <dgm:prSet/>
      <dgm:spPr/>
      <dgm:t>
        <a:bodyPr/>
        <a:lstStyle/>
        <a:p>
          <a:endParaRPr lang="en-US"/>
        </a:p>
      </dgm:t>
    </dgm:pt>
    <dgm:pt modelId="{51A385E5-5B40-4CC2-8D53-C9DCEC25F64C}">
      <dgm:prSet phldrT="[Text]" phldr="0"/>
      <dgm:spPr/>
      <dgm:t>
        <a:bodyPr/>
        <a:lstStyle/>
        <a:p>
          <a:pPr rtl="0"/>
          <a:r>
            <a:rPr lang="en-US" b="0"/>
            <a:t>Deep convergence in the Energy </a:t>
          </a:r>
          <a:r>
            <a:rPr lang="en-US" b="0">
              <a:latin typeface="Arial"/>
            </a:rPr>
            <a:t>equation. Heat</a:t>
          </a:r>
          <a:r>
            <a:rPr lang="en-US" b="0"/>
            <a:t> transfer results aren't just </a:t>
          </a:r>
          <a:r>
            <a:rPr lang="en-US" b="0">
              <a:latin typeface="Arial"/>
            </a:rPr>
            <a:t>guesses. They’re</a:t>
          </a:r>
          <a:r>
            <a:rPr lang="en-US" b="0"/>
            <a:t> </a:t>
          </a:r>
          <a:r>
            <a:rPr lang="en-US" b="0">
              <a:latin typeface="Arial"/>
            </a:rPr>
            <a:t>reliable</a:t>
          </a:r>
          <a:r>
            <a:rPr lang="en-US" b="0"/>
            <a:t>.</a:t>
          </a:r>
        </a:p>
      </dgm:t>
    </dgm:pt>
    <dgm:pt modelId="{2333FF2F-6E71-4BD5-9165-D37292A5300E}" type="parTrans" cxnId="{BA8BE8F6-F727-46F2-9734-30999A25A5EC}">
      <dgm:prSet/>
      <dgm:spPr/>
      <dgm:t>
        <a:bodyPr/>
        <a:lstStyle/>
        <a:p>
          <a:endParaRPr lang="en-US"/>
        </a:p>
      </dgm:t>
    </dgm:pt>
    <dgm:pt modelId="{C093DB5C-36C5-4AE9-844F-DE1EA017F7AE}" type="sibTrans" cxnId="{BA8BE8F6-F727-46F2-9734-30999A25A5EC}">
      <dgm:prSet/>
      <dgm:spPr/>
      <dgm:t>
        <a:bodyPr/>
        <a:lstStyle/>
        <a:p>
          <a:endParaRPr lang="en-US"/>
        </a:p>
      </dgm:t>
    </dgm:pt>
    <dgm:pt modelId="{2B57476B-EF14-4F2A-814E-E705CA76EEAB}">
      <dgm:prSet phldr="0"/>
      <dgm:spPr/>
      <dgm:t>
        <a:bodyPr/>
        <a:lstStyle/>
        <a:p>
          <a:r>
            <a:rPr lang="en-US">
              <a:latin typeface="Arial"/>
            </a:rPr>
            <a:t> </a:t>
          </a:r>
          <a:r>
            <a:rPr lang="en-US"/>
            <a:t>Thermal Confidence</a:t>
          </a:r>
        </a:p>
      </dgm:t>
    </dgm:pt>
    <dgm:pt modelId="{79D3A8D1-2C7A-4FAE-8269-039F4C9FCF12}" type="parTrans" cxnId="{BAED3F5C-9791-4C27-BC51-D2EBB791D2A9}">
      <dgm:prSet/>
      <dgm:spPr/>
      <dgm:t>
        <a:bodyPr/>
        <a:lstStyle/>
        <a:p>
          <a:endParaRPr lang="en-GB"/>
        </a:p>
      </dgm:t>
    </dgm:pt>
    <dgm:pt modelId="{54583F84-F238-4BEB-A8B2-0FC1E211C907}" type="sibTrans" cxnId="{BAED3F5C-9791-4C27-BC51-D2EBB791D2A9}">
      <dgm:prSet/>
      <dgm:spPr/>
      <dgm:t>
        <a:bodyPr/>
        <a:lstStyle/>
        <a:p>
          <a:endParaRPr lang="en-GB"/>
        </a:p>
      </dgm:t>
    </dgm:pt>
    <dgm:pt modelId="{DBFCFEC9-C122-4B4B-8094-4E269453BE35}" type="pres">
      <dgm:prSet presAssocID="{171AEE8D-8CC4-4677-9C94-B3610667B429}" presName="Name0" presStyleCnt="0">
        <dgm:presLayoutVars>
          <dgm:chPref val="3"/>
          <dgm:dir/>
          <dgm:animLvl val="lvl"/>
          <dgm:resizeHandles/>
        </dgm:presLayoutVars>
      </dgm:prSet>
      <dgm:spPr/>
    </dgm:pt>
    <dgm:pt modelId="{C6A4C518-5D7D-465A-8B75-D7BA45CD3FCA}" type="pres">
      <dgm:prSet presAssocID="{14F4A4BD-AECE-4B3C-9D06-3DDC36EE19EF}" presName="horFlow" presStyleCnt="0"/>
      <dgm:spPr/>
    </dgm:pt>
    <dgm:pt modelId="{046B23DA-FD0B-4A52-BEA3-B60EE72179CE}" type="pres">
      <dgm:prSet presAssocID="{14F4A4BD-AECE-4B3C-9D06-3DDC36EE19EF}" presName="bigChev" presStyleLbl="node1" presStyleIdx="0" presStyleCnt="3"/>
      <dgm:spPr/>
    </dgm:pt>
    <dgm:pt modelId="{C0C4B589-006F-445A-8F9A-F404B8DF0947}" type="pres">
      <dgm:prSet presAssocID="{6C82578F-AC33-4E15-A1AE-CAC819E28F8C}" presName="parTrans" presStyleCnt="0"/>
      <dgm:spPr/>
    </dgm:pt>
    <dgm:pt modelId="{5CD7EE2C-8B30-40A4-816D-52F98559379F}" type="pres">
      <dgm:prSet presAssocID="{5D72168C-D4AD-444A-B9DE-7409E67D9C45}" presName="node" presStyleLbl="alignAccFollowNode1" presStyleIdx="0" presStyleCnt="6">
        <dgm:presLayoutVars>
          <dgm:bulletEnabled val="1"/>
        </dgm:presLayoutVars>
      </dgm:prSet>
      <dgm:spPr/>
    </dgm:pt>
    <dgm:pt modelId="{1EA7FF2B-6006-4099-99F1-D5DAD562BC86}" type="pres">
      <dgm:prSet presAssocID="{05D9DE00-F0B5-4F08-BCD0-FB4CAC383777}" presName="sibTrans" presStyleCnt="0"/>
      <dgm:spPr/>
    </dgm:pt>
    <dgm:pt modelId="{DDF54D85-02CE-4184-A351-4B0C3B7A426F}" type="pres">
      <dgm:prSet presAssocID="{65136C57-721E-4889-81CA-6D8D340B75A7}" presName="node" presStyleLbl="alignAccFollowNode1" presStyleIdx="1" presStyleCnt="6">
        <dgm:presLayoutVars>
          <dgm:bulletEnabled val="1"/>
        </dgm:presLayoutVars>
      </dgm:prSet>
      <dgm:spPr/>
    </dgm:pt>
    <dgm:pt modelId="{0360B572-088E-4731-89BE-31A1C7C5E0F4}" type="pres">
      <dgm:prSet presAssocID="{14F4A4BD-AECE-4B3C-9D06-3DDC36EE19EF}" presName="vSp" presStyleCnt="0"/>
      <dgm:spPr/>
    </dgm:pt>
    <dgm:pt modelId="{52579E8A-2AB4-407F-A701-CCA38A7A5101}" type="pres">
      <dgm:prSet presAssocID="{8F6A8D9D-79A4-4D19-AF5C-BC564EE86C38}" presName="horFlow" presStyleCnt="0"/>
      <dgm:spPr/>
    </dgm:pt>
    <dgm:pt modelId="{86F81637-40FF-4F3E-B372-7E665606CC92}" type="pres">
      <dgm:prSet presAssocID="{8F6A8D9D-79A4-4D19-AF5C-BC564EE86C38}" presName="bigChev" presStyleLbl="node1" presStyleIdx="1" presStyleCnt="3"/>
      <dgm:spPr/>
    </dgm:pt>
    <dgm:pt modelId="{BF95EA34-656B-4A7C-B503-01BCEA12F85F}" type="pres">
      <dgm:prSet presAssocID="{2D83D8A5-EF38-4001-A69C-9BE1A5591B50}" presName="parTrans" presStyleCnt="0"/>
      <dgm:spPr/>
    </dgm:pt>
    <dgm:pt modelId="{E2A381D7-66B9-485D-9982-629370902126}" type="pres">
      <dgm:prSet presAssocID="{B30299BA-7F88-4B8E-B005-A54E2B53749A}" presName="node" presStyleLbl="alignAccFollowNode1" presStyleIdx="2" presStyleCnt="6">
        <dgm:presLayoutVars>
          <dgm:bulletEnabled val="1"/>
        </dgm:presLayoutVars>
      </dgm:prSet>
      <dgm:spPr/>
    </dgm:pt>
    <dgm:pt modelId="{B14F8CA9-ABBE-402C-8F45-DC4821E5055A}" type="pres">
      <dgm:prSet presAssocID="{818D9222-A847-4DAB-81D6-315EED3783DF}" presName="sibTrans" presStyleCnt="0"/>
      <dgm:spPr/>
    </dgm:pt>
    <dgm:pt modelId="{0E2825A1-B6B0-4D27-B4A5-B27439CA4DA8}" type="pres">
      <dgm:prSet presAssocID="{DBA3A1A5-481A-468A-B7C3-AE481A3EC86B}" presName="node" presStyleLbl="alignAccFollowNode1" presStyleIdx="3" presStyleCnt="6">
        <dgm:presLayoutVars>
          <dgm:bulletEnabled val="1"/>
        </dgm:presLayoutVars>
      </dgm:prSet>
      <dgm:spPr/>
    </dgm:pt>
    <dgm:pt modelId="{94B20E0E-A216-48F5-AB41-C9406F78A241}" type="pres">
      <dgm:prSet presAssocID="{8F6A8D9D-79A4-4D19-AF5C-BC564EE86C38}" presName="vSp" presStyleCnt="0"/>
      <dgm:spPr/>
    </dgm:pt>
    <dgm:pt modelId="{C488B888-3E56-47EC-A4AA-7A3875509ABA}" type="pres">
      <dgm:prSet presAssocID="{2B57476B-EF14-4F2A-814E-E705CA76EEAB}" presName="horFlow" presStyleCnt="0"/>
      <dgm:spPr/>
    </dgm:pt>
    <dgm:pt modelId="{3A724620-7029-4444-82D5-860BCFEE9A98}" type="pres">
      <dgm:prSet presAssocID="{2B57476B-EF14-4F2A-814E-E705CA76EEAB}" presName="bigChev" presStyleLbl="node1" presStyleIdx="2" presStyleCnt="3"/>
      <dgm:spPr/>
    </dgm:pt>
    <dgm:pt modelId="{6611EA95-DDEC-40FF-A7C9-68FF16133CAE}" type="pres">
      <dgm:prSet presAssocID="{E850AF93-D22C-4A9A-A54F-4AB56C782D4A}" presName="parTrans" presStyleCnt="0"/>
      <dgm:spPr/>
    </dgm:pt>
    <dgm:pt modelId="{580E9869-8244-4962-AA22-72C557FC8CFC}" type="pres">
      <dgm:prSet presAssocID="{5D7F48C6-DBC8-402F-906C-826935BAE9F9}" presName="node" presStyleLbl="alignAccFollowNode1" presStyleIdx="4" presStyleCnt="6">
        <dgm:presLayoutVars>
          <dgm:bulletEnabled val="1"/>
        </dgm:presLayoutVars>
      </dgm:prSet>
      <dgm:spPr/>
    </dgm:pt>
    <dgm:pt modelId="{B6599D7A-5A89-4C91-8EC2-E319416F5B2C}" type="pres">
      <dgm:prSet presAssocID="{6E0181CD-7C40-46D4-8761-411C18D1A6E5}" presName="sibTrans" presStyleCnt="0"/>
      <dgm:spPr/>
    </dgm:pt>
    <dgm:pt modelId="{70A762CD-7745-41E1-A9BF-5BF1F9445BCA}" type="pres">
      <dgm:prSet presAssocID="{51A385E5-5B40-4CC2-8D53-C9DCEC25F64C}" presName="node" presStyleLbl="alignAccFollowNode1" presStyleIdx="5" presStyleCnt="6">
        <dgm:presLayoutVars>
          <dgm:bulletEnabled val="1"/>
        </dgm:presLayoutVars>
      </dgm:prSet>
      <dgm:spPr/>
    </dgm:pt>
  </dgm:ptLst>
  <dgm:cxnLst>
    <dgm:cxn modelId="{6330D319-3E3C-4429-BF42-14C537CA40CC}" srcId="{14F4A4BD-AECE-4B3C-9D06-3DDC36EE19EF}" destId="{65136C57-721E-4889-81CA-6D8D340B75A7}" srcOrd="1" destOrd="0" parTransId="{300F4B78-1B8D-48DF-8EE6-7643F02D191E}" sibTransId="{A48832FE-93E4-4F00-8A0A-798A8FD204E7}"/>
    <dgm:cxn modelId="{2FA82929-D776-4515-B5AC-5398BFE81021}" srcId="{171AEE8D-8CC4-4677-9C94-B3610667B429}" destId="{14F4A4BD-AECE-4B3C-9D06-3DDC36EE19EF}" srcOrd="0" destOrd="0" parTransId="{D346ABD7-A9A8-44B7-8915-0D952DBC63FC}" sibTransId="{BFA1D6C3-DCDA-4A22-B2F7-036DCC2B9895}"/>
    <dgm:cxn modelId="{76BBF636-F603-47C2-AABB-661B1E950C67}" srcId="{14F4A4BD-AECE-4B3C-9D06-3DDC36EE19EF}" destId="{5D72168C-D4AD-444A-B9DE-7409E67D9C45}" srcOrd="0" destOrd="0" parTransId="{6C82578F-AC33-4E15-A1AE-CAC819E28F8C}" sibTransId="{05D9DE00-F0B5-4F08-BCD0-FB4CAC383777}"/>
    <dgm:cxn modelId="{BAED3F5C-9791-4C27-BC51-D2EBB791D2A9}" srcId="{171AEE8D-8CC4-4677-9C94-B3610667B429}" destId="{2B57476B-EF14-4F2A-814E-E705CA76EEAB}" srcOrd="2" destOrd="0" parTransId="{79D3A8D1-2C7A-4FAE-8269-039F4C9FCF12}" sibTransId="{54583F84-F238-4BEB-A8B2-0FC1E211C907}"/>
    <dgm:cxn modelId="{B6535E4A-34CC-4743-8BBE-123C7A35766D}" srcId="{2B57476B-EF14-4F2A-814E-E705CA76EEAB}" destId="{5D7F48C6-DBC8-402F-906C-826935BAE9F9}" srcOrd="0" destOrd="0" parTransId="{E850AF93-D22C-4A9A-A54F-4AB56C782D4A}" sibTransId="{6E0181CD-7C40-46D4-8761-411C18D1A6E5}"/>
    <dgm:cxn modelId="{CC6E9D4A-9429-4E6B-9011-50A4D7DAD7B3}" type="presOf" srcId="{8F6A8D9D-79A4-4D19-AF5C-BC564EE86C38}" destId="{86F81637-40FF-4F3E-B372-7E665606CC92}" srcOrd="0" destOrd="0" presId="urn:microsoft.com/office/officeart/2005/8/layout/lProcess3"/>
    <dgm:cxn modelId="{4BDD874C-0F60-4373-9C8F-F2362022E8F4}" type="presOf" srcId="{2B57476B-EF14-4F2A-814E-E705CA76EEAB}" destId="{3A724620-7029-4444-82D5-860BCFEE9A98}" srcOrd="0" destOrd="0" presId="urn:microsoft.com/office/officeart/2005/8/layout/lProcess3"/>
    <dgm:cxn modelId="{DD31E292-7184-4028-B361-D85722015980}" type="presOf" srcId="{65136C57-721E-4889-81CA-6D8D340B75A7}" destId="{DDF54D85-02CE-4184-A351-4B0C3B7A426F}" srcOrd="0" destOrd="0" presId="urn:microsoft.com/office/officeart/2005/8/layout/lProcess3"/>
    <dgm:cxn modelId="{66A6DE94-DF1D-4D3A-A9C4-C4C3780E8E2B}" srcId="{8F6A8D9D-79A4-4D19-AF5C-BC564EE86C38}" destId="{B30299BA-7F88-4B8E-B005-A54E2B53749A}" srcOrd="0" destOrd="0" parTransId="{2D83D8A5-EF38-4001-A69C-9BE1A5591B50}" sibTransId="{818D9222-A847-4DAB-81D6-315EED3783DF}"/>
    <dgm:cxn modelId="{E7FBC395-70C1-4A28-9FC6-C25664D3F234}" type="presOf" srcId="{5D72168C-D4AD-444A-B9DE-7409E67D9C45}" destId="{5CD7EE2C-8B30-40A4-816D-52F98559379F}" srcOrd="0" destOrd="0" presId="urn:microsoft.com/office/officeart/2005/8/layout/lProcess3"/>
    <dgm:cxn modelId="{27949DA7-0881-43CA-99E1-0BF3637A0DE2}" type="presOf" srcId="{51A385E5-5B40-4CC2-8D53-C9DCEC25F64C}" destId="{70A762CD-7745-41E1-A9BF-5BF1F9445BCA}" srcOrd="0" destOrd="0" presId="urn:microsoft.com/office/officeart/2005/8/layout/lProcess3"/>
    <dgm:cxn modelId="{AF86BDAA-CF84-4FE7-916C-8D71B7F3B2F5}" type="presOf" srcId="{DBA3A1A5-481A-468A-B7C3-AE481A3EC86B}" destId="{0E2825A1-B6B0-4D27-B4A5-B27439CA4DA8}" srcOrd="0" destOrd="0" presId="urn:microsoft.com/office/officeart/2005/8/layout/lProcess3"/>
    <dgm:cxn modelId="{A0E980B6-C60B-4B44-BA95-D5A5A2578803}" type="presOf" srcId="{5D7F48C6-DBC8-402F-906C-826935BAE9F9}" destId="{580E9869-8244-4962-AA22-72C557FC8CFC}" srcOrd="0" destOrd="0" presId="urn:microsoft.com/office/officeart/2005/8/layout/lProcess3"/>
    <dgm:cxn modelId="{F668C4C5-CF42-44C2-96AA-C647AEC8D498}" type="presOf" srcId="{171AEE8D-8CC4-4677-9C94-B3610667B429}" destId="{DBFCFEC9-C122-4B4B-8094-4E269453BE35}" srcOrd="0" destOrd="0" presId="urn:microsoft.com/office/officeart/2005/8/layout/lProcess3"/>
    <dgm:cxn modelId="{79AFE0C9-21A6-43C4-B209-BCBC06249476}" type="presOf" srcId="{B30299BA-7F88-4B8E-B005-A54E2B53749A}" destId="{E2A381D7-66B9-485D-9982-629370902126}" srcOrd="0" destOrd="0" presId="urn:microsoft.com/office/officeart/2005/8/layout/lProcess3"/>
    <dgm:cxn modelId="{9D7066D5-79C1-4670-9306-AF45BDA42CBD}" srcId="{171AEE8D-8CC4-4677-9C94-B3610667B429}" destId="{8F6A8D9D-79A4-4D19-AF5C-BC564EE86C38}" srcOrd="1" destOrd="0" parTransId="{76091B4C-92D0-4B80-9FB9-99CD20427A5D}" sibTransId="{99F906B2-42E9-4FCD-822E-E06BFAE0F459}"/>
    <dgm:cxn modelId="{A6284FD9-86AE-4E75-AA6B-D55184F5708B}" srcId="{8F6A8D9D-79A4-4D19-AF5C-BC564EE86C38}" destId="{DBA3A1A5-481A-468A-B7C3-AE481A3EC86B}" srcOrd="1" destOrd="0" parTransId="{B1B20B2F-C284-4704-AF6C-EFF01BD4DA27}" sibTransId="{A0BBFC6D-06F0-42C1-B8CB-5CE0C4ADFA03}"/>
    <dgm:cxn modelId="{604127DE-A0FE-41AF-8D47-59E32A3405DE}" type="presOf" srcId="{14F4A4BD-AECE-4B3C-9D06-3DDC36EE19EF}" destId="{046B23DA-FD0B-4A52-BEA3-B60EE72179CE}" srcOrd="0" destOrd="0" presId="urn:microsoft.com/office/officeart/2005/8/layout/lProcess3"/>
    <dgm:cxn modelId="{BA8BE8F6-F727-46F2-9734-30999A25A5EC}" srcId="{2B57476B-EF14-4F2A-814E-E705CA76EEAB}" destId="{51A385E5-5B40-4CC2-8D53-C9DCEC25F64C}" srcOrd="1" destOrd="0" parTransId="{2333FF2F-6E71-4BD5-9165-D37292A5300E}" sibTransId="{C093DB5C-36C5-4AE9-844F-DE1EA017F7AE}"/>
    <dgm:cxn modelId="{EBBFB7B6-F3D2-47E1-A08B-A677FA2F3E3B}" type="presParOf" srcId="{DBFCFEC9-C122-4B4B-8094-4E269453BE35}" destId="{C6A4C518-5D7D-465A-8B75-D7BA45CD3FCA}" srcOrd="0" destOrd="0" presId="urn:microsoft.com/office/officeart/2005/8/layout/lProcess3"/>
    <dgm:cxn modelId="{B558D60F-B1F8-4691-85FB-B7EA23D042DA}" type="presParOf" srcId="{C6A4C518-5D7D-465A-8B75-D7BA45CD3FCA}" destId="{046B23DA-FD0B-4A52-BEA3-B60EE72179CE}" srcOrd="0" destOrd="0" presId="urn:microsoft.com/office/officeart/2005/8/layout/lProcess3"/>
    <dgm:cxn modelId="{DF8C12BB-4D91-4465-B388-DA62D78210BA}" type="presParOf" srcId="{C6A4C518-5D7D-465A-8B75-D7BA45CD3FCA}" destId="{C0C4B589-006F-445A-8F9A-F404B8DF0947}" srcOrd="1" destOrd="0" presId="urn:microsoft.com/office/officeart/2005/8/layout/lProcess3"/>
    <dgm:cxn modelId="{E594B5A7-FBA4-488E-A173-26F3079C345C}" type="presParOf" srcId="{C6A4C518-5D7D-465A-8B75-D7BA45CD3FCA}" destId="{5CD7EE2C-8B30-40A4-816D-52F98559379F}" srcOrd="2" destOrd="0" presId="urn:microsoft.com/office/officeart/2005/8/layout/lProcess3"/>
    <dgm:cxn modelId="{EDC2DA4E-5BEA-4C41-8AF9-BDE56DB03452}" type="presParOf" srcId="{C6A4C518-5D7D-465A-8B75-D7BA45CD3FCA}" destId="{1EA7FF2B-6006-4099-99F1-D5DAD562BC86}" srcOrd="3" destOrd="0" presId="urn:microsoft.com/office/officeart/2005/8/layout/lProcess3"/>
    <dgm:cxn modelId="{C74B8723-EE00-4547-8F5C-1D6A87F8720F}" type="presParOf" srcId="{C6A4C518-5D7D-465A-8B75-D7BA45CD3FCA}" destId="{DDF54D85-02CE-4184-A351-4B0C3B7A426F}" srcOrd="4" destOrd="0" presId="urn:microsoft.com/office/officeart/2005/8/layout/lProcess3"/>
    <dgm:cxn modelId="{85ACCCE7-7EC4-404C-B051-07E71BF6FC61}" type="presParOf" srcId="{DBFCFEC9-C122-4B4B-8094-4E269453BE35}" destId="{0360B572-088E-4731-89BE-31A1C7C5E0F4}" srcOrd="1" destOrd="0" presId="urn:microsoft.com/office/officeart/2005/8/layout/lProcess3"/>
    <dgm:cxn modelId="{3611B405-58D2-439B-985C-6DC8D8C766E5}" type="presParOf" srcId="{DBFCFEC9-C122-4B4B-8094-4E269453BE35}" destId="{52579E8A-2AB4-407F-A701-CCA38A7A5101}" srcOrd="2" destOrd="0" presId="urn:microsoft.com/office/officeart/2005/8/layout/lProcess3"/>
    <dgm:cxn modelId="{5961DFE0-14AE-4B5E-8836-BD1149EF116B}" type="presParOf" srcId="{52579E8A-2AB4-407F-A701-CCA38A7A5101}" destId="{86F81637-40FF-4F3E-B372-7E665606CC92}" srcOrd="0" destOrd="0" presId="urn:microsoft.com/office/officeart/2005/8/layout/lProcess3"/>
    <dgm:cxn modelId="{86FB5924-87F6-4E2B-8DFD-BE01C427E06B}" type="presParOf" srcId="{52579E8A-2AB4-407F-A701-CCA38A7A5101}" destId="{BF95EA34-656B-4A7C-B503-01BCEA12F85F}" srcOrd="1" destOrd="0" presId="urn:microsoft.com/office/officeart/2005/8/layout/lProcess3"/>
    <dgm:cxn modelId="{5A8133B4-C733-4262-B771-A8ADEBAE20FF}" type="presParOf" srcId="{52579E8A-2AB4-407F-A701-CCA38A7A5101}" destId="{E2A381D7-66B9-485D-9982-629370902126}" srcOrd="2" destOrd="0" presId="urn:microsoft.com/office/officeart/2005/8/layout/lProcess3"/>
    <dgm:cxn modelId="{BD734BD6-F679-4363-8A9E-BC621F743A1B}" type="presParOf" srcId="{52579E8A-2AB4-407F-A701-CCA38A7A5101}" destId="{B14F8CA9-ABBE-402C-8F45-DC4821E5055A}" srcOrd="3" destOrd="0" presId="urn:microsoft.com/office/officeart/2005/8/layout/lProcess3"/>
    <dgm:cxn modelId="{3D5D6B25-6DC6-4EAC-8479-300A3E6221E4}" type="presParOf" srcId="{52579E8A-2AB4-407F-A701-CCA38A7A5101}" destId="{0E2825A1-B6B0-4D27-B4A5-B27439CA4DA8}" srcOrd="4" destOrd="0" presId="urn:microsoft.com/office/officeart/2005/8/layout/lProcess3"/>
    <dgm:cxn modelId="{18279C31-37C5-4866-9669-27A125861531}" type="presParOf" srcId="{DBFCFEC9-C122-4B4B-8094-4E269453BE35}" destId="{94B20E0E-A216-48F5-AB41-C9406F78A241}" srcOrd="3" destOrd="0" presId="urn:microsoft.com/office/officeart/2005/8/layout/lProcess3"/>
    <dgm:cxn modelId="{CAC75572-75C8-47FD-8B2F-E8BA1A1C807A}" type="presParOf" srcId="{DBFCFEC9-C122-4B4B-8094-4E269453BE35}" destId="{C488B888-3E56-47EC-A4AA-7A3875509ABA}" srcOrd="4" destOrd="0" presId="urn:microsoft.com/office/officeart/2005/8/layout/lProcess3"/>
    <dgm:cxn modelId="{DCFCD1E8-D0B0-42A2-B6B7-A4A0553B0805}" type="presParOf" srcId="{C488B888-3E56-47EC-A4AA-7A3875509ABA}" destId="{3A724620-7029-4444-82D5-860BCFEE9A98}" srcOrd="0" destOrd="0" presId="urn:microsoft.com/office/officeart/2005/8/layout/lProcess3"/>
    <dgm:cxn modelId="{F8E5AB6C-4397-499D-AB65-B7634586E2C3}" type="presParOf" srcId="{C488B888-3E56-47EC-A4AA-7A3875509ABA}" destId="{6611EA95-DDEC-40FF-A7C9-68FF16133CAE}" srcOrd="1" destOrd="0" presId="urn:microsoft.com/office/officeart/2005/8/layout/lProcess3"/>
    <dgm:cxn modelId="{8351EE66-9B39-4882-8B13-3BD205FB1829}" type="presParOf" srcId="{C488B888-3E56-47EC-A4AA-7A3875509ABA}" destId="{580E9869-8244-4962-AA22-72C557FC8CFC}" srcOrd="2" destOrd="0" presId="urn:microsoft.com/office/officeart/2005/8/layout/lProcess3"/>
    <dgm:cxn modelId="{8157A32E-045A-46E1-97D3-16E49B8D9640}" type="presParOf" srcId="{C488B888-3E56-47EC-A4AA-7A3875509ABA}" destId="{B6599D7A-5A89-4C91-8EC2-E319416F5B2C}" srcOrd="3" destOrd="0" presId="urn:microsoft.com/office/officeart/2005/8/layout/lProcess3"/>
    <dgm:cxn modelId="{8AC1B2F8-A8F7-48E1-9D18-15CA588EFF33}" type="presParOf" srcId="{C488B888-3E56-47EC-A4AA-7A3875509ABA}" destId="{70A762CD-7745-41E1-A9BF-5BF1F9445BCA}"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71AEE8D-8CC4-4677-9C94-B3610667B429}"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14F4A4BD-AECE-4B3C-9D06-3DDC36EE19EF}">
      <dgm:prSet phldrT="[Text]" phldr="0"/>
      <dgm:spPr/>
      <dgm:t>
        <a:bodyPr/>
        <a:lstStyle/>
        <a:p>
          <a:pPr rtl="0"/>
          <a:r>
            <a:rPr lang="en-US">
              <a:latin typeface="Arial"/>
            </a:rPr>
            <a:t>Tighter Iterations</a:t>
          </a:r>
          <a:endParaRPr lang="en-US"/>
        </a:p>
      </dgm:t>
    </dgm:pt>
    <dgm:pt modelId="{D346ABD7-A9A8-44B7-8915-0D952DBC63FC}" type="parTrans" cxnId="{2FA82929-D776-4515-B5AC-5398BFE81021}">
      <dgm:prSet/>
      <dgm:spPr/>
      <dgm:t>
        <a:bodyPr/>
        <a:lstStyle/>
        <a:p>
          <a:endParaRPr lang="en-US"/>
        </a:p>
      </dgm:t>
    </dgm:pt>
    <dgm:pt modelId="{BFA1D6C3-DCDA-4A22-B2F7-036DCC2B9895}" type="sibTrans" cxnId="{2FA82929-D776-4515-B5AC-5398BFE81021}">
      <dgm:prSet/>
      <dgm:spPr/>
      <dgm:t>
        <a:bodyPr/>
        <a:lstStyle/>
        <a:p>
          <a:endParaRPr lang="en-US"/>
        </a:p>
      </dgm:t>
    </dgm:pt>
    <dgm:pt modelId="{5D72168C-D4AD-444A-B9DE-7409E67D9C45}">
      <dgm:prSet phldrT="[Text]" phldr="0"/>
      <dgm:spPr/>
      <dgm:t>
        <a:bodyPr/>
        <a:lstStyle/>
        <a:p>
          <a:pPr rtl="0"/>
          <a:r>
            <a:rPr lang="en-US">
              <a:latin typeface="Arial"/>
            </a:rPr>
            <a:t>20 step workout</a:t>
          </a:r>
          <a:endParaRPr lang="en-US"/>
        </a:p>
      </dgm:t>
    </dgm:pt>
    <dgm:pt modelId="{6C82578F-AC33-4E15-A1AE-CAC819E28F8C}" type="parTrans" cxnId="{76BBF636-F603-47C2-AABB-661B1E950C67}">
      <dgm:prSet/>
      <dgm:spPr/>
      <dgm:t>
        <a:bodyPr/>
        <a:lstStyle/>
        <a:p>
          <a:endParaRPr lang="en-US"/>
        </a:p>
      </dgm:t>
    </dgm:pt>
    <dgm:pt modelId="{05D9DE00-F0B5-4F08-BCD0-FB4CAC383777}" type="sibTrans" cxnId="{76BBF636-F603-47C2-AABB-661B1E950C67}">
      <dgm:prSet/>
      <dgm:spPr/>
      <dgm:t>
        <a:bodyPr/>
        <a:lstStyle/>
        <a:p>
          <a:endParaRPr lang="en-US"/>
        </a:p>
      </dgm:t>
    </dgm:pt>
    <dgm:pt modelId="{65136C57-721E-4889-81CA-6D8D340B75A7}">
      <dgm:prSet phldrT="[Text]"/>
      <dgm:spPr/>
      <dgm:t>
        <a:bodyPr/>
        <a:lstStyle/>
        <a:p>
          <a:pPr rtl="0"/>
          <a:r>
            <a:rPr lang="en-US">
              <a:latin typeface="Arial"/>
            </a:rPr>
            <a:t>Higher gas density. Solver</a:t>
          </a:r>
          <a:r>
            <a:rPr lang="en-US"/>
            <a:t> </a:t>
          </a:r>
          <a:r>
            <a:rPr lang="en-US">
              <a:latin typeface="Arial"/>
            </a:rPr>
            <a:t>refines the</a:t>
          </a:r>
          <a:r>
            <a:rPr lang="en-US"/>
            <a:t> math before moving on. </a:t>
          </a:r>
        </a:p>
      </dgm:t>
    </dgm:pt>
    <dgm:pt modelId="{300F4B78-1B8D-48DF-8EE6-7643F02D191E}" type="parTrans" cxnId="{6330D319-3E3C-4429-BF42-14C537CA40CC}">
      <dgm:prSet/>
      <dgm:spPr/>
      <dgm:t>
        <a:bodyPr/>
        <a:lstStyle/>
        <a:p>
          <a:endParaRPr lang="en-US"/>
        </a:p>
      </dgm:t>
    </dgm:pt>
    <dgm:pt modelId="{A48832FE-93E4-4F00-8A0A-798A8FD204E7}" type="sibTrans" cxnId="{6330D319-3E3C-4429-BF42-14C537CA40CC}">
      <dgm:prSet/>
      <dgm:spPr/>
      <dgm:t>
        <a:bodyPr/>
        <a:lstStyle/>
        <a:p>
          <a:endParaRPr lang="en-US"/>
        </a:p>
      </dgm:t>
    </dgm:pt>
    <dgm:pt modelId="{8F6A8D9D-79A4-4D19-AF5C-BC564EE86C38}">
      <dgm:prSet phldrT="[Text]" phldr="0"/>
      <dgm:spPr/>
      <dgm:t>
        <a:bodyPr/>
        <a:lstStyle/>
        <a:p>
          <a:pPr rtl="0"/>
          <a:r>
            <a:rPr lang="en-US">
              <a:latin typeface="Arial"/>
            </a:rPr>
            <a:t> Sawtooth</a:t>
          </a:r>
          <a:r>
            <a:rPr lang="en-US"/>
            <a:t> Drop</a:t>
          </a:r>
        </a:p>
      </dgm:t>
    </dgm:pt>
    <dgm:pt modelId="{76091B4C-92D0-4B80-9FB9-99CD20427A5D}" type="parTrans" cxnId="{9D7066D5-79C1-4670-9306-AF45BDA42CBD}">
      <dgm:prSet/>
      <dgm:spPr/>
      <dgm:t>
        <a:bodyPr/>
        <a:lstStyle/>
        <a:p>
          <a:endParaRPr lang="en-US"/>
        </a:p>
      </dgm:t>
    </dgm:pt>
    <dgm:pt modelId="{99F906B2-42E9-4FCD-822E-E06BFAE0F459}" type="sibTrans" cxnId="{9D7066D5-79C1-4670-9306-AF45BDA42CBD}">
      <dgm:prSet/>
      <dgm:spPr/>
      <dgm:t>
        <a:bodyPr/>
        <a:lstStyle/>
        <a:p>
          <a:endParaRPr lang="en-US"/>
        </a:p>
      </dgm:t>
    </dgm:pt>
    <dgm:pt modelId="{B30299BA-7F88-4B8E-B005-A54E2B53749A}">
      <dgm:prSet phldrT="[Text]"/>
      <dgm:spPr/>
      <dgm:t>
        <a:bodyPr/>
        <a:lstStyle/>
        <a:p>
          <a:pPr rtl="0"/>
          <a:r>
            <a:rPr lang="en-US"/>
            <a:t>Residual Nose-Dive</a:t>
          </a:r>
        </a:p>
      </dgm:t>
    </dgm:pt>
    <dgm:pt modelId="{2D83D8A5-EF38-4001-A69C-9BE1A5591B50}" type="parTrans" cxnId="{66A6DE94-DF1D-4D3A-A9C4-C4C3780E8E2B}">
      <dgm:prSet/>
      <dgm:spPr/>
      <dgm:t>
        <a:bodyPr/>
        <a:lstStyle/>
        <a:p>
          <a:endParaRPr lang="en-US"/>
        </a:p>
      </dgm:t>
    </dgm:pt>
    <dgm:pt modelId="{818D9222-A847-4DAB-81D6-315EED3783DF}" type="sibTrans" cxnId="{66A6DE94-DF1D-4D3A-A9C4-C4C3780E8E2B}">
      <dgm:prSet/>
      <dgm:spPr/>
      <dgm:t>
        <a:bodyPr/>
        <a:lstStyle/>
        <a:p>
          <a:endParaRPr lang="en-US"/>
        </a:p>
      </dgm:t>
    </dgm:pt>
    <dgm:pt modelId="{DBA3A1A5-481A-468A-B7C3-AE481A3EC86B}">
      <dgm:prSet phldrT="[Text]"/>
      <dgm:spPr/>
      <dgm:t>
        <a:bodyPr/>
        <a:lstStyle/>
        <a:p>
          <a:pPr rtl="0"/>
          <a:r>
            <a:rPr lang="en-US" b="0"/>
            <a:t>Error levels drop </a:t>
          </a:r>
          <a:r>
            <a:rPr lang="en-US" b="0">
              <a:latin typeface="Arial"/>
            </a:rPr>
            <a:t>up to 3</a:t>
          </a:r>
          <a:r>
            <a:rPr lang="en-US" b="0"/>
            <a:t>+ orders of magnitude every 0.005s.</a:t>
          </a:r>
          <a:r>
            <a:rPr lang="en-US">
              <a:latin typeface="Arial"/>
            </a:rPr>
            <a:t> </a:t>
          </a:r>
        </a:p>
      </dgm:t>
    </dgm:pt>
    <dgm:pt modelId="{B1B20B2F-C284-4704-AF6C-EFF01BD4DA27}" type="parTrans" cxnId="{A6284FD9-86AE-4E75-AA6B-D55184F5708B}">
      <dgm:prSet/>
      <dgm:spPr/>
      <dgm:t>
        <a:bodyPr/>
        <a:lstStyle/>
        <a:p>
          <a:endParaRPr lang="en-US"/>
        </a:p>
      </dgm:t>
    </dgm:pt>
    <dgm:pt modelId="{A0BBFC6D-06F0-42C1-B8CB-5CE0C4ADFA03}" type="sibTrans" cxnId="{A6284FD9-86AE-4E75-AA6B-D55184F5708B}">
      <dgm:prSet/>
      <dgm:spPr/>
      <dgm:t>
        <a:bodyPr/>
        <a:lstStyle/>
        <a:p>
          <a:endParaRPr lang="en-US"/>
        </a:p>
      </dgm:t>
    </dgm:pt>
    <dgm:pt modelId="{5D7F48C6-DBC8-402F-906C-826935BAE9F9}">
      <dgm:prSet phldrT="[Text]" phldr="0"/>
      <dgm:spPr/>
      <dgm:t>
        <a:bodyPr/>
        <a:lstStyle/>
        <a:p>
          <a:pPr rtl="0"/>
          <a:r>
            <a:rPr lang="en-US"/>
            <a:t>Energy </a:t>
          </a:r>
          <a:r>
            <a:rPr lang="en-US">
              <a:latin typeface="Arial"/>
            </a:rPr>
            <a:t>&lt;</a:t>
          </a:r>
          <a:r>
            <a:rPr lang="en-US"/>
            <a:t> </a:t>
          </a:r>
          <a:r>
            <a:rPr lang="en-US">
              <a:latin typeface="Arial"/>
            </a:rPr>
            <a:t>10</a:t>
          </a:r>
          <a:r>
            <a:rPr lang="en-US" baseline="30000">
              <a:latin typeface="Arial"/>
            </a:rPr>
            <a:t>-6</a:t>
          </a:r>
          <a:endParaRPr lang="en-US" baseline="30000"/>
        </a:p>
      </dgm:t>
    </dgm:pt>
    <dgm:pt modelId="{E850AF93-D22C-4A9A-A54F-4AB56C782D4A}" type="parTrans" cxnId="{B6535E4A-34CC-4743-8BBE-123C7A35766D}">
      <dgm:prSet/>
      <dgm:spPr/>
      <dgm:t>
        <a:bodyPr/>
        <a:lstStyle/>
        <a:p>
          <a:endParaRPr lang="en-US"/>
        </a:p>
      </dgm:t>
    </dgm:pt>
    <dgm:pt modelId="{6E0181CD-7C40-46D4-8761-411C18D1A6E5}" type="sibTrans" cxnId="{B6535E4A-34CC-4743-8BBE-123C7A35766D}">
      <dgm:prSet/>
      <dgm:spPr/>
      <dgm:t>
        <a:bodyPr/>
        <a:lstStyle/>
        <a:p>
          <a:endParaRPr lang="en-US"/>
        </a:p>
      </dgm:t>
    </dgm:pt>
    <dgm:pt modelId="{51A385E5-5B40-4CC2-8D53-C9DCEC25F64C}">
      <dgm:prSet phldrT="[Text]" phldr="0"/>
      <dgm:spPr/>
      <dgm:t>
        <a:bodyPr/>
        <a:lstStyle/>
        <a:p>
          <a:pPr rtl="0"/>
          <a:r>
            <a:rPr lang="en-US" b="0"/>
            <a:t>Deep convergence in the Energy </a:t>
          </a:r>
          <a:r>
            <a:rPr lang="en-US" b="0">
              <a:latin typeface="Arial"/>
            </a:rPr>
            <a:t>equation. Heat</a:t>
          </a:r>
          <a:r>
            <a:rPr lang="en-US" b="0"/>
            <a:t> transfer results aren't just </a:t>
          </a:r>
          <a:r>
            <a:rPr lang="en-US" b="0">
              <a:latin typeface="Arial"/>
            </a:rPr>
            <a:t>guesses. They’re</a:t>
          </a:r>
          <a:r>
            <a:rPr lang="en-US" b="0"/>
            <a:t> </a:t>
          </a:r>
          <a:r>
            <a:rPr lang="en-US" b="0">
              <a:latin typeface="Arial"/>
            </a:rPr>
            <a:t>reliable</a:t>
          </a:r>
          <a:r>
            <a:rPr lang="en-US" b="0"/>
            <a:t>.</a:t>
          </a:r>
        </a:p>
      </dgm:t>
    </dgm:pt>
    <dgm:pt modelId="{2333FF2F-6E71-4BD5-9165-D37292A5300E}" type="parTrans" cxnId="{BA8BE8F6-F727-46F2-9734-30999A25A5EC}">
      <dgm:prSet/>
      <dgm:spPr/>
      <dgm:t>
        <a:bodyPr/>
        <a:lstStyle/>
        <a:p>
          <a:endParaRPr lang="en-US"/>
        </a:p>
      </dgm:t>
    </dgm:pt>
    <dgm:pt modelId="{C093DB5C-36C5-4AE9-844F-DE1EA017F7AE}" type="sibTrans" cxnId="{BA8BE8F6-F727-46F2-9734-30999A25A5EC}">
      <dgm:prSet/>
      <dgm:spPr/>
      <dgm:t>
        <a:bodyPr/>
        <a:lstStyle/>
        <a:p>
          <a:endParaRPr lang="en-US"/>
        </a:p>
      </dgm:t>
    </dgm:pt>
    <dgm:pt modelId="{2B57476B-EF14-4F2A-814E-E705CA76EEAB}">
      <dgm:prSet phldr="0"/>
      <dgm:spPr/>
      <dgm:t>
        <a:bodyPr/>
        <a:lstStyle/>
        <a:p>
          <a:r>
            <a:rPr lang="en-US">
              <a:latin typeface="Arial"/>
            </a:rPr>
            <a:t> </a:t>
          </a:r>
          <a:r>
            <a:rPr lang="en-US"/>
            <a:t>Thermal Confidence</a:t>
          </a:r>
        </a:p>
      </dgm:t>
    </dgm:pt>
    <dgm:pt modelId="{79D3A8D1-2C7A-4FAE-8269-039F4C9FCF12}" type="parTrans" cxnId="{BAED3F5C-9791-4C27-BC51-D2EBB791D2A9}">
      <dgm:prSet/>
      <dgm:spPr/>
      <dgm:t>
        <a:bodyPr/>
        <a:lstStyle/>
        <a:p>
          <a:endParaRPr lang="en-GB"/>
        </a:p>
      </dgm:t>
    </dgm:pt>
    <dgm:pt modelId="{54583F84-F238-4BEB-A8B2-0FC1E211C907}" type="sibTrans" cxnId="{BAED3F5C-9791-4C27-BC51-D2EBB791D2A9}">
      <dgm:prSet/>
      <dgm:spPr/>
      <dgm:t>
        <a:bodyPr/>
        <a:lstStyle/>
        <a:p>
          <a:endParaRPr lang="en-GB"/>
        </a:p>
      </dgm:t>
    </dgm:pt>
    <dgm:pt modelId="{DBFCFEC9-C122-4B4B-8094-4E269453BE35}" type="pres">
      <dgm:prSet presAssocID="{171AEE8D-8CC4-4677-9C94-B3610667B429}" presName="Name0" presStyleCnt="0">
        <dgm:presLayoutVars>
          <dgm:chPref val="3"/>
          <dgm:dir/>
          <dgm:animLvl val="lvl"/>
          <dgm:resizeHandles/>
        </dgm:presLayoutVars>
      </dgm:prSet>
      <dgm:spPr/>
    </dgm:pt>
    <dgm:pt modelId="{C6A4C518-5D7D-465A-8B75-D7BA45CD3FCA}" type="pres">
      <dgm:prSet presAssocID="{14F4A4BD-AECE-4B3C-9D06-3DDC36EE19EF}" presName="horFlow" presStyleCnt="0"/>
      <dgm:spPr/>
    </dgm:pt>
    <dgm:pt modelId="{046B23DA-FD0B-4A52-BEA3-B60EE72179CE}" type="pres">
      <dgm:prSet presAssocID="{14F4A4BD-AECE-4B3C-9D06-3DDC36EE19EF}" presName="bigChev" presStyleLbl="node1" presStyleIdx="0" presStyleCnt="3"/>
      <dgm:spPr/>
    </dgm:pt>
    <dgm:pt modelId="{C0C4B589-006F-445A-8F9A-F404B8DF0947}" type="pres">
      <dgm:prSet presAssocID="{6C82578F-AC33-4E15-A1AE-CAC819E28F8C}" presName="parTrans" presStyleCnt="0"/>
      <dgm:spPr/>
    </dgm:pt>
    <dgm:pt modelId="{5CD7EE2C-8B30-40A4-816D-52F98559379F}" type="pres">
      <dgm:prSet presAssocID="{5D72168C-D4AD-444A-B9DE-7409E67D9C45}" presName="node" presStyleLbl="alignAccFollowNode1" presStyleIdx="0" presStyleCnt="6">
        <dgm:presLayoutVars>
          <dgm:bulletEnabled val="1"/>
        </dgm:presLayoutVars>
      </dgm:prSet>
      <dgm:spPr/>
    </dgm:pt>
    <dgm:pt modelId="{1EA7FF2B-6006-4099-99F1-D5DAD562BC86}" type="pres">
      <dgm:prSet presAssocID="{05D9DE00-F0B5-4F08-BCD0-FB4CAC383777}" presName="sibTrans" presStyleCnt="0"/>
      <dgm:spPr/>
    </dgm:pt>
    <dgm:pt modelId="{DDF54D85-02CE-4184-A351-4B0C3B7A426F}" type="pres">
      <dgm:prSet presAssocID="{65136C57-721E-4889-81CA-6D8D340B75A7}" presName="node" presStyleLbl="alignAccFollowNode1" presStyleIdx="1" presStyleCnt="6">
        <dgm:presLayoutVars>
          <dgm:bulletEnabled val="1"/>
        </dgm:presLayoutVars>
      </dgm:prSet>
      <dgm:spPr/>
    </dgm:pt>
    <dgm:pt modelId="{0360B572-088E-4731-89BE-31A1C7C5E0F4}" type="pres">
      <dgm:prSet presAssocID="{14F4A4BD-AECE-4B3C-9D06-3DDC36EE19EF}" presName="vSp" presStyleCnt="0"/>
      <dgm:spPr/>
    </dgm:pt>
    <dgm:pt modelId="{52579E8A-2AB4-407F-A701-CCA38A7A5101}" type="pres">
      <dgm:prSet presAssocID="{8F6A8D9D-79A4-4D19-AF5C-BC564EE86C38}" presName="horFlow" presStyleCnt="0"/>
      <dgm:spPr/>
    </dgm:pt>
    <dgm:pt modelId="{86F81637-40FF-4F3E-B372-7E665606CC92}" type="pres">
      <dgm:prSet presAssocID="{8F6A8D9D-79A4-4D19-AF5C-BC564EE86C38}" presName="bigChev" presStyleLbl="node1" presStyleIdx="1" presStyleCnt="3"/>
      <dgm:spPr/>
    </dgm:pt>
    <dgm:pt modelId="{BF95EA34-656B-4A7C-B503-01BCEA12F85F}" type="pres">
      <dgm:prSet presAssocID="{2D83D8A5-EF38-4001-A69C-9BE1A5591B50}" presName="parTrans" presStyleCnt="0"/>
      <dgm:spPr/>
    </dgm:pt>
    <dgm:pt modelId="{E2A381D7-66B9-485D-9982-629370902126}" type="pres">
      <dgm:prSet presAssocID="{B30299BA-7F88-4B8E-B005-A54E2B53749A}" presName="node" presStyleLbl="alignAccFollowNode1" presStyleIdx="2" presStyleCnt="6">
        <dgm:presLayoutVars>
          <dgm:bulletEnabled val="1"/>
        </dgm:presLayoutVars>
      </dgm:prSet>
      <dgm:spPr/>
    </dgm:pt>
    <dgm:pt modelId="{B14F8CA9-ABBE-402C-8F45-DC4821E5055A}" type="pres">
      <dgm:prSet presAssocID="{818D9222-A847-4DAB-81D6-315EED3783DF}" presName="sibTrans" presStyleCnt="0"/>
      <dgm:spPr/>
    </dgm:pt>
    <dgm:pt modelId="{0E2825A1-B6B0-4D27-B4A5-B27439CA4DA8}" type="pres">
      <dgm:prSet presAssocID="{DBA3A1A5-481A-468A-B7C3-AE481A3EC86B}" presName="node" presStyleLbl="alignAccFollowNode1" presStyleIdx="3" presStyleCnt="6">
        <dgm:presLayoutVars>
          <dgm:bulletEnabled val="1"/>
        </dgm:presLayoutVars>
      </dgm:prSet>
      <dgm:spPr/>
    </dgm:pt>
    <dgm:pt modelId="{94B20E0E-A216-48F5-AB41-C9406F78A241}" type="pres">
      <dgm:prSet presAssocID="{8F6A8D9D-79A4-4D19-AF5C-BC564EE86C38}" presName="vSp" presStyleCnt="0"/>
      <dgm:spPr/>
    </dgm:pt>
    <dgm:pt modelId="{C488B888-3E56-47EC-A4AA-7A3875509ABA}" type="pres">
      <dgm:prSet presAssocID="{2B57476B-EF14-4F2A-814E-E705CA76EEAB}" presName="horFlow" presStyleCnt="0"/>
      <dgm:spPr/>
    </dgm:pt>
    <dgm:pt modelId="{3A724620-7029-4444-82D5-860BCFEE9A98}" type="pres">
      <dgm:prSet presAssocID="{2B57476B-EF14-4F2A-814E-E705CA76EEAB}" presName="bigChev" presStyleLbl="node1" presStyleIdx="2" presStyleCnt="3"/>
      <dgm:spPr/>
    </dgm:pt>
    <dgm:pt modelId="{6611EA95-DDEC-40FF-A7C9-68FF16133CAE}" type="pres">
      <dgm:prSet presAssocID="{E850AF93-D22C-4A9A-A54F-4AB56C782D4A}" presName="parTrans" presStyleCnt="0"/>
      <dgm:spPr/>
    </dgm:pt>
    <dgm:pt modelId="{580E9869-8244-4962-AA22-72C557FC8CFC}" type="pres">
      <dgm:prSet presAssocID="{5D7F48C6-DBC8-402F-906C-826935BAE9F9}" presName="node" presStyleLbl="alignAccFollowNode1" presStyleIdx="4" presStyleCnt="6">
        <dgm:presLayoutVars>
          <dgm:bulletEnabled val="1"/>
        </dgm:presLayoutVars>
      </dgm:prSet>
      <dgm:spPr/>
    </dgm:pt>
    <dgm:pt modelId="{B6599D7A-5A89-4C91-8EC2-E319416F5B2C}" type="pres">
      <dgm:prSet presAssocID="{6E0181CD-7C40-46D4-8761-411C18D1A6E5}" presName="sibTrans" presStyleCnt="0"/>
      <dgm:spPr/>
    </dgm:pt>
    <dgm:pt modelId="{70A762CD-7745-41E1-A9BF-5BF1F9445BCA}" type="pres">
      <dgm:prSet presAssocID="{51A385E5-5B40-4CC2-8D53-C9DCEC25F64C}" presName="node" presStyleLbl="alignAccFollowNode1" presStyleIdx="5" presStyleCnt="6">
        <dgm:presLayoutVars>
          <dgm:bulletEnabled val="1"/>
        </dgm:presLayoutVars>
      </dgm:prSet>
      <dgm:spPr/>
    </dgm:pt>
  </dgm:ptLst>
  <dgm:cxnLst>
    <dgm:cxn modelId="{9F57F004-F388-4860-A41C-6EBAE3422959}" type="presOf" srcId="{51A385E5-5B40-4CC2-8D53-C9DCEC25F64C}" destId="{70A762CD-7745-41E1-A9BF-5BF1F9445BCA}" srcOrd="0" destOrd="0" presId="urn:microsoft.com/office/officeart/2005/8/layout/lProcess3"/>
    <dgm:cxn modelId="{6330D319-3E3C-4429-BF42-14C537CA40CC}" srcId="{14F4A4BD-AECE-4B3C-9D06-3DDC36EE19EF}" destId="{65136C57-721E-4889-81CA-6D8D340B75A7}" srcOrd="1" destOrd="0" parTransId="{300F4B78-1B8D-48DF-8EE6-7643F02D191E}" sibTransId="{A48832FE-93E4-4F00-8A0A-798A8FD204E7}"/>
    <dgm:cxn modelId="{2FA82929-D776-4515-B5AC-5398BFE81021}" srcId="{171AEE8D-8CC4-4677-9C94-B3610667B429}" destId="{14F4A4BD-AECE-4B3C-9D06-3DDC36EE19EF}" srcOrd="0" destOrd="0" parTransId="{D346ABD7-A9A8-44B7-8915-0D952DBC63FC}" sibTransId="{BFA1D6C3-DCDA-4A22-B2F7-036DCC2B9895}"/>
    <dgm:cxn modelId="{76BBF636-F603-47C2-AABB-661B1E950C67}" srcId="{14F4A4BD-AECE-4B3C-9D06-3DDC36EE19EF}" destId="{5D72168C-D4AD-444A-B9DE-7409E67D9C45}" srcOrd="0" destOrd="0" parTransId="{6C82578F-AC33-4E15-A1AE-CAC819E28F8C}" sibTransId="{05D9DE00-F0B5-4F08-BCD0-FB4CAC383777}"/>
    <dgm:cxn modelId="{BAED3F5C-9791-4C27-BC51-D2EBB791D2A9}" srcId="{171AEE8D-8CC4-4677-9C94-B3610667B429}" destId="{2B57476B-EF14-4F2A-814E-E705CA76EEAB}" srcOrd="2" destOrd="0" parTransId="{79D3A8D1-2C7A-4FAE-8269-039F4C9FCF12}" sibTransId="{54583F84-F238-4BEB-A8B2-0FC1E211C907}"/>
    <dgm:cxn modelId="{D4201E60-EDCE-445C-9F6A-851DFC5A8423}" type="presOf" srcId="{DBA3A1A5-481A-468A-B7C3-AE481A3EC86B}" destId="{0E2825A1-B6B0-4D27-B4A5-B27439CA4DA8}" srcOrd="0" destOrd="0" presId="urn:microsoft.com/office/officeart/2005/8/layout/lProcess3"/>
    <dgm:cxn modelId="{AB6AD861-F0E3-458D-9EC9-8A16DE4D0568}" type="presOf" srcId="{2B57476B-EF14-4F2A-814E-E705CA76EEAB}" destId="{3A724620-7029-4444-82D5-860BCFEE9A98}" srcOrd="0" destOrd="0" presId="urn:microsoft.com/office/officeart/2005/8/layout/lProcess3"/>
    <dgm:cxn modelId="{B6535E4A-34CC-4743-8BBE-123C7A35766D}" srcId="{2B57476B-EF14-4F2A-814E-E705CA76EEAB}" destId="{5D7F48C6-DBC8-402F-906C-826935BAE9F9}" srcOrd="0" destOrd="0" parTransId="{E850AF93-D22C-4A9A-A54F-4AB56C782D4A}" sibTransId="{6E0181CD-7C40-46D4-8761-411C18D1A6E5}"/>
    <dgm:cxn modelId="{5CBA5B7F-39FF-4677-8267-F7A263A8223E}" type="presOf" srcId="{14F4A4BD-AECE-4B3C-9D06-3DDC36EE19EF}" destId="{046B23DA-FD0B-4A52-BEA3-B60EE72179CE}" srcOrd="0" destOrd="0" presId="urn:microsoft.com/office/officeart/2005/8/layout/lProcess3"/>
    <dgm:cxn modelId="{66A6DE94-DF1D-4D3A-A9C4-C4C3780E8E2B}" srcId="{8F6A8D9D-79A4-4D19-AF5C-BC564EE86C38}" destId="{B30299BA-7F88-4B8E-B005-A54E2B53749A}" srcOrd="0" destOrd="0" parTransId="{2D83D8A5-EF38-4001-A69C-9BE1A5591B50}" sibTransId="{818D9222-A847-4DAB-81D6-315EED3783DF}"/>
    <dgm:cxn modelId="{4BFE03B9-C165-49D2-9941-93269D96EBF2}" type="presOf" srcId="{8F6A8D9D-79A4-4D19-AF5C-BC564EE86C38}" destId="{86F81637-40FF-4F3E-B372-7E665606CC92}" srcOrd="0" destOrd="0" presId="urn:microsoft.com/office/officeart/2005/8/layout/lProcess3"/>
    <dgm:cxn modelId="{27E562BC-9892-4E8F-8A37-F2C7884F5A17}" type="presOf" srcId="{5D72168C-D4AD-444A-B9DE-7409E67D9C45}" destId="{5CD7EE2C-8B30-40A4-816D-52F98559379F}" srcOrd="0" destOrd="0" presId="urn:microsoft.com/office/officeart/2005/8/layout/lProcess3"/>
    <dgm:cxn modelId="{F668C4C5-CF42-44C2-96AA-C647AEC8D498}" type="presOf" srcId="{171AEE8D-8CC4-4677-9C94-B3610667B429}" destId="{DBFCFEC9-C122-4B4B-8094-4E269453BE35}" srcOrd="0" destOrd="0" presId="urn:microsoft.com/office/officeart/2005/8/layout/lProcess3"/>
    <dgm:cxn modelId="{9D7066D5-79C1-4670-9306-AF45BDA42CBD}" srcId="{171AEE8D-8CC4-4677-9C94-B3610667B429}" destId="{8F6A8D9D-79A4-4D19-AF5C-BC564EE86C38}" srcOrd="1" destOrd="0" parTransId="{76091B4C-92D0-4B80-9FB9-99CD20427A5D}" sibTransId="{99F906B2-42E9-4FCD-822E-E06BFAE0F459}"/>
    <dgm:cxn modelId="{A6284FD9-86AE-4E75-AA6B-D55184F5708B}" srcId="{8F6A8D9D-79A4-4D19-AF5C-BC564EE86C38}" destId="{DBA3A1A5-481A-468A-B7C3-AE481A3EC86B}" srcOrd="1" destOrd="0" parTransId="{B1B20B2F-C284-4704-AF6C-EFF01BD4DA27}" sibTransId="{A0BBFC6D-06F0-42C1-B8CB-5CE0C4ADFA03}"/>
    <dgm:cxn modelId="{02C951D9-61D5-4943-9005-29D6A6E3D79D}" type="presOf" srcId="{5D7F48C6-DBC8-402F-906C-826935BAE9F9}" destId="{580E9869-8244-4962-AA22-72C557FC8CFC}" srcOrd="0" destOrd="0" presId="urn:microsoft.com/office/officeart/2005/8/layout/lProcess3"/>
    <dgm:cxn modelId="{E6850DED-2D84-4496-B95C-35981C1A236F}" type="presOf" srcId="{65136C57-721E-4889-81CA-6D8D340B75A7}" destId="{DDF54D85-02CE-4184-A351-4B0C3B7A426F}" srcOrd="0" destOrd="0" presId="urn:microsoft.com/office/officeart/2005/8/layout/lProcess3"/>
    <dgm:cxn modelId="{BD5762EE-F3BC-41A7-86C2-5A1368B4D7F7}" type="presOf" srcId="{B30299BA-7F88-4B8E-B005-A54E2B53749A}" destId="{E2A381D7-66B9-485D-9982-629370902126}" srcOrd="0" destOrd="0" presId="urn:microsoft.com/office/officeart/2005/8/layout/lProcess3"/>
    <dgm:cxn modelId="{BA8BE8F6-F727-46F2-9734-30999A25A5EC}" srcId="{2B57476B-EF14-4F2A-814E-E705CA76EEAB}" destId="{51A385E5-5B40-4CC2-8D53-C9DCEC25F64C}" srcOrd="1" destOrd="0" parTransId="{2333FF2F-6E71-4BD5-9165-D37292A5300E}" sibTransId="{C093DB5C-36C5-4AE9-844F-DE1EA017F7AE}"/>
    <dgm:cxn modelId="{EBBFB7B6-F3D2-47E1-A08B-A677FA2F3E3B}" type="presParOf" srcId="{DBFCFEC9-C122-4B4B-8094-4E269453BE35}" destId="{C6A4C518-5D7D-465A-8B75-D7BA45CD3FCA}" srcOrd="0" destOrd="0" presId="urn:microsoft.com/office/officeart/2005/8/layout/lProcess3"/>
    <dgm:cxn modelId="{F6CA14A2-4EC0-45D5-BC9F-709C62E769A1}" type="presParOf" srcId="{C6A4C518-5D7D-465A-8B75-D7BA45CD3FCA}" destId="{046B23DA-FD0B-4A52-BEA3-B60EE72179CE}" srcOrd="0" destOrd="0" presId="urn:microsoft.com/office/officeart/2005/8/layout/lProcess3"/>
    <dgm:cxn modelId="{466A5C8D-2D76-4210-8888-5C344FFEBC07}" type="presParOf" srcId="{C6A4C518-5D7D-465A-8B75-D7BA45CD3FCA}" destId="{C0C4B589-006F-445A-8F9A-F404B8DF0947}" srcOrd="1" destOrd="0" presId="urn:microsoft.com/office/officeart/2005/8/layout/lProcess3"/>
    <dgm:cxn modelId="{42ABDA01-FDF1-4A90-8891-2A4E5B39CFE3}" type="presParOf" srcId="{C6A4C518-5D7D-465A-8B75-D7BA45CD3FCA}" destId="{5CD7EE2C-8B30-40A4-816D-52F98559379F}" srcOrd="2" destOrd="0" presId="urn:microsoft.com/office/officeart/2005/8/layout/lProcess3"/>
    <dgm:cxn modelId="{FAE52E87-E9DF-41DC-8916-FB5AFDA49617}" type="presParOf" srcId="{C6A4C518-5D7D-465A-8B75-D7BA45CD3FCA}" destId="{1EA7FF2B-6006-4099-99F1-D5DAD562BC86}" srcOrd="3" destOrd="0" presId="urn:microsoft.com/office/officeart/2005/8/layout/lProcess3"/>
    <dgm:cxn modelId="{583F24C0-BB0E-4674-86A3-C2FDD3B6FA66}" type="presParOf" srcId="{C6A4C518-5D7D-465A-8B75-D7BA45CD3FCA}" destId="{DDF54D85-02CE-4184-A351-4B0C3B7A426F}" srcOrd="4" destOrd="0" presId="urn:microsoft.com/office/officeart/2005/8/layout/lProcess3"/>
    <dgm:cxn modelId="{85ACCCE7-7EC4-404C-B051-07E71BF6FC61}" type="presParOf" srcId="{DBFCFEC9-C122-4B4B-8094-4E269453BE35}" destId="{0360B572-088E-4731-89BE-31A1C7C5E0F4}" srcOrd="1" destOrd="0" presId="urn:microsoft.com/office/officeart/2005/8/layout/lProcess3"/>
    <dgm:cxn modelId="{3611B405-58D2-439B-985C-6DC8D8C766E5}" type="presParOf" srcId="{DBFCFEC9-C122-4B4B-8094-4E269453BE35}" destId="{52579E8A-2AB4-407F-A701-CCA38A7A5101}" srcOrd="2" destOrd="0" presId="urn:microsoft.com/office/officeart/2005/8/layout/lProcess3"/>
    <dgm:cxn modelId="{6418AB28-DD59-4D55-ACA8-8F5BF20E1C15}" type="presParOf" srcId="{52579E8A-2AB4-407F-A701-CCA38A7A5101}" destId="{86F81637-40FF-4F3E-B372-7E665606CC92}" srcOrd="0" destOrd="0" presId="urn:microsoft.com/office/officeart/2005/8/layout/lProcess3"/>
    <dgm:cxn modelId="{6E3B3114-7306-4A58-AD06-AC5C50148763}" type="presParOf" srcId="{52579E8A-2AB4-407F-A701-CCA38A7A5101}" destId="{BF95EA34-656B-4A7C-B503-01BCEA12F85F}" srcOrd="1" destOrd="0" presId="urn:microsoft.com/office/officeart/2005/8/layout/lProcess3"/>
    <dgm:cxn modelId="{34434B78-FDFC-401D-ACF3-9F635DCC8D40}" type="presParOf" srcId="{52579E8A-2AB4-407F-A701-CCA38A7A5101}" destId="{E2A381D7-66B9-485D-9982-629370902126}" srcOrd="2" destOrd="0" presId="urn:microsoft.com/office/officeart/2005/8/layout/lProcess3"/>
    <dgm:cxn modelId="{A3A17D6A-7006-40F4-AB7F-C053E229397C}" type="presParOf" srcId="{52579E8A-2AB4-407F-A701-CCA38A7A5101}" destId="{B14F8CA9-ABBE-402C-8F45-DC4821E5055A}" srcOrd="3" destOrd="0" presId="urn:microsoft.com/office/officeart/2005/8/layout/lProcess3"/>
    <dgm:cxn modelId="{213027AB-8D75-4F55-BE7E-F2A4F8281283}" type="presParOf" srcId="{52579E8A-2AB4-407F-A701-CCA38A7A5101}" destId="{0E2825A1-B6B0-4D27-B4A5-B27439CA4DA8}" srcOrd="4" destOrd="0" presId="urn:microsoft.com/office/officeart/2005/8/layout/lProcess3"/>
    <dgm:cxn modelId="{18279C31-37C5-4866-9669-27A125861531}" type="presParOf" srcId="{DBFCFEC9-C122-4B4B-8094-4E269453BE35}" destId="{94B20E0E-A216-48F5-AB41-C9406F78A241}" srcOrd="3" destOrd="0" presId="urn:microsoft.com/office/officeart/2005/8/layout/lProcess3"/>
    <dgm:cxn modelId="{CAC75572-75C8-47FD-8B2F-E8BA1A1C807A}" type="presParOf" srcId="{DBFCFEC9-C122-4B4B-8094-4E269453BE35}" destId="{C488B888-3E56-47EC-A4AA-7A3875509ABA}" srcOrd="4" destOrd="0" presId="urn:microsoft.com/office/officeart/2005/8/layout/lProcess3"/>
    <dgm:cxn modelId="{6130FDC4-5D36-4CC6-9EFB-9C25AED90074}" type="presParOf" srcId="{C488B888-3E56-47EC-A4AA-7A3875509ABA}" destId="{3A724620-7029-4444-82D5-860BCFEE9A98}" srcOrd="0" destOrd="0" presId="urn:microsoft.com/office/officeart/2005/8/layout/lProcess3"/>
    <dgm:cxn modelId="{F8E5AB6C-4397-499D-AB65-B7634586E2C3}" type="presParOf" srcId="{C488B888-3E56-47EC-A4AA-7A3875509ABA}" destId="{6611EA95-DDEC-40FF-A7C9-68FF16133CAE}" srcOrd="1" destOrd="0" presId="urn:microsoft.com/office/officeart/2005/8/layout/lProcess3"/>
    <dgm:cxn modelId="{00D2E953-79C9-4494-AAD4-0FF40CB8B2FC}" type="presParOf" srcId="{C488B888-3E56-47EC-A4AA-7A3875509ABA}" destId="{580E9869-8244-4962-AA22-72C557FC8CFC}" srcOrd="2" destOrd="0" presId="urn:microsoft.com/office/officeart/2005/8/layout/lProcess3"/>
    <dgm:cxn modelId="{8157A32E-045A-46E1-97D3-16E49B8D9640}" type="presParOf" srcId="{C488B888-3E56-47EC-A4AA-7A3875509ABA}" destId="{B6599D7A-5A89-4C91-8EC2-E319416F5B2C}" srcOrd="3" destOrd="0" presId="urn:microsoft.com/office/officeart/2005/8/layout/lProcess3"/>
    <dgm:cxn modelId="{EB94F393-52EF-4B50-AA4E-9BB13322AAF6}" type="presParOf" srcId="{C488B888-3E56-47EC-A4AA-7A3875509ABA}" destId="{70A762CD-7745-41E1-A9BF-5BF1F9445BCA}"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35900E6-5E32-42B7-A699-282024B54E2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440773C0-BAD9-43D0-AAA8-71CEFE4A95CA}">
      <dgm:prSet phldrT="[Text]"/>
      <dgm:spPr/>
      <dgm:t>
        <a:bodyPr/>
        <a:lstStyle/>
        <a:p>
          <a:pPr rtl="0"/>
          <a:r>
            <a:rPr lang="en-US"/>
            <a:t>Stability Threshold</a:t>
          </a:r>
        </a:p>
      </dgm:t>
    </dgm:pt>
    <dgm:pt modelId="{834E5F98-A185-40B2-B2BF-B6D99806729E}" type="parTrans" cxnId="{E431A4F0-3126-4D02-BC60-83F61A0EEB45}">
      <dgm:prSet/>
      <dgm:spPr/>
      <dgm:t>
        <a:bodyPr/>
        <a:lstStyle/>
        <a:p>
          <a:endParaRPr lang="en-US"/>
        </a:p>
      </dgm:t>
    </dgm:pt>
    <dgm:pt modelId="{09BF0FF4-32FE-4AFC-8169-917558E24606}" type="sibTrans" cxnId="{E431A4F0-3126-4D02-BC60-83F61A0EEB45}">
      <dgm:prSet/>
      <dgm:spPr/>
      <dgm:t>
        <a:bodyPr/>
        <a:lstStyle/>
        <a:p>
          <a:endParaRPr lang="en-US"/>
        </a:p>
      </dgm:t>
    </dgm:pt>
    <dgm:pt modelId="{F25FE823-9143-4842-B935-4E7BD8010DF7}">
      <dgm:prSet phldrT="[Text]"/>
      <dgm:spPr/>
      <dgm:t>
        <a:bodyPr/>
        <a:lstStyle/>
        <a:p>
          <a:pPr rtl="0"/>
          <a:r>
            <a:rPr lang="en-US" sz="1800"/>
            <a:t>The </a:t>
          </a:r>
          <a:r>
            <a:rPr lang="en-US" sz="1800">
              <a:latin typeface="Arial"/>
            </a:rPr>
            <a:t>2s</a:t>
          </a:r>
          <a:r>
            <a:rPr lang="en-US" sz="1800"/>
            <a:t> Milestone</a:t>
          </a:r>
        </a:p>
      </dgm:t>
    </dgm:pt>
    <dgm:pt modelId="{8621BD33-F7CA-44A3-A1CB-E808EFCEC12B}" type="parTrans" cxnId="{9DA460EF-51A6-416D-B46F-360DF9E09C12}">
      <dgm:prSet/>
      <dgm:spPr/>
      <dgm:t>
        <a:bodyPr/>
        <a:lstStyle/>
        <a:p>
          <a:endParaRPr lang="en-US"/>
        </a:p>
      </dgm:t>
    </dgm:pt>
    <dgm:pt modelId="{D268B3BD-38D4-4FAE-944C-6156515E7A87}" type="sibTrans" cxnId="{9DA460EF-51A6-416D-B46F-360DF9E09C12}">
      <dgm:prSet/>
      <dgm:spPr/>
      <dgm:t>
        <a:bodyPr/>
        <a:lstStyle/>
        <a:p>
          <a:endParaRPr lang="en-US"/>
        </a:p>
      </dgm:t>
    </dgm:pt>
    <dgm:pt modelId="{BB812756-A9BD-4CFF-A889-E58167982420}">
      <dgm:prSet phldrT="[Text]" phldr="0"/>
      <dgm:spPr/>
      <dgm:t>
        <a:bodyPr/>
        <a:lstStyle/>
        <a:p>
          <a:pPr rtl="0"/>
          <a:r>
            <a:rPr lang="en-US"/>
            <a:t>Margin of Safety</a:t>
          </a:r>
        </a:p>
      </dgm:t>
    </dgm:pt>
    <dgm:pt modelId="{05B31CAA-6AD1-4B52-AC86-A79282835B5D}" type="parTrans" cxnId="{10310F5E-A07D-4C00-BE9F-F49D2AB949B1}">
      <dgm:prSet/>
      <dgm:spPr/>
      <dgm:t>
        <a:bodyPr/>
        <a:lstStyle/>
        <a:p>
          <a:endParaRPr lang="en-US"/>
        </a:p>
      </dgm:t>
    </dgm:pt>
    <dgm:pt modelId="{24806B3A-78AA-468E-8B10-5AE7C1CC5985}" type="sibTrans" cxnId="{10310F5E-A07D-4C00-BE9F-F49D2AB949B1}">
      <dgm:prSet/>
      <dgm:spPr/>
      <dgm:t>
        <a:bodyPr/>
        <a:lstStyle/>
        <a:p>
          <a:endParaRPr lang="en-US"/>
        </a:p>
      </dgm:t>
    </dgm:pt>
    <dgm:pt modelId="{77C655B8-F83A-429B-B5B5-25AC1347E2FC}">
      <dgm:prSet phldrT="[Text]" phldr="0"/>
      <dgm:spPr/>
      <dgm:t>
        <a:bodyPr/>
        <a:lstStyle/>
        <a:p>
          <a:pPr rtl="0"/>
          <a:r>
            <a:rPr lang="en-US"/>
            <a:t>At the </a:t>
          </a:r>
          <a:r>
            <a:rPr lang="en-US">
              <a:latin typeface="Arial"/>
            </a:rPr>
            <a:t>2s</a:t>
          </a:r>
          <a:r>
            <a:rPr lang="en-US"/>
            <a:t> cycle mark, </a:t>
          </a:r>
          <a:r>
            <a:rPr lang="en-US">
              <a:latin typeface="Arial"/>
            </a:rPr>
            <a:t>AVE_CFL</a:t>
          </a:r>
          <a:r>
            <a:rPr lang="en-US"/>
            <a:t> is only </a:t>
          </a:r>
          <a:r>
            <a:rPr lang="en-US">
              <a:latin typeface="Arial"/>
            </a:rPr>
            <a:t>0.6.</a:t>
          </a:r>
          <a:r>
            <a:rPr lang="en-US"/>
            <a:t> </a:t>
          </a:r>
          <a:r>
            <a:rPr lang="en-US">
              <a:latin typeface="Arial"/>
            </a:rPr>
            <a:t>Comfortable</a:t>
          </a:r>
          <a:r>
            <a:rPr lang="en-US"/>
            <a:t> buffer against numerical instability.</a:t>
          </a:r>
        </a:p>
      </dgm:t>
    </dgm:pt>
    <dgm:pt modelId="{BE76EADC-0029-42B3-BD79-EE3844CDA514}" type="parTrans" cxnId="{A025E5D4-AB07-4B21-82CD-5DE874DB4C0F}">
      <dgm:prSet/>
      <dgm:spPr/>
      <dgm:t>
        <a:bodyPr/>
        <a:lstStyle/>
        <a:p>
          <a:endParaRPr lang="en-US"/>
        </a:p>
      </dgm:t>
    </dgm:pt>
    <dgm:pt modelId="{E26A0285-C730-4881-A20A-BAB69856937A}" type="sibTrans" cxnId="{A025E5D4-AB07-4B21-82CD-5DE874DB4C0F}">
      <dgm:prSet/>
      <dgm:spPr/>
      <dgm:t>
        <a:bodyPr/>
        <a:lstStyle/>
        <a:p>
          <a:endParaRPr lang="en-US"/>
        </a:p>
      </dgm:t>
    </dgm:pt>
    <dgm:pt modelId="{D9D04A09-3E4F-4D31-91CD-2A502F4351FE}">
      <dgm:prSet phldrT="[Text]"/>
      <dgm:spPr/>
      <dgm:t>
        <a:bodyPr/>
        <a:lstStyle/>
        <a:p>
          <a:pPr rtl="0"/>
          <a:r>
            <a:rPr lang="en-US"/>
            <a:t>Temporal Precision</a:t>
          </a:r>
        </a:p>
      </dgm:t>
    </dgm:pt>
    <dgm:pt modelId="{7AFE9B1F-732B-441F-AC11-A5B7D5CBDA91}" type="parTrans" cxnId="{CBCFC8C5-BBA4-47BD-AEBF-6139E133996B}">
      <dgm:prSet/>
      <dgm:spPr/>
      <dgm:t>
        <a:bodyPr/>
        <a:lstStyle/>
        <a:p>
          <a:endParaRPr lang="en-US"/>
        </a:p>
      </dgm:t>
    </dgm:pt>
    <dgm:pt modelId="{38472AB3-DE9D-4884-BDBA-2CD38535831D}" type="sibTrans" cxnId="{CBCFC8C5-BBA4-47BD-AEBF-6139E133996B}">
      <dgm:prSet/>
      <dgm:spPr/>
      <dgm:t>
        <a:bodyPr/>
        <a:lstStyle/>
        <a:p>
          <a:endParaRPr lang="en-US"/>
        </a:p>
      </dgm:t>
    </dgm:pt>
    <dgm:pt modelId="{AFC0EAF3-FEAC-484A-ACFF-0EEED8920D57}">
      <dgm:prSet phldrT="[Text]"/>
      <dgm:spPr/>
      <dgm:t>
        <a:bodyPr/>
        <a:lstStyle/>
        <a:p>
          <a:pPr rtl="0"/>
          <a:r>
            <a:rPr lang="en-US"/>
            <a:t>0.005s Step Size</a:t>
          </a:r>
        </a:p>
      </dgm:t>
    </dgm:pt>
    <dgm:pt modelId="{E1416552-8900-4158-A45F-BFC7C60B1D84}" type="parTrans" cxnId="{4353400B-3CFD-4293-8326-376524B907C0}">
      <dgm:prSet/>
      <dgm:spPr/>
      <dgm:t>
        <a:bodyPr/>
        <a:lstStyle/>
        <a:p>
          <a:endParaRPr lang="en-US"/>
        </a:p>
      </dgm:t>
    </dgm:pt>
    <dgm:pt modelId="{1E391DB7-4799-41DB-9E82-D70A676AFB02}" type="sibTrans" cxnId="{4353400B-3CFD-4293-8326-376524B907C0}">
      <dgm:prSet/>
      <dgm:spPr/>
      <dgm:t>
        <a:bodyPr/>
        <a:lstStyle/>
        <a:p>
          <a:endParaRPr lang="en-US"/>
        </a:p>
      </dgm:t>
    </dgm:pt>
    <dgm:pt modelId="{1358273C-FFB8-422A-AF3F-A011B895CCFA}">
      <dgm:prSet phldrT="[Text]"/>
      <dgm:spPr/>
      <dgm:t>
        <a:bodyPr/>
        <a:lstStyle/>
        <a:p>
          <a:pPr rtl="0"/>
          <a:r>
            <a:rPr lang="en-US">
              <a:latin typeface="Arial"/>
            </a:rPr>
            <a:t>Resolving</a:t>
          </a:r>
          <a:r>
            <a:rPr lang="en-US"/>
            <a:t> high-velocity sloshing without excessive cost.</a:t>
          </a:r>
        </a:p>
      </dgm:t>
    </dgm:pt>
    <dgm:pt modelId="{23A25BE1-5B55-4072-B6C6-7396DEB0FE3D}" type="parTrans" cxnId="{772BE7DF-F676-4AB2-99F6-6E9293523AE8}">
      <dgm:prSet/>
      <dgm:spPr/>
      <dgm:t>
        <a:bodyPr/>
        <a:lstStyle/>
        <a:p>
          <a:endParaRPr lang="en-US"/>
        </a:p>
      </dgm:t>
    </dgm:pt>
    <dgm:pt modelId="{73D1F304-E72A-4356-B618-CC50B3F61561}" type="sibTrans" cxnId="{772BE7DF-F676-4AB2-99F6-6E9293523AE8}">
      <dgm:prSet/>
      <dgm:spPr/>
      <dgm:t>
        <a:bodyPr/>
        <a:lstStyle/>
        <a:p>
          <a:endParaRPr lang="en-US"/>
        </a:p>
      </dgm:t>
    </dgm:pt>
    <dgm:pt modelId="{F6D44336-5E3B-493B-A06F-438069534C5F}">
      <dgm:prSet phldr="0"/>
      <dgm:spPr/>
      <dgm:t>
        <a:bodyPr/>
        <a:lstStyle/>
        <a:p>
          <a:pPr rtl="0"/>
          <a:r>
            <a:rPr lang="en-US"/>
            <a:t>CFL &lt; 1.0 Limit</a:t>
          </a:r>
        </a:p>
      </dgm:t>
    </dgm:pt>
    <dgm:pt modelId="{D06FFAC9-ED39-46B0-86AE-55394D1A74FD}" type="parTrans" cxnId="{66F317AE-D403-4FA0-BE83-F42178F64610}">
      <dgm:prSet/>
      <dgm:spPr/>
      <dgm:t>
        <a:bodyPr/>
        <a:lstStyle/>
        <a:p>
          <a:endParaRPr lang="en-GB"/>
        </a:p>
      </dgm:t>
    </dgm:pt>
    <dgm:pt modelId="{DC7C47DB-5615-4D88-A283-3C0D81B564DF}" type="sibTrans" cxnId="{66F317AE-D403-4FA0-BE83-F42178F64610}">
      <dgm:prSet/>
      <dgm:spPr/>
      <dgm:t>
        <a:bodyPr/>
        <a:lstStyle/>
        <a:p>
          <a:endParaRPr lang="en-GB"/>
        </a:p>
      </dgm:t>
    </dgm:pt>
    <dgm:pt modelId="{D0A0B479-3BAF-4672-B70F-B3480322DB3F}">
      <dgm:prSet phldr="0"/>
      <dgm:spPr/>
      <dgm:t>
        <a:bodyPr/>
        <a:lstStyle/>
        <a:p>
          <a:pPr rtl="0"/>
          <a:r>
            <a:rPr lang="en-US">
              <a:latin typeface="Arial"/>
            </a:rPr>
            <a:t>This</a:t>
          </a:r>
          <a:r>
            <a:rPr lang="en-US"/>
            <a:t> acts as a speed limit to prevent the liquid interface from diverging.</a:t>
          </a:r>
        </a:p>
      </dgm:t>
    </dgm:pt>
    <dgm:pt modelId="{2903B3F7-53D0-46BF-A68F-44F2D8FD6268}" type="parTrans" cxnId="{2FA2FD20-61CD-4DED-8833-F5E15C348A9B}">
      <dgm:prSet/>
      <dgm:spPr/>
      <dgm:t>
        <a:bodyPr/>
        <a:lstStyle/>
        <a:p>
          <a:endParaRPr lang="en-GB"/>
        </a:p>
      </dgm:t>
    </dgm:pt>
    <dgm:pt modelId="{FDD8EDE1-5EC1-484D-A277-6E65DEED4B95}" type="sibTrans" cxnId="{2FA2FD20-61CD-4DED-8833-F5E15C348A9B}">
      <dgm:prSet/>
      <dgm:spPr/>
      <dgm:t>
        <a:bodyPr/>
        <a:lstStyle/>
        <a:p>
          <a:endParaRPr lang="en-GB"/>
        </a:p>
      </dgm:t>
    </dgm:pt>
    <dgm:pt modelId="{886ACBB3-4FC0-4409-B925-F3ECFC4D438D}" type="pres">
      <dgm:prSet presAssocID="{735900E6-5E32-42B7-A699-282024B54E20}" presName="Name0" presStyleCnt="0">
        <dgm:presLayoutVars>
          <dgm:chPref val="3"/>
          <dgm:dir/>
          <dgm:animLvl val="lvl"/>
          <dgm:resizeHandles/>
        </dgm:presLayoutVars>
      </dgm:prSet>
      <dgm:spPr/>
    </dgm:pt>
    <dgm:pt modelId="{30106522-1DF0-43DD-ADBB-D0E2C6D30995}" type="pres">
      <dgm:prSet presAssocID="{440773C0-BAD9-43D0-AAA8-71CEFE4A95CA}" presName="horFlow" presStyleCnt="0"/>
      <dgm:spPr/>
    </dgm:pt>
    <dgm:pt modelId="{99DFF81E-C925-42D5-9BD2-142F18202BB6}" type="pres">
      <dgm:prSet presAssocID="{440773C0-BAD9-43D0-AAA8-71CEFE4A95CA}" presName="bigChev" presStyleLbl="node1" presStyleIdx="0" presStyleCnt="3"/>
      <dgm:spPr/>
    </dgm:pt>
    <dgm:pt modelId="{CD5B4EC1-AD20-4649-9A0B-21D6B1421A9E}" type="pres">
      <dgm:prSet presAssocID="{D06FFAC9-ED39-46B0-86AE-55394D1A74FD}" presName="parTrans" presStyleCnt="0"/>
      <dgm:spPr/>
    </dgm:pt>
    <dgm:pt modelId="{DEDACF94-0BA5-412D-9501-EC9B657C2C1F}" type="pres">
      <dgm:prSet presAssocID="{F6D44336-5E3B-493B-A06F-438069534C5F}" presName="node" presStyleLbl="alignAccFollowNode1" presStyleIdx="0" presStyleCnt="6">
        <dgm:presLayoutVars>
          <dgm:bulletEnabled val="1"/>
        </dgm:presLayoutVars>
      </dgm:prSet>
      <dgm:spPr/>
    </dgm:pt>
    <dgm:pt modelId="{54D6107D-C0D1-43DA-9408-184078934ED1}" type="pres">
      <dgm:prSet presAssocID="{DC7C47DB-5615-4D88-A283-3C0D81B564DF}" presName="sibTrans" presStyleCnt="0"/>
      <dgm:spPr/>
    </dgm:pt>
    <dgm:pt modelId="{F0580F15-3A45-4341-A6CA-3C6AE8320AB1}" type="pres">
      <dgm:prSet presAssocID="{D0A0B479-3BAF-4672-B70F-B3480322DB3F}" presName="node" presStyleLbl="alignAccFollowNode1" presStyleIdx="1" presStyleCnt="6">
        <dgm:presLayoutVars>
          <dgm:bulletEnabled val="1"/>
        </dgm:presLayoutVars>
      </dgm:prSet>
      <dgm:spPr/>
    </dgm:pt>
    <dgm:pt modelId="{6598F6B5-5A4C-4FA6-A6EB-61E00E794A65}" type="pres">
      <dgm:prSet presAssocID="{440773C0-BAD9-43D0-AAA8-71CEFE4A95CA}" presName="vSp" presStyleCnt="0"/>
      <dgm:spPr/>
    </dgm:pt>
    <dgm:pt modelId="{EAE6E467-99EB-4A02-A0FE-87B5D9FD47E5}" type="pres">
      <dgm:prSet presAssocID="{F25FE823-9143-4842-B935-4E7BD8010DF7}" presName="horFlow" presStyleCnt="0"/>
      <dgm:spPr/>
    </dgm:pt>
    <dgm:pt modelId="{8C9D8F37-D50B-443B-9D72-C1127206198C}" type="pres">
      <dgm:prSet presAssocID="{F25FE823-9143-4842-B935-4E7BD8010DF7}" presName="bigChev" presStyleLbl="node1" presStyleIdx="1" presStyleCnt="3"/>
      <dgm:spPr/>
    </dgm:pt>
    <dgm:pt modelId="{5BD75F4F-08D9-401F-9E31-FF1FAE67176C}" type="pres">
      <dgm:prSet presAssocID="{05B31CAA-6AD1-4B52-AC86-A79282835B5D}" presName="parTrans" presStyleCnt="0"/>
      <dgm:spPr/>
    </dgm:pt>
    <dgm:pt modelId="{EF3ACDF9-24E1-4C74-B8CC-E620577DDB44}" type="pres">
      <dgm:prSet presAssocID="{BB812756-A9BD-4CFF-A889-E58167982420}" presName="node" presStyleLbl="alignAccFollowNode1" presStyleIdx="2" presStyleCnt="6">
        <dgm:presLayoutVars>
          <dgm:bulletEnabled val="1"/>
        </dgm:presLayoutVars>
      </dgm:prSet>
      <dgm:spPr/>
    </dgm:pt>
    <dgm:pt modelId="{8ADD62E1-D23E-4C65-8C32-8D71FC361836}" type="pres">
      <dgm:prSet presAssocID="{24806B3A-78AA-468E-8B10-5AE7C1CC5985}" presName="sibTrans" presStyleCnt="0"/>
      <dgm:spPr/>
    </dgm:pt>
    <dgm:pt modelId="{E436FFCD-7973-43FF-91AE-7AC13A0C3A4F}" type="pres">
      <dgm:prSet presAssocID="{77C655B8-F83A-429B-B5B5-25AC1347E2FC}" presName="node" presStyleLbl="alignAccFollowNode1" presStyleIdx="3" presStyleCnt="6">
        <dgm:presLayoutVars>
          <dgm:bulletEnabled val="1"/>
        </dgm:presLayoutVars>
      </dgm:prSet>
      <dgm:spPr/>
    </dgm:pt>
    <dgm:pt modelId="{16381E9A-275B-4859-9AB0-2AE5DA49D59E}" type="pres">
      <dgm:prSet presAssocID="{F25FE823-9143-4842-B935-4E7BD8010DF7}" presName="vSp" presStyleCnt="0"/>
      <dgm:spPr/>
    </dgm:pt>
    <dgm:pt modelId="{F60B92EA-E944-499F-A0D9-5E7E333CB938}" type="pres">
      <dgm:prSet presAssocID="{D9D04A09-3E4F-4D31-91CD-2A502F4351FE}" presName="horFlow" presStyleCnt="0"/>
      <dgm:spPr/>
    </dgm:pt>
    <dgm:pt modelId="{E62493B3-4573-4712-9E1B-5048FA1C485E}" type="pres">
      <dgm:prSet presAssocID="{D9D04A09-3E4F-4D31-91CD-2A502F4351FE}" presName="bigChev" presStyleLbl="node1" presStyleIdx="2" presStyleCnt="3"/>
      <dgm:spPr/>
    </dgm:pt>
    <dgm:pt modelId="{E22CE269-BB39-4D02-B483-B46F8592E13C}" type="pres">
      <dgm:prSet presAssocID="{E1416552-8900-4158-A45F-BFC7C60B1D84}" presName="parTrans" presStyleCnt="0"/>
      <dgm:spPr/>
    </dgm:pt>
    <dgm:pt modelId="{9CF9B3B6-01DE-4099-B85E-079D5BFB0F09}" type="pres">
      <dgm:prSet presAssocID="{AFC0EAF3-FEAC-484A-ACFF-0EEED8920D57}" presName="node" presStyleLbl="alignAccFollowNode1" presStyleIdx="4" presStyleCnt="6">
        <dgm:presLayoutVars>
          <dgm:bulletEnabled val="1"/>
        </dgm:presLayoutVars>
      </dgm:prSet>
      <dgm:spPr/>
    </dgm:pt>
    <dgm:pt modelId="{AE76302F-FDBE-4E31-B5FE-EA0C63CBB4EE}" type="pres">
      <dgm:prSet presAssocID="{1E391DB7-4799-41DB-9E82-D70A676AFB02}" presName="sibTrans" presStyleCnt="0"/>
      <dgm:spPr/>
    </dgm:pt>
    <dgm:pt modelId="{C45CE028-FCB8-4171-814C-E1CBBFBD8E26}" type="pres">
      <dgm:prSet presAssocID="{1358273C-FFB8-422A-AF3F-A011B895CCFA}" presName="node" presStyleLbl="alignAccFollowNode1" presStyleIdx="5" presStyleCnt="6">
        <dgm:presLayoutVars>
          <dgm:bulletEnabled val="1"/>
        </dgm:presLayoutVars>
      </dgm:prSet>
      <dgm:spPr/>
    </dgm:pt>
  </dgm:ptLst>
  <dgm:cxnLst>
    <dgm:cxn modelId="{4353400B-3CFD-4293-8326-376524B907C0}" srcId="{D9D04A09-3E4F-4D31-91CD-2A502F4351FE}" destId="{AFC0EAF3-FEAC-484A-ACFF-0EEED8920D57}" srcOrd="0" destOrd="0" parTransId="{E1416552-8900-4158-A45F-BFC7C60B1D84}" sibTransId="{1E391DB7-4799-41DB-9E82-D70A676AFB02}"/>
    <dgm:cxn modelId="{9D4DC20E-0567-4A7D-B9A2-8E7939A10160}" type="presOf" srcId="{F25FE823-9143-4842-B935-4E7BD8010DF7}" destId="{8C9D8F37-D50B-443B-9D72-C1127206198C}" srcOrd="0" destOrd="0" presId="urn:microsoft.com/office/officeart/2005/8/layout/lProcess3"/>
    <dgm:cxn modelId="{2FA2FD20-61CD-4DED-8833-F5E15C348A9B}" srcId="{440773C0-BAD9-43D0-AAA8-71CEFE4A95CA}" destId="{D0A0B479-3BAF-4672-B70F-B3480322DB3F}" srcOrd="1" destOrd="0" parTransId="{2903B3F7-53D0-46BF-A68F-44F2D8FD6268}" sibTransId="{FDD8EDE1-5EC1-484D-A277-6E65DEED4B95}"/>
    <dgm:cxn modelId="{8C266829-14EA-4B25-A19E-63B33D8D4F9D}" type="presOf" srcId="{AFC0EAF3-FEAC-484A-ACFF-0EEED8920D57}" destId="{9CF9B3B6-01DE-4099-B85E-079D5BFB0F09}" srcOrd="0" destOrd="0" presId="urn:microsoft.com/office/officeart/2005/8/layout/lProcess3"/>
    <dgm:cxn modelId="{6987E62D-EDF3-4237-A9F3-29F59A0070F9}" type="presOf" srcId="{735900E6-5E32-42B7-A699-282024B54E20}" destId="{886ACBB3-4FC0-4409-B925-F3ECFC4D438D}" srcOrd="0" destOrd="0" presId="urn:microsoft.com/office/officeart/2005/8/layout/lProcess3"/>
    <dgm:cxn modelId="{10310F5E-A07D-4C00-BE9F-F49D2AB949B1}" srcId="{F25FE823-9143-4842-B935-4E7BD8010DF7}" destId="{BB812756-A9BD-4CFF-A889-E58167982420}" srcOrd="0" destOrd="0" parTransId="{05B31CAA-6AD1-4B52-AC86-A79282835B5D}" sibTransId="{24806B3A-78AA-468E-8B10-5AE7C1CC5985}"/>
    <dgm:cxn modelId="{CD5F8C41-D739-456E-B4C3-8E127DA72940}" type="presOf" srcId="{D0A0B479-3BAF-4672-B70F-B3480322DB3F}" destId="{F0580F15-3A45-4341-A6CA-3C6AE8320AB1}" srcOrd="0" destOrd="0" presId="urn:microsoft.com/office/officeart/2005/8/layout/lProcess3"/>
    <dgm:cxn modelId="{09784B6D-47CA-4317-BBF0-FDFBCF03F1E8}" type="presOf" srcId="{77C655B8-F83A-429B-B5B5-25AC1347E2FC}" destId="{E436FFCD-7973-43FF-91AE-7AC13A0C3A4F}" srcOrd="0" destOrd="0" presId="urn:microsoft.com/office/officeart/2005/8/layout/lProcess3"/>
    <dgm:cxn modelId="{B141D590-F244-44DF-AFB1-035BF9688A61}" type="presOf" srcId="{D9D04A09-3E4F-4D31-91CD-2A502F4351FE}" destId="{E62493B3-4573-4712-9E1B-5048FA1C485E}" srcOrd="0" destOrd="0" presId="urn:microsoft.com/office/officeart/2005/8/layout/lProcess3"/>
    <dgm:cxn modelId="{F0E350A4-6BFD-4ABB-A4BE-A95E583F57A0}" type="presOf" srcId="{BB812756-A9BD-4CFF-A889-E58167982420}" destId="{EF3ACDF9-24E1-4C74-B8CC-E620577DDB44}" srcOrd="0" destOrd="0" presId="urn:microsoft.com/office/officeart/2005/8/layout/lProcess3"/>
    <dgm:cxn modelId="{66F317AE-D403-4FA0-BE83-F42178F64610}" srcId="{440773C0-BAD9-43D0-AAA8-71CEFE4A95CA}" destId="{F6D44336-5E3B-493B-A06F-438069534C5F}" srcOrd="0" destOrd="0" parTransId="{D06FFAC9-ED39-46B0-86AE-55394D1A74FD}" sibTransId="{DC7C47DB-5615-4D88-A283-3C0D81B564DF}"/>
    <dgm:cxn modelId="{D2B236C0-EAF5-4BEB-B4E5-AA4F77DF5A4B}" type="presOf" srcId="{1358273C-FFB8-422A-AF3F-A011B895CCFA}" destId="{C45CE028-FCB8-4171-814C-E1CBBFBD8E26}" srcOrd="0" destOrd="0" presId="urn:microsoft.com/office/officeart/2005/8/layout/lProcess3"/>
    <dgm:cxn modelId="{CA68D3C4-218E-4F6E-B0AF-D29B43D7FD5B}" type="presOf" srcId="{F6D44336-5E3B-493B-A06F-438069534C5F}" destId="{DEDACF94-0BA5-412D-9501-EC9B657C2C1F}" srcOrd="0" destOrd="0" presId="urn:microsoft.com/office/officeart/2005/8/layout/lProcess3"/>
    <dgm:cxn modelId="{CBCFC8C5-BBA4-47BD-AEBF-6139E133996B}" srcId="{735900E6-5E32-42B7-A699-282024B54E20}" destId="{D9D04A09-3E4F-4D31-91CD-2A502F4351FE}" srcOrd="2" destOrd="0" parTransId="{7AFE9B1F-732B-441F-AC11-A5B7D5CBDA91}" sibTransId="{38472AB3-DE9D-4884-BDBA-2CD38535831D}"/>
    <dgm:cxn modelId="{A025E5D4-AB07-4B21-82CD-5DE874DB4C0F}" srcId="{F25FE823-9143-4842-B935-4E7BD8010DF7}" destId="{77C655B8-F83A-429B-B5B5-25AC1347E2FC}" srcOrd="1" destOrd="0" parTransId="{BE76EADC-0029-42B3-BD79-EE3844CDA514}" sibTransId="{E26A0285-C730-4881-A20A-BAB69856937A}"/>
    <dgm:cxn modelId="{2E77E2D7-B5BF-4726-AE9C-F7D950E2FB70}" type="presOf" srcId="{440773C0-BAD9-43D0-AAA8-71CEFE4A95CA}" destId="{99DFF81E-C925-42D5-9BD2-142F18202BB6}" srcOrd="0" destOrd="0" presId="urn:microsoft.com/office/officeart/2005/8/layout/lProcess3"/>
    <dgm:cxn modelId="{772BE7DF-F676-4AB2-99F6-6E9293523AE8}" srcId="{D9D04A09-3E4F-4D31-91CD-2A502F4351FE}" destId="{1358273C-FFB8-422A-AF3F-A011B895CCFA}" srcOrd="1" destOrd="0" parTransId="{23A25BE1-5B55-4072-B6C6-7396DEB0FE3D}" sibTransId="{73D1F304-E72A-4356-B618-CC50B3F61561}"/>
    <dgm:cxn modelId="{9DA460EF-51A6-416D-B46F-360DF9E09C12}" srcId="{735900E6-5E32-42B7-A699-282024B54E20}" destId="{F25FE823-9143-4842-B935-4E7BD8010DF7}" srcOrd="1" destOrd="0" parTransId="{8621BD33-F7CA-44A3-A1CB-E808EFCEC12B}" sibTransId="{D268B3BD-38D4-4FAE-944C-6156515E7A87}"/>
    <dgm:cxn modelId="{E431A4F0-3126-4D02-BC60-83F61A0EEB45}" srcId="{735900E6-5E32-42B7-A699-282024B54E20}" destId="{440773C0-BAD9-43D0-AAA8-71CEFE4A95CA}" srcOrd="0" destOrd="0" parTransId="{834E5F98-A185-40B2-B2BF-B6D99806729E}" sibTransId="{09BF0FF4-32FE-4AFC-8169-917558E24606}"/>
    <dgm:cxn modelId="{C898DFB3-CBAD-4F37-8966-6E7C90C1711A}" type="presParOf" srcId="{886ACBB3-4FC0-4409-B925-F3ECFC4D438D}" destId="{30106522-1DF0-43DD-ADBB-D0E2C6D30995}" srcOrd="0" destOrd="0" presId="urn:microsoft.com/office/officeart/2005/8/layout/lProcess3"/>
    <dgm:cxn modelId="{5F62A260-CCE0-45C4-BA83-7F10DEAF1B8C}" type="presParOf" srcId="{30106522-1DF0-43DD-ADBB-D0E2C6D30995}" destId="{99DFF81E-C925-42D5-9BD2-142F18202BB6}" srcOrd="0" destOrd="0" presId="urn:microsoft.com/office/officeart/2005/8/layout/lProcess3"/>
    <dgm:cxn modelId="{D5F18850-AEF7-40DB-8B6B-B0D108144D1B}" type="presParOf" srcId="{30106522-1DF0-43DD-ADBB-D0E2C6D30995}" destId="{CD5B4EC1-AD20-4649-9A0B-21D6B1421A9E}" srcOrd="1" destOrd="0" presId="urn:microsoft.com/office/officeart/2005/8/layout/lProcess3"/>
    <dgm:cxn modelId="{83E798AA-0AB8-4BEE-87B1-22C5DBF713B8}" type="presParOf" srcId="{30106522-1DF0-43DD-ADBB-D0E2C6D30995}" destId="{DEDACF94-0BA5-412D-9501-EC9B657C2C1F}" srcOrd="2" destOrd="0" presId="urn:microsoft.com/office/officeart/2005/8/layout/lProcess3"/>
    <dgm:cxn modelId="{B129B599-6B95-4A99-BF3F-FD060A89F255}" type="presParOf" srcId="{30106522-1DF0-43DD-ADBB-D0E2C6D30995}" destId="{54D6107D-C0D1-43DA-9408-184078934ED1}" srcOrd="3" destOrd="0" presId="urn:microsoft.com/office/officeart/2005/8/layout/lProcess3"/>
    <dgm:cxn modelId="{87369782-EDF7-4C41-906E-DD70D518E756}" type="presParOf" srcId="{30106522-1DF0-43DD-ADBB-D0E2C6D30995}" destId="{F0580F15-3A45-4341-A6CA-3C6AE8320AB1}" srcOrd="4" destOrd="0" presId="urn:microsoft.com/office/officeart/2005/8/layout/lProcess3"/>
    <dgm:cxn modelId="{09B2445F-BFAD-4546-BDB0-0430E8E50455}" type="presParOf" srcId="{886ACBB3-4FC0-4409-B925-F3ECFC4D438D}" destId="{6598F6B5-5A4C-4FA6-A6EB-61E00E794A65}" srcOrd="1" destOrd="0" presId="urn:microsoft.com/office/officeart/2005/8/layout/lProcess3"/>
    <dgm:cxn modelId="{4929A106-03F4-4D38-B423-033DCE383FD2}" type="presParOf" srcId="{886ACBB3-4FC0-4409-B925-F3ECFC4D438D}" destId="{EAE6E467-99EB-4A02-A0FE-87B5D9FD47E5}" srcOrd="2" destOrd="0" presId="urn:microsoft.com/office/officeart/2005/8/layout/lProcess3"/>
    <dgm:cxn modelId="{3F8F4D8B-AADD-471D-8A98-4D9284278FB0}" type="presParOf" srcId="{EAE6E467-99EB-4A02-A0FE-87B5D9FD47E5}" destId="{8C9D8F37-D50B-443B-9D72-C1127206198C}" srcOrd="0" destOrd="0" presId="urn:microsoft.com/office/officeart/2005/8/layout/lProcess3"/>
    <dgm:cxn modelId="{C9095512-A675-45C1-92BC-E34F4ABCF02D}" type="presParOf" srcId="{EAE6E467-99EB-4A02-A0FE-87B5D9FD47E5}" destId="{5BD75F4F-08D9-401F-9E31-FF1FAE67176C}" srcOrd="1" destOrd="0" presId="urn:microsoft.com/office/officeart/2005/8/layout/lProcess3"/>
    <dgm:cxn modelId="{46AEFC73-5A8F-46D4-B798-7BD94FC0683A}" type="presParOf" srcId="{EAE6E467-99EB-4A02-A0FE-87B5D9FD47E5}" destId="{EF3ACDF9-24E1-4C74-B8CC-E620577DDB44}" srcOrd="2" destOrd="0" presId="urn:microsoft.com/office/officeart/2005/8/layout/lProcess3"/>
    <dgm:cxn modelId="{426AC013-3F9A-4B00-8930-3F433809ECE8}" type="presParOf" srcId="{EAE6E467-99EB-4A02-A0FE-87B5D9FD47E5}" destId="{8ADD62E1-D23E-4C65-8C32-8D71FC361836}" srcOrd="3" destOrd="0" presId="urn:microsoft.com/office/officeart/2005/8/layout/lProcess3"/>
    <dgm:cxn modelId="{7CF57954-50CF-4DBC-8832-6098F0DF2472}" type="presParOf" srcId="{EAE6E467-99EB-4A02-A0FE-87B5D9FD47E5}" destId="{E436FFCD-7973-43FF-91AE-7AC13A0C3A4F}" srcOrd="4" destOrd="0" presId="urn:microsoft.com/office/officeart/2005/8/layout/lProcess3"/>
    <dgm:cxn modelId="{9237E015-444C-4204-B0D8-3626F1D6D80A}" type="presParOf" srcId="{886ACBB3-4FC0-4409-B925-F3ECFC4D438D}" destId="{16381E9A-275B-4859-9AB0-2AE5DA49D59E}" srcOrd="3" destOrd="0" presId="urn:microsoft.com/office/officeart/2005/8/layout/lProcess3"/>
    <dgm:cxn modelId="{E6F08E23-6EED-4678-A5CA-DFAB1202D0FC}" type="presParOf" srcId="{886ACBB3-4FC0-4409-B925-F3ECFC4D438D}" destId="{F60B92EA-E944-499F-A0D9-5E7E333CB938}" srcOrd="4" destOrd="0" presId="urn:microsoft.com/office/officeart/2005/8/layout/lProcess3"/>
    <dgm:cxn modelId="{C6B14544-30BE-403E-9066-AB85C1DE5D31}" type="presParOf" srcId="{F60B92EA-E944-499F-A0D9-5E7E333CB938}" destId="{E62493B3-4573-4712-9E1B-5048FA1C485E}" srcOrd="0" destOrd="0" presId="urn:microsoft.com/office/officeart/2005/8/layout/lProcess3"/>
    <dgm:cxn modelId="{3B2E5F4F-D4A3-43BB-8A01-C5D96616FCBC}" type="presParOf" srcId="{F60B92EA-E944-499F-A0D9-5E7E333CB938}" destId="{E22CE269-BB39-4D02-B483-B46F8592E13C}" srcOrd="1" destOrd="0" presId="urn:microsoft.com/office/officeart/2005/8/layout/lProcess3"/>
    <dgm:cxn modelId="{FEC92695-E956-4905-9D52-A02475B48B02}" type="presParOf" srcId="{F60B92EA-E944-499F-A0D9-5E7E333CB938}" destId="{9CF9B3B6-01DE-4099-B85E-079D5BFB0F09}" srcOrd="2" destOrd="0" presId="urn:microsoft.com/office/officeart/2005/8/layout/lProcess3"/>
    <dgm:cxn modelId="{1A9D1F8D-975D-42ED-9207-C22F7B52B2D9}" type="presParOf" srcId="{F60B92EA-E944-499F-A0D9-5E7E333CB938}" destId="{AE76302F-FDBE-4E31-B5FE-EA0C63CBB4EE}" srcOrd="3" destOrd="0" presId="urn:microsoft.com/office/officeart/2005/8/layout/lProcess3"/>
    <dgm:cxn modelId="{DA42AEE8-7160-46C4-8F78-E51D3FBD678A}" type="presParOf" srcId="{F60B92EA-E944-499F-A0D9-5E7E333CB938}" destId="{C45CE028-FCB8-4171-814C-E1CBBFBD8E26}"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FC734-2243-4F22-B764-C904C66F0C6D}">
      <dsp:nvSpPr>
        <dsp:cNvPr id="0" name=""/>
        <dsp:cNvSpPr/>
      </dsp:nvSpPr>
      <dsp:spPr>
        <a:xfrm>
          <a:off x="2624" y="218268"/>
          <a:ext cx="1249022" cy="860576"/>
        </a:xfrm>
        <a:prstGeom prst="roundRect">
          <a:avLst/>
        </a:prstGeom>
        <a:blipFill>
          <a:blip xmlns:r="http://schemas.openxmlformats.org/officeDocument/2006/relationships" r:embed="rId1"/>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17BBE9-71CC-4F79-85FD-4BF795E22672}">
      <dsp:nvSpPr>
        <dsp:cNvPr id="0" name=""/>
        <dsp:cNvSpPr/>
      </dsp:nvSpPr>
      <dsp:spPr>
        <a:xfrm>
          <a:off x="2624" y="1078844"/>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Narmeen Asif</a:t>
          </a:r>
        </a:p>
      </dsp:txBody>
      <dsp:txXfrm>
        <a:off x="2624" y="1078844"/>
        <a:ext cx="1249022" cy="463387"/>
      </dsp:txXfrm>
    </dsp:sp>
    <dsp:sp modelId="{30EC0134-E95F-426A-BB0F-727C7C946B2E}">
      <dsp:nvSpPr>
        <dsp:cNvPr id="0" name=""/>
        <dsp:cNvSpPr/>
      </dsp:nvSpPr>
      <dsp:spPr>
        <a:xfrm>
          <a:off x="1347911" y="229481"/>
          <a:ext cx="1249022" cy="860576"/>
        </a:xfrm>
        <a:prstGeom prst="roundRect">
          <a:avLst/>
        </a:prstGeom>
        <a:blipFill>
          <a:blip xmlns:r="http://schemas.openxmlformats.org/officeDocument/2006/relationships" r:embed="rId2"/>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86EBDB-7E66-4C4C-883F-F160EF3FB090}">
      <dsp:nvSpPr>
        <dsp:cNvPr id="0" name=""/>
        <dsp:cNvSpPr/>
      </dsp:nvSpPr>
      <dsp:spPr>
        <a:xfrm>
          <a:off x="1376601" y="1078844"/>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Pegah </a:t>
          </a:r>
          <a:r>
            <a:rPr lang="en-US" sz="900" kern="1200" err="1"/>
            <a:t>Aghasikhani</a:t>
          </a:r>
          <a:endParaRPr lang="en-US" sz="900" kern="1200"/>
        </a:p>
      </dsp:txBody>
      <dsp:txXfrm>
        <a:off x="1376601" y="1078844"/>
        <a:ext cx="1249022" cy="463387"/>
      </dsp:txXfrm>
    </dsp:sp>
    <dsp:sp modelId="{5EC55CFA-5491-40F4-958F-B21350D4D8F7}">
      <dsp:nvSpPr>
        <dsp:cNvPr id="0" name=""/>
        <dsp:cNvSpPr/>
      </dsp:nvSpPr>
      <dsp:spPr>
        <a:xfrm>
          <a:off x="2750578" y="218268"/>
          <a:ext cx="1249022" cy="860576"/>
        </a:xfrm>
        <a:prstGeom prst="roundRect">
          <a:avLst/>
        </a:prstGeom>
        <a:blipFill>
          <a:blip xmlns:r="http://schemas.openxmlformats.org/officeDocument/2006/relationships" r:embed="rId3"/>
          <a:srcRect/>
          <a:stretch>
            <a:fillRect t="-19000" b="-1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AFB302-77B5-41FC-BF17-83CE6F5EEB08}">
      <dsp:nvSpPr>
        <dsp:cNvPr id="0" name=""/>
        <dsp:cNvSpPr/>
      </dsp:nvSpPr>
      <dsp:spPr>
        <a:xfrm>
          <a:off x="2750578" y="1078844"/>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Daniel Pineda Estrada</a:t>
          </a:r>
        </a:p>
      </dsp:txBody>
      <dsp:txXfrm>
        <a:off x="2750578" y="1078844"/>
        <a:ext cx="1249022" cy="463387"/>
      </dsp:txXfrm>
    </dsp:sp>
    <dsp:sp modelId="{F024712C-B23C-476B-A42E-42039BC5AF4F}">
      <dsp:nvSpPr>
        <dsp:cNvPr id="0" name=""/>
        <dsp:cNvSpPr/>
      </dsp:nvSpPr>
      <dsp:spPr>
        <a:xfrm>
          <a:off x="4124555" y="218268"/>
          <a:ext cx="1249022" cy="860576"/>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72098-8DA4-46F6-88C5-F886D27BC996}">
      <dsp:nvSpPr>
        <dsp:cNvPr id="0" name=""/>
        <dsp:cNvSpPr/>
      </dsp:nvSpPr>
      <dsp:spPr>
        <a:xfrm>
          <a:off x="4124555" y="1078844"/>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Aly Morsy</a:t>
          </a:r>
        </a:p>
      </dsp:txBody>
      <dsp:txXfrm>
        <a:off x="4124555" y="1078844"/>
        <a:ext cx="1249022" cy="463387"/>
      </dsp:txXfrm>
    </dsp:sp>
    <dsp:sp modelId="{6974AAC8-56F9-4A74-9286-5D78290626BE}">
      <dsp:nvSpPr>
        <dsp:cNvPr id="0" name=""/>
        <dsp:cNvSpPr/>
      </dsp:nvSpPr>
      <dsp:spPr>
        <a:xfrm>
          <a:off x="689613" y="1667134"/>
          <a:ext cx="1249022" cy="860576"/>
        </a:xfrm>
        <a:prstGeom prst="roundRect">
          <a:avLst/>
        </a:prstGeom>
        <a:blipFill>
          <a:blip xmlns:r="http://schemas.openxmlformats.org/officeDocument/2006/relationships" r:embed="rId5"/>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2D31C1-07A9-424A-9215-C17DC23254CC}">
      <dsp:nvSpPr>
        <dsp:cNvPr id="0" name=""/>
        <dsp:cNvSpPr/>
      </dsp:nvSpPr>
      <dsp:spPr>
        <a:xfrm>
          <a:off x="689613" y="2527710"/>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Decency Chukwuemeka </a:t>
          </a:r>
          <a:r>
            <a:rPr lang="en-US" sz="900" kern="1200" err="1"/>
            <a:t>Ukonu</a:t>
          </a:r>
          <a:endParaRPr lang="en-US" sz="900" kern="1200"/>
        </a:p>
      </dsp:txBody>
      <dsp:txXfrm>
        <a:off x="689613" y="2527710"/>
        <a:ext cx="1249022" cy="463387"/>
      </dsp:txXfrm>
    </dsp:sp>
    <dsp:sp modelId="{4B70BCAF-0E02-4A29-B4F1-A39CD949395B}">
      <dsp:nvSpPr>
        <dsp:cNvPr id="0" name=""/>
        <dsp:cNvSpPr/>
      </dsp:nvSpPr>
      <dsp:spPr>
        <a:xfrm>
          <a:off x="2063590" y="1667134"/>
          <a:ext cx="1249022" cy="860576"/>
        </a:xfrm>
        <a:prstGeom prst="roundRect">
          <a:avLst/>
        </a:prstGeom>
        <a:blipFill>
          <a:blip xmlns:r="http://schemas.openxmlformats.org/officeDocument/2006/relationships" r:embed="rId6"/>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E4192D-97C3-45B6-AE68-AAEAC9986E38}">
      <dsp:nvSpPr>
        <dsp:cNvPr id="0" name=""/>
        <dsp:cNvSpPr/>
      </dsp:nvSpPr>
      <dsp:spPr>
        <a:xfrm>
          <a:off x="2063590" y="2527710"/>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rtl="0">
            <a:lnSpc>
              <a:spcPct val="90000"/>
            </a:lnSpc>
            <a:spcBef>
              <a:spcPct val="0"/>
            </a:spcBef>
            <a:spcAft>
              <a:spcPct val="35000"/>
            </a:spcAft>
            <a:buNone/>
          </a:pPr>
          <a:r>
            <a:rPr lang="en-US" sz="900" kern="1200"/>
            <a:t>Muhammad Ehab </a:t>
          </a:r>
          <a:r>
            <a:rPr lang="en-US" sz="900" kern="1200">
              <a:latin typeface="Arial"/>
            </a:rPr>
            <a:t>Bin Nauman</a:t>
          </a:r>
          <a:endParaRPr lang="en-US" sz="900" kern="1200"/>
        </a:p>
      </dsp:txBody>
      <dsp:txXfrm>
        <a:off x="2063590" y="2527710"/>
        <a:ext cx="1249022" cy="463387"/>
      </dsp:txXfrm>
    </dsp:sp>
    <dsp:sp modelId="{74863ED5-6D7C-48F4-90D6-22F06EDC8BCE}">
      <dsp:nvSpPr>
        <dsp:cNvPr id="0" name=""/>
        <dsp:cNvSpPr/>
      </dsp:nvSpPr>
      <dsp:spPr>
        <a:xfrm>
          <a:off x="3437567" y="1667134"/>
          <a:ext cx="1249022" cy="860576"/>
        </a:xfrm>
        <a:prstGeom prst="roundRect">
          <a:avLst/>
        </a:prstGeom>
        <a:blipFill>
          <a:blip xmlns:r="http://schemas.openxmlformats.org/officeDocument/2006/relationships" r:embed="rId7"/>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9A26D7-C2CC-4EF1-A20F-B5998D0510E7}">
      <dsp:nvSpPr>
        <dsp:cNvPr id="0" name=""/>
        <dsp:cNvSpPr/>
      </dsp:nvSpPr>
      <dsp:spPr>
        <a:xfrm>
          <a:off x="3437567" y="2527710"/>
          <a:ext cx="1249022" cy="463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0" numCol="1" spcCol="1270" anchor="t" anchorCtr="0">
          <a:noAutofit/>
        </a:bodyPr>
        <a:lstStyle/>
        <a:p>
          <a:pPr marL="0" lvl="0" indent="0" algn="ctr" defTabSz="400050">
            <a:lnSpc>
              <a:spcPct val="90000"/>
            </a:lnSpc>
            <a:spcBef>
              <a:spcPct val="0"/>
            </a:spcBef>
            <a:spcAft>
              <a:spcPct val="35000"/>
            </a:spcAft>
            <a:buNone/>
          </a:pPr>
          <a:r>
            <a:rPr lang="en-US" sz="900" kern="1200"/>
            <a:t>Taha Javed</a:t>
          </a:r>
        </a:p>
      </dsp:txBody>
      <dsp:txXfrm>
        <a:off x="3437567" y="2527710"/>
        <a:ext cx="1249022" cy="463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CE3A7-E63B-4A25-A3B8-A17FB4E445E7}">
      <dsp:nvSpPr>
        <dsp:cNvPr id="0" name=""/>
        <dsp:cNvSpPr/>
      </dsp:nvSpPr>
      <dsp:spPr>
        <a:xfrm>
          <a:off x="5188" y="560180"/>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Liquid impacts wall → sudden deceleration</a:t>
          </a:r>
        </a:p>
      </dsp:txBody>
      <dsp:txXfrm>
        <a:off x="32439" y="587431"/>
        <a:ext cx="1496182" cy="875908"/>
      </dsp:txXfrm>
    </dsp:sp>
    <dsp:sp modelId="{45A930D9-132C-4401-A1A4-E300F9D80526}">
      <dsp:nvSpPr>
        <dsp:cNvPr id="0" name=""/>
        <dsp:cNvSpPr/>
      </dsp:nvSpPr>
      <dsp:spPr>
        <a:xfrm>
          <a:off x="1692332" y="833100"/>
          <a:ext cx="328745" cy="38456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692332" y="910014"/>
        <a:ext cx="230122" cy="230741"/>
      </dsp:txXfrm>
    </dsp:sp>
    <dsp:sp modelId="{A353732E-3AC6-436D-A5CF-CF5B90E9EEA8}">
      <dsp:nvSpPr>
        <dsp:cNvPr id="0" name=""/>
        <dsp:cNvSpPr/>
      </dsp:nvSpPr>
      <dsp:spPr>
        <a:xfrm>
          <a:off x="2176145" y="560180"/>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Momentum change → impact force</a:t>
          </a:r>
        </a:p>
      </dsp:txBody>
      <dsp:txXfrm>
        <a:off x="2203396" y="587431"/>
        <a:ext cx="1496182" cy="875908"/>
      </dsp:txXfrm>
    </dsp:sp>
    <dsp:sp modelId="{78625376-C597-40B0-9ADD-008B162ACDEE}">
      <dsp:nvSpPr>
        <dsp:cNvPr id="0" name=""/>
        <dsp:cNvSpPr/>
      </dsp:nvSpPr>
      <dsp:spPr>
        <a:xfrm>
          <a:off x="3863290" y="833100"/>
          <a:ext cx="328745" cy="38456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863290" y="910014"/>
        <a:ext cx="230122" cy="230741"/>
      </dsp:txXfrm>
    </dsp:sp>
    <dsp:sp modelId="{EA5797F8-9441-4F40-9A2F-33A674B72B19}">
      <dsp:nvSpPr>
        <dsp:cNvPr id="0" name=""/>
        <dsp:cNvSpPr/>
      </dsp:nvSpPr>
      <dsp:spPr>
        <a:xfrm>
          <a:off x="4347103" y="560180"/>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a:t>Local pressure rise (possible temperature increase)</a:t>
          </a:r>
        </a:p>
      </dsp:txBody>
      <dsp:txXfrm>
        <a:off x="4374354" y="587431"/>
        <a:ext cx="1496182" cy="875908"/>
      </dsp:txXfrm>
    </dsp:sp>
    <dsp:sp modelId="{A53FE75E-DFB7-403E-B293-8FD0D5F2BC58}">
      <dsp:nvSpPr>
        <dsp:cNvPr id="0" name=""/>
        <dsp:cNvSpPr/>
      </dsp:nvSpPr>
      <dsp:spPr>
        <a:xfrm rot="5400000">
          <a:off x="4958073" y="1599138"/>
          <a:ext cx="328745" cy="38456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5007076" y="1627050"/>
        <a:ext cx="230741" cy="230122"/>
      </dsp:txXfrm>
    </dsp:sp>
    <dsp:sp modelId="{F167648C-A18D-4F1A-ADF5-4DCB08146562}">
      <dsp:nvSpPr>
        <dsp:cNvPr id="0" name=""/>
        <dsp:cNvSpPr/>
      </dsp:nvSpPr>
      <dsp:spPr>
        <a:xfrm>
          <a:off x="4347103" y="2110864"/>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Gas compression → enhanced boil-off</a:t>
          </a:r>
        </a:p>
      </dsp:txBody>
      <dsp:txXfrm>
        <a:off x="4374354" y="2138115"/>
        <a:ext cx="1496182" cy="875908"/>
      </dsp:txXfrm>
    </dsp:sp>
    <dsp:sp modelId="{4F89EFDF-986A-49EC-B76E-B32091398509}">
      <dsp:nvSpPr>
        <dsp:cNvPr id="0" name=""/>
        <dsp:cNvSpPr/>
      </dsp:nvSpPr>
      <dsp:spPr>
        <a:xfrm rot="10800000">
          <a:off x="3881898" y="2383784"/>
          <a:ext cx="328745" cy="38456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980521" y="2460698"/>
        <a:ext cx="230122" cy="230741"/>
      </dsp:txXfrm>
    </dsp:sp>
    <dsp:sp modelId="{4D2E3B1C-2294-4AC1-A764-F0495104019F}">
      <dsp:nvSpPr>
        <dsp:cNvPr id="0" name=""/>
        <dsp:cNvSpPr/>
      </dsp:nvSpPr>
      <dsp:spPr>
        <a:xfrm>
          <a:off x="2176145" y="2110864"/>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a:t>Structural stress on tank</a:t>
          </a:r>
        </a:p>
      </dsp:txBody>
      <dsp:txXfrm>
        <a:off x="2203396" y="2138115"/>
        <a:ext cx="1496182" cy="875908"/>
      </dsp:txXfrm>
    </dsp:sp>
    <dsp:sp modelId="{64D44871-164F-4889-92A3-D40D97D31BF8}">
      <dsp:nvSpPr>
        <dsp:cNvPr id="0" name=""/>
        <dsp:cNvSpPr/>
      </dsp:nvSpPr>
      <dsp:spPr>
        <a:xfrm rot="10800000">
          <a:off x="1710940" y="2383784"/>
          <a:ext cx="328745" cy="38456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809563" y="2460698"/>
        <a:ext cx="230122" cy="230741"/>
      </dsp:txXfrm>
    </dsp:sp>
    <dsp:sp modelId="{C84B929B-2536-4716-A58E-1502C83BC910}">
      <dsp:nvSpPr>
        <dsp:cNvPr id="0" name=""/>
        <dsp:cNvSpPr/>
      </dsp:nvSpPr>
      <dsp:spPr>
        <a:xfrm>
          <a:off x="5188" y="2110864"/>
          <a:ext cx="1550684" cy="930410"/>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Rocket/Vehicle functions failure risk</a:t>
          </a:r>
        </a:p>
      </dsp:txBody>
      <dsp:txXfrm>
        <a:off x="32439" y="2138115"/>
        <a:ext cx="1496182" cy="875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D40A5-7B59-4C3A-96DD-A70134ABDB7A}">
      <dsp:nvSpPr>
        <dsp:cNvPr id="0" name=""/>
        <dsp:cNvSpPr/>
      </dsp:nvSpPr>
      <dsp:spPr>
        <a:xfrm>
          <a:off x="462081" y="614419"/>
          <a:ext cx="1724137" cy="568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Pre-Processing &amp; Numerical Solution</a:t>
          </a:r>
        </a:p>
      </dsp:txBody>
      <dsp:txXfrm>
        <a:off x="462081" y="614419"/>
        <a:ext cx="1724137" cy="568181"/>
      </dsp:txXfrm>
    </dsp:sp>
    <dsp:sp modelId="{E3C3BDEE-BB17-4348-9FF2-C9F0712CAE93}">
      <dsp:nvSpPr>
        <dsp:cNvPr id="0" name=""/>
        <dsp:cNvSpPr/>
      </dsp:nvSpPr>
      <dsp:spPr>
        <a:xfrm>
          <a:off x="599667" y="1812519"/>
          <a:ext cx="1724137" cy="1064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t"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r>
            <a:rPr lang="en-US" sz="1200" kern="1200"/>
            <a:t>Narmeen Asif</a:t>
          </a:r>
        </a:p>
        <a:p>
          <a:pPr marL="114300" lvl="1" indent="-114300" algn="l" defTabSz="533400">
            <a:lnSpc>
              <a:spcPct val="90000"/>
            </a:lnSpc>
            <a:spcBef>
              <a:spcPct val="0"/>
            </a:spcBef>
            <a:spcAft>
              <a:spcPct val="15000"/>
            </a:spcAft>
            <a:buChar char="•"/>
          </a:pPr>
          <a:r>
            <a:rPr lang="en-US" sz="1200" kern="1200"/>
            <a:t>Pegah Aghasikhani</a:t>
          </a:r>
        </a:p>
      </dsp:txBody>
      <dsp:txXfrm>
        <a:off x="599667" y="1812519"/>
        <a:ext cx="1724137" cy="1064495"/>
      </dsp:txXfrm>
    </dsp:sp>
    <dsp:sp modelId="{0D3C91CA-F9FC-4BC4-8D33-EC33BB149F4C}">
      <dsp:nvSpPr>
        <dsp:cNvPr id="0" name=""/>
        <dsp:cNvSpPr/>
      </dsp:nvSpPr>
      <dsp:spPr>
        <a:xfrm>
          <a:off x="481891" y="434375"/>
          <a:ext cx="137147" cy="137147"/>
        </a:xfrm>
        <a:prstGeom prst="ellipse">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CC8AC2-7A4F-4A51-91AE-22305C409CC5}">
      <dsp:nvSpPr>
        <dsp:cNvPr id="0" name=""/>
        <dsp:cNvSpPr/>
      </dsp:nvSpPr>
      <dsp:spPr>
        <a:xfrm>
          <a:off x="577894" y="242369"/>
          <a:ext cx="137147" cy="137147"/>
        </a:xfrm>
        <a:prstGeom prst="ellipse">
          <a:avLst/>
        </a:prstGeom>
        <a:solidFill>
          <a:schemeClr val="accent1">
            <a:alpha val="90000"/>
            <a:hueOff val="0"/>
            <a:satOff val="0"/>
            <a:lumOff val="0"/>
            <a:alphaOff val="-2222"/>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5D53B7-175B-465B-8506-E501501B9B6A}">
      <dsp:nvSpPr>
        <dsp:cNvPr id="0" name=""/>
        <dsp:cNvSpPr/>
      </dsp:nvSpPr>
      <dsp:spPr>
        <a:xfrm>
          <a:off x="808291" y="280770"/>
          <a:ext cx="215517" cy="215517"/>
        </a:xfrm>
        <a:prstGeom prst="ellipse">
          <a:avLst/>
        </a:prstGeom>
        <a:solidFill>
          <a:schemeClr val="accent1">
            <a:alpha val="90000"/>
            <a:hueOff val="0"/>
            <a:satOff val="0"/>
            <a:lumOff val="0"/>
            <a:alphaOff val="-4444"/>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1E4364-C62F-4497-A779-8E7D4421C894}">
      <dsp:nvSpPr>
        <dsp:cNvPr id="0" name=""/>
        <dsp:cNvSpPr/>
      </dsp:nvSpPr>
      <dsp:spPr>
        <a:xfrm>
          <a:off x="1000308" y="69563"/>
          <a:ext cx="137147" cy="137147"/>
        </a:xfrm>
        <a:prstGeom prst="ellipse">
          <a:avLst/>
        </a:prstGeom>
        <a:solidFill>
          <a:schemeClr val="accent1">
            <a:alpha val="90000"/>
            <a:hueOff val="0"/>
            <a:satOff val="0"/>
            <a:lumOff val="0"/>
            <a:alphaOff val="-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92CF27-74A0-4B1C-B0CE-DEF1F6006CA2}">
      <dsp:nvSpPr>
        <dsp:cNvPr id="0" name=""/>
        <dsp:cNvSpPr/>
      </dsp:nvSpPr>
      <dsp:spPr>
        <a:xfrm>
          <a:off x="1249916" y="0"/>
          <a:ext cx="137147" cy="137147"/>
        </a:xfrm>
        <a:prstGeom prst="ellipse">
          <a:avLst/>
        </a:prstGeom>
        <a:solidFill>
          <a:schemeClr val="accent1">
            <a:alpha val="90000"/>
            <a:hueOff val="0"/>
            <a:satOff val="0"/>
            <a:lumOff val="0"/>
            <a:alphaOff val="-8889"/>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84316C-0E20-4433-864B-B5CAFDF5EEDE}">
      <dsp:nvSpPr>
        <dsp:cNvPr id="0" name=""/>
        <dsp:cNvSpPr/>
      </dsp:nvSpPr>
      <dsp:spPr>
        <a:xfrm>
          <a:off x="1535409" y="134404"/>
          <a:ext cx="137147" cy="137147"/>
        </a:xfrm>
        <a:prstGeom prst="ellipse">
          <a:avLst/>
        </a:prstGeom>
        <a:solidFill>
          <a:schemeClr val="accent1">
            <a:alpha val="90000"/>
            <a:hueOff val="0"/>
            <a:satOff val="0"/>
            <a:lumOff val="0"/>
            <a:alphaOff val="-11111"/>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410C00-1CE2-4ABD-901E-64C3B3DD3178}">
      <dsp:nvSpPr>
        <dsp:cNvPr id="0" name=""/>
        <dsp:cNvSpPr/>
      </dsp:nvSpPr>
      <dsp:spPr>
        <a:xfrm>
          <a:off x="1727404" y="230407"/>
          <a:ext cx="215517" cy="215517"/>
        </a:xfrm>
        <a:prstGeom prst="ellipse">
          <a:avLst/>
        </a:prstGeom>
        <a:solidFill>
          <a:schemeClr val="accent1">
            <a:alpha val="90000"/>
            <a:hueOff val="0"/>
            <a:satOff val="0"/>
            <a:lumOff val="0"/>
            <a:alphaOff val="-1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99AA16-E040-4726-8B1C-E73F28755797}">
      <dsp:nvSpPr>
        <dsp:cNvPr id="0" name=""/>
        <dsp:cNvSpPr/>
      </dsp:nvSpPr>
      <dsp:spPr>
        <a:xfrm>
          <a:off x="1996224" y="441614"/>
          <a:ext cx="137147" cy="137147"/>
        </a:xfrm>
        <a:prstGeom prst="ellipse">
          <a:avLst/>
        </a:prstGeom>
        <a:solidFill>
          <a:schemeClr val="accent1">
            <a:alpha val="90000"/>
            <a:hueOff val="0"/>
            <a:satOff val="0"/>
            <a:lumOff val="0"/>
            <a:alphaOff val="-15556"/>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C0EF2F-33AE-49AA-91CE-5386B028A700}">
      <dsp:nvSpPr>
        <dsp:cNvPr id="0" name=""/>
        <dsp:cNvSpPr/>
      </dsp:nvSpPr>
      <dsp:spPr>
        <a:xfrm>
          <a:off x="2111428" y="652821"/>
          <a:ext cx="137147" cy="137147"/>
        </a:xfrm>
        <a:prstGeom prst="ellipse">
          <a:avLst/>
        </a:prstGeom>
        <a:solidFill>
          <a:schemeClr val="accent1">
            <a:alpha val="90000"/>
            <a:hueOff val="0"/>
            <a:satOff val="0"/>
            <a:lumOff val="0"/>
            <a:alphaOff val="-17778"/>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532CF5-1432-45C4-936E-EC9C9F4A7C8C}">
      <dsp:nvSpPr>
        <dsp:cNvPr id="0" name=""/>
        <dsp:cNvSpPr/>
      </dsp:nvSpPr>
      <dsp:spPr>
        <a:xfrm>
          <a:off x="1134682" y="242367"/>
          <a:ext cx="352664" cy="352664"/>
        </a:xfrm>
        <a:prstGeom prst="ellipse">
          <a:avLst/>
        </a:prstGeom>
        <a:solidFill>
          <a:schemeClr val="accent1">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32CDA8-A223-4CD3-A330-FC4EEE24B2E2}">
      <dsp:nvSpPr>
        <dsp:cNvPr id="0" name=""/>
        <dsp:cNvSpPr/>
      </dsp:nvSpPr>
      <dsp:spPr>
        <a:xfrm>
          <a:off x="364171" y="979231"/>
          <a:ext cx="137147" cy="137147"/>
        </a:xfrm>
        <a:prstGeom prst="ellipse">
          <a:avLst/>
        </a:prstGeom>
        <a:solidFill>
          <a:schemeClr val="accent1">
            <a:alpha val="90000"/>
            <a:hueOff val="0"/>
            <a:satOff val="0"/>
            <a:lumOff val="0"/>
            <a:alphaOff val="-22222"/>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16E616-861E-475A-8DED-E3C1A9009871}">
      <dsp:nvSpPr>
        <dsp:cNvPr id="0" name=""/>
        <dsp:cNvSpPr/>
      </dsp:nvSpPr>
      <dsp:spPr>
        <a:xfrm>
          <a:off x="479363" y="1152037"/>
          <a:ext cx="215517" cy="215517"/>
        </a:xfrm>
        <a:prstGeom prst="ellipse">
          <a:avLst/>
        </a:prstGeom>
        <a:solidFill>
          <a:schemeClr val="accent1">
            <a:alpha val="90000"/>
            <a:hueOff val="0"/>
            <a:satOff val="0"/>
            <a:lumOff val="0"/>
            <a:alphaOff val="-24444"/>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79DCA3-8F3A-475E-B33A-89313EAAD68D}">
      <dsp:nvSpPr>
        <dsp:cNvPr id="0" name=""/>
        <dsp:cNvSpPr/>
      </dsp:nvSpPr>
      <dsp:spPr>
        <a:xfrm>
          <a:off x="767391" y="1305642"/>
          <a:ext cx="313479" cy="313479"/>
        </a:xfrm>
        <a:prstGeom prst="ellipse">
          <a:avLst/>
        </a:prstGeom>
        <a:solidFill>
          <a:schemeClr val="accent1">
            <a:alpha val="90000"/>
            <a:hueOff val="0"/>
            <a:satOff val="0"/>
            <a:lumOff val="0"/>
            <a:alphaOff val="-2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78E0A8-8DDA-4510-B989-B8525BEB3B5A}">
      <dsp:nvSpPr>
        <dsp:cNvPr id="0" name=""/>
        <dsp:cNvSpPr/>
      </dsp:nvSpPr>
      <dsp:spPr>
        <a:xfrm>
          <a:off x="1170597" y="1555250"/>
          <a:ext cx="137147" cy="137147"/>
        </a:xfrm>
        <a:prstGeom prst="ellipse">
          <a:avLst/>
        </a:prstGeom>
        <a:solidFill>
          <a:schemeClr val="accent1">
            <a:alpha val="90000"/>
            <a:hueOff val="0"/>
            <a:satOff val="0"/>
            <a:lumOff val="0"/>
            <a:alphaOff val="-28889"/>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1AB175-382D-4893-BE79-835CB377A380}">
      <dsp:nvSpPr>
        <dsp:cNvPr id="0" name=""/>
        <dsp:cNvSpPr/>
      </dsp:nvSpPr>
      <dsp:spPr>
        <a:xfrm>
          <a:off x="1247388" y="1305642"/>
          <a:ext cx="215517" cy="215517"/>
        </a:xfrm>
        <a:prstGeom prst="ellipse">
          <a:avLst/>
        </a:prstGeom>
        <a:solidFill>
          <a:schemeClr val="accent1">
            <a:alpha val="90000"/>
            <a:hueOff val="0"/>
            <a:satOff val="0"/>
            <a:lumOff val="0"/>
            <a:alphaOff val="-31111"/>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FEAC3E-BB7A-41E0-B318-6CB931233EEE}">
      <dsp:nvSpPr>
        <dsp:cNvPr id="0" name=""/>
        <dsp:cNvSpPr/>
      </dsp:nvSpPr>
      <dsp:spPr>
        <a:xfrm>
          <a:off x="1439406" y="1574451"/>
          <a:ext cx="137147" cy="137147"/>
        </a:xfrm>
        <a:prstGeom prst="ellipse">
          <a:avLst/>
        </a:prstGeom>
        <a:solidFill>
          <a:schemeClr val="accent1">
            <a:alpha val="90000"/>
            <a:hueOff val="0"/>
            <a:satOff val="0"/>
            <a:lumOff val="0"/>
            <a:alphaOff val="-3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653F5A-7382-4090-A658-3CC5E41CF10E}">
      <dsp:nvSpPr>
        <dsp:cNvPr id="0" name=""/>
        <dsp:cNvSpPr/>
      </dsp:nvSpPr>
      <dsp:spPr>
        <a:xfrm>
          <a:off x="1612219" y="1267241"/>
          <a:ext cx="313479" cy="313479"/>
        </a:xfrm>
        <a:prstGeom prst="ellipse">
          <a:avLst/>
        </a:prstGeom>
        <a:solidFill>
          <a:schemeClr val="accent1">
            <a:alpha val="90000"/>
            <a:hueOff val="0"/>
            <a:satOff val="0"/>
            <a:lumOff val="0"/>
            <a:alphaOff val="-35556"/>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FC2D2E-BBFF-40C8-A828-B7A4DA68CE0D}">
      <dsp:nvSpPr>
        <dsp:cNvPr id="0" name=""/>
        <dsp:cNvSpPr/>
      </dsp:nvSpPr>
      <dsp:spPr>
        <a:xfrm>
          <a:off x="2034614" y="1190438"/>
          <a:ext cx="215517" cy="215517"/>
        </a:xfrm>
        <a:prstGeom prst="ellipse">
          <a:avLst/>
        </a:prstGeom>
        <a:solidFill>
          <a:schemeClr val="accent1">
            <a:alpha val="90000"/>
            <a:hueOff val="0"/>
            <a:satOff val="0"/>
            <a:lumOff val="0"/>
            <a:alphaOff val="-37778"/>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AAC892-43F9-4281-BA34-83729C7D9667}">
      <dsp:nvSpPr>
        <dsp:cNvPr id="0" name=""/>
        <dsp:cNvSpPr/>
      </dsp:nvSpPr>
      <dsp:spPr>
        <a:xfrm>
          <a:off x="2293545" y="287689"/>
          <a:ext cx="632943" cy="1208357"/>
        </a:xfrm>
        <a:prstGeom prst="chevron">
          <a:avLst>
            <a:gd name="adj" fmla="val 6231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223E463-3564-4948-8C9F-1FCF79ADBFF5}">
      <dsp:nvSpPr>
        <dsp:cNvPr id="0" name=""/>
        <dsp:cNvSpPr/>
      </dsp:nvSpPr>
      <dsp:spPr>
        <a:xfrm>
          <a:off x="3020620" y="288276"/>
          <a:ext cx="1726209" cy="12083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Post-Processing</a:t>
          </a:r>
        </a:p>
      </dsp:txBody>
      <dsp:txXfrm>
        <a:off x="3020620" y="288276"/>
        <a:ext cx="1726209" cy="1208346"/>
      </dsp:txXfrm>
    </dsp:sp>
    <dsp:sp modelId="{D781D819-2135-48AE-866C-4249056ADE29}">
      <dsp:nvSpPr>
        <dsp:cNvPr id="0" name=""/>
        <dsp:cNvSpPr/>
      </dsp:nvSpPr>
      <dsp:spPr>
        <a:xfrm>
          <a:off x="3020620" y="1812519"/>
          <a:ext cx="1726209" cy="1064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t"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r>
            <a:rPr lang="en-US" sz="1200" kern="1200"/>
            <a:t>Decency Chukwuemeka UKONU</a:t>
          </a:r>
        </a:p>
        <a:p>
          <a:pPr marL="114300" lvl="1" indent="-114300" algn="l" defTabSz="533400">
            <a:lnSpc>
              <a:spcPct val="90000"/>
            </a:lnSpc>
            <a:spcBef>
              <a:spcPct val="0"/>
            </a:spcBef>
            <a:spcAft>
              <a:spcPct val="15000"/>
            </a:spcAft>
            <a:buChar char="•"/>
          </a:pPr>
          <a:r>
            <a:rPr lang="en-US" sz="1200" kern="1200"/>
            <a:t>Daniel Pineda Estrada</a:t>
          </a:r>
        </a:p>
        <a:p>
          <a:pPr marL="114300" lvl="1" indent="-114300" algn="l" defTabSz="533400">
            <a:lnSpc>
              <a:spcPct val="90000"/>
            </a:lnSpc>
            <a:spcBef>
              <a:spcPct val="0"/>
            </a:spcBef>
            <a:spcAft>
              <a:spcPct val="15000"/>
            </a:spcAft>
            <a:buChar char="•"/>
          </a:pPr>
          <a:r>
            <a:rPr lang="en-US" sz="1200" kern="1200"/>
            <a:t>Ali Morsy</a:t>
          </a:r>
        </a:p>
      </dsp:txBody>
      <dsp:txXfrm>
        <a:off x="3020620" y="1812519"/>
        <a:ext cx="1726209" cy="1064495"/>
      </dsp:txXfrm>
    </dsp:sp>
    <dsp:sp modelId="{EF27FDFA-2FD0-441F-A421-C574D3EBF9C2}">
      <dsp:nvSpPr>
        <dsp:cNvPr id="0" name=""/>
        <dsp:cNvSpPr/>
      </dsp:nvSpPr>
      <dsp:spPr>
        <a:xfrm>
          <a:off x="4597410" y="272078"/>
          <a:ext cx="632943" cy="1208357"/>
        </a:xfrm>
        <a:prstGeom prst="chevron">
          <a:avLst>
            <a:gd name="adj" fmla="val 62310"/>
          </a:avLst>
        </a:prstGeom>
        <a:solidFill>
          <a:schemeClr val="accent1">
            <a:shade val="90000"/>
            <a:hueOff val="903443"/>
            <a:satOff val="-79795"/>
            <a:lumOff val="5051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0B0BD6-2219-4327-A8F5-5DF7E7B0A99D}">
      <dsp:nvSpPr>
        <dsp:cNvPr id="0" name=""/>
        <dsp:cNvSpPr/>
      </dsp:nvSpPr>
      <dsp:spPr>
        <a:xfrm>
          <a:off x="5379772" y="264355"/>
          <a:ext cx="1780820" cy="1246569"/>
        </a:xfrm>
        <a:prstGeom prst="flowChartConnector">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a:t>Numerical Grid Independence Study</a:t>
          </a:r>
        </a:p>
      </dsp:txBody>
      <dsp:txXfrm>
        <a:off x="5640567" y="446911"/>
        <a:ext cx="1259230" cy="881457"/>
      </dsp:txXfrm>
    </dsp:sp>
    <dsp:sp modelId="{38CB260D-8149-4019-979A-B06BDD7D600D}">
      <dsp:nvSpPr>
        <dsp:cNvPr id="0" name=""/>
        <dsp:cNvSpPr/>
      </dsp:nvSpPr>
      <dsp:spPr>
        <a:xfrm>
          <a:off x="5413931" y="1812519"/>
          <a:ext cx="1726209" cy="1064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t"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r>
            <a:rPr lang="en-US" sz="1200" kern="1200"/>
            <a:t>Taha Javed</a:t>
          </a:r>
        </a:p>
        <a:p>
          <a:pPr marL="114300" lvl="1" indent="-114300" algn="l" defTabSz="533400">
            <a:lnSpc>
              <a:spcPct val="90000"/>
            </a:lnSpc>
            <a:spcBef>
              <a:spcPct val="0"/>
            </a:spcBef>
            <a:spcAft>
              <a:spcPct val="15000"/>
            </a:spcAft>
            <a:buChar char="•"/>
          </a:pPr>
          <a:r>
            <a:rPr lang="en-US" sz="1200" kern="1200"/>
            <a:t>Muhammad Ehab Nauman</a:t>
          </a:r>
        </a:p>
      </dsp:txBody>
      <dsp:txXfrm>
        <a:off x="5413931" y="1812519"/>
        <a:ext cx="1726209" cy="10644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88A88-02A0-4386-A325-9EF54D19A892}">
      <dsp:nvSpPr>
        <dsp:cNvPr id="0" name=""/>
        <dsp:cNvSpPr/>
      </dsp:nvSpPr>
      <dsp:spPr>
        <a:xfrm>
          <a:off x="3481" y="1613514"/>
          <a:ext cx="1319372" cy="108820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None/>
          </a:pPr>
          <a:r>
            <a:rPr lang="en-US" sz="900" b="1" i="0" kern="1200"/>
            <a:t>Project onboarding &amp; planning: </a:t>
          </a:r>
          <a:r>
            <a:rPr lang="en-US" sz="900" b="0" i="0" kern="1200"/>
            <a:t>Understanding project description, defining tasks, assigning roles</a:t>
          </a:r>
          <a:endParaRPr lang="en-US" sz="900" kern="1200"/>
        </a:p>
      </dsp:txBody>
      <dsp:txXfrm>
        <a:off x="28524" y="1638557"/>
        <a:ext cx="1269286" cy="804933"/>
      </dsp:txXfrm>
    </dsp:sp>
    <dsp:sp modelId="{ECB0F108-0F92-4168-BF47-56202F48CFAB}">
      <dsp:nvSpPr>
        <dsp:cNvPr id="0" name=""/>
        <dsp:cNvSpPr/>
      </dsp:nvSpPr>
      <dsp:spPr>
        <a:xfrm>
          <a:off x="747384" y="1881491"/>
          <a:ext cx="1442023" cy="1442023"/>
        </a:xfrm>
        <a:prstGeom prst="leftCircularArrow">
          <a:avLst>
            <a:gd name="adj1" fmla="val 3065"/>
            <a:gd name="adj2" fmla="val 376374"/>
            <a:gd name="adj3" fmla="val 2151885"/>
            <a:gd name="adj4" fmla="val 9024489"/>
            <a:gd name="adj5" fmla="val 3576"/>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ED41C5-65A8-4207-9856-3293E9F9EBCD}">
      <dsp:nvSpPr>
        <dsp:cNvPr id="0" name=""/>
        <dsp:cNvSpPr/>
      </dsp:nvSpPr>
      <dsp:spPr>
        <a:xfrm>
          <a:off x="296674" y="2468534"/>
          <a:ext cx="1172775" cy="46637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Week 01 (12/01 – 16/01)</a:t>
          </a:r>
        </a:p>
      </dsp:txBody>
      <dsp:txXfrm>
        <a:off x="310334" y="2482194"/>
        <a:ext cx="1145455" cy="439054"/>
      </dsp:txXfrm>
    </dsp:sp>
    <dsp:sp modelId="{0EFD094C-0FEC-445B-86D6-4A992697FA1B}">
      <dsp:nvSpPr>
        <dsp:cNvPr id="0" name=""/>
        <dsp:cNvSpPr/>
      </dsp:nvSpPr>
      <dsp:spPr>
        <a:xfrm>
          <a:off x="1679906" y="1613514"/>
          <a:ext cx="1319372" cy="108820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584181"/>
              <a:satOff val="-5623"/>
              <a:lumOff val="43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None/>
          </a:pPr>
          <a:r>
            <a:rPr lang="en-US" sz="900" b="1" i="0" kern="1200"/>
            <a:t>Geometry Cleanup and  </a:t>
          </a:r>
          <a:r>
            <a:rPr lang="en-US" sz="900" b="1" kern="1200"/>
            <a:t>Meshing</a:t>
          </a:r>
          <a:r>
            <a:rPr lang="en-US" sz="900" kern="1200"/>
            <a:t>: Edge and face sizing, quality checks</a:t>
          </a:r>
          <a:r>
            <a:rPr lang="en-US" sz="900" b="0" i="0" kern="1200"/>
            <a:t> defining fluid/solid zones, motion setup</a:t>
          </a:r>
          <a:endParaRPr lang="en-US" sz="900" kern="1200"/>
        </a:p>
      </dsp:txBody>
      <dsp:txXfrm>
        <a:off x="1704949" y="1871744"/>
        <a:ext cx="1269286" cy="804933"/>
      </dsp:txXfrm>
    </dsp:sp>
    <dsp:sp modelId="{E88BA0C6-5B8C-4A99-95D9-794DE03AF5A7}">
      <dsp:nvSpPr>
        <dsp:cNvPr id="0" name=""/>
        <dsp:cNvSpPr/>
      </dsp:nvSpPr>
      <dsp:spPr>
        <a:xfrm>
          <a:off x="2412814" y="949053"/>
          <a:ext cx="1610610" cy="1610610"/>
        </a:xfrm>
        <a:prstGeom prst="circularArrow">
          <a:avLst>
            <a:gd name="adj1" fmla="val 2744"/>
            <a:gd name="adj2" fmla="val 334452"/>
            <a:gd name="adj3" fmla="val 19490037"/>
            <a:gd name="adj4" fmla="val 12575511"/>
            <a:gd name="adj5" fmla="val 3201"/>
          </a:avLst>
        </a:prstGeom>
        <a:solidFill>
          <a:schemeClr val="accent4">
            <a:hueOff val="-778908"/>
            <a:satOff val="-7497"/>
            <a:lumOff val="575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A1C474A-D4AA-485F-834A-820686239339}">
      <dsp:nvSpPr>
        <dsp:cNvPr id="0" name=""/>
        <dsp:cNvSpPr/>
      </dsp:nvSpPr>
      <dsp:spPr>
        <a:xfrm>
          <a:off x="1973100" y="1380327"/>
          <a:ext cx="1172775" cy="466374"/>
        </a:xfrm>
        <a:prstGeom prst="roundRect">
          <a:avLst>
            <a:gd name="adj" fmla="val 10000"/>
          </a:avLst>
        </a:prstGeom>
        <a:solidFill>
          <a:schemeClr val="accent4">
            <a:hueOff val="-584181"/>
            <a:satOff val="-5623"/>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Week 02 (19/01 – 23/01)</a:t>
          </a:r>
        </a:p>
      </dsp:txBody>
      <dsp:txXfrm>
        <a:off x="1986760" y="1393987"/>
        <a:ext cx="1145455" cy="439054"/>
      </dsp:txXfrm>
    </dsp:sp>
    <dsp:sp modelId="{31EDF09D-1D8D-4AA7-AF25-034DA00D9E2C}">
      <dsp:nvSpPr>
        <dsp:cNvPr id="0" name=""/>
        <dsp:cNvSpPr/>
      </dsp:nvSpPr>
      <dsp:spPr>
        <a:xfrm>
          <a:off x="3356332" y="1613514"/>
          <a:ext cx="1319372" cy="108820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168362"/>
              <a:satOff val="-11246"/>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Char char="•"/>
          </a:pPr>
          <a:r>
            <a:rPr lang="en-US" sz="900" b="1" kern="1200"/>
            <a:t>Solver Setup</a:t>
          </a:r>
          <a:r>
            <a:rPr lang="en-US" sz="900" kern="1200"/>
            <a:t>: </a:t>
          </a:r>
          <a:r>
            <a:rPr lang="en-US" sz="900" b="0" i="0" kern="1200"/>
            <a:t>Physics models, boundary conditions, time‑step selection</a:t>
          </a:r>
          <a:endParaRPr lang="en-US" sz="900" kern="1200"/>
        </a:p>
      </dsp:txBody>
      <dsp:txXfrm>
        <a:off x="3381375" y="1638557"/>
        <a:ext cx="1269286" cy="804933"/>
      </dsp:txXfrm>
    </dsp:sp>
    <dsp:sp modelId="{B403B5E3-C468-4C52-9EAF-5133BA970987}">
      <dsp:nvSpPr>
        <dsp:cNvPr id="0" name=""/>
        <dsp:cNvSpPr/>
      </dsp:nvSpPr>
      <dsp:spPr>
        <a:xfrm>
          <a:off x="4100235" y="1881491"/>
          <a:ext cx="1442023" cy="1442023"/>
        </a:xfrm>
        <a:prstGeom prst="leftCircularArrow">
          <a:avLst>
            <a:gd name="adj1" fmla="val 3065"/>
            <a:gd name="adj2" fmla="val 376374"/>
            <a:gd name="adj3" fmla="val 2151885"/>
            <a:gd name="adj4" fmla="val 9024489"/>
            <a:gd name="adj5" fmla="val 3576"/>
          </a:avLst>
        </a:prstGeom>
        <a:solidFill>
          <a:schemeClr val="accent4">
            <a:hueOff val="-1557816"/>
            <a:satOff val="-14994"/>
            <a:lumOff val="1150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7DDBFA-10D3-4601-BB01-8A851C98AF36}">
      <dsp:nvSpPr>
        <dsp:cNvPr id="0" name=""/>
        <dsp:cNvSpPr/>
      </dsp:nvSpPr>
      <dsp:spPr>
        <a:xfrm>
          <a:off x="3649526" y="2468534"/>
          <a:ext cx="1172775" cy="466374"/>
        </a:xfrm>
        <a:prstGeom prst="roundRect">
          <a:avLst>
            <a:gd name="adj" fmla="val 10000"/>
          </a:avLst>
        </a:prstGeom>
        <a:solidFill>
          <a:schemeClr val="accent4">
            <a:hueOff val="-1168362"/>
            <a:satOff val="-11246"/>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Week 03 (26/01 – 30/01)</a:t>
          </a:r>
        </a:p>
      </dsp:txBody>
      <dsp:txXfrm>
        <a:off x="3663186" y="2482194"/>
        <a:ext cx="1145455" cy="439054"/>
      </dsp:txXfrm>
    </dsp:sp>
    <dsp:sp modelId="{D72F1F91-78EC-438A-917A-CF496AEF5546}">
      <dsp:nvSpPr>
        <dsp:cNvPr id="0" name=""/>
        <dsp:cNvSpPr/>
      </dsp:nvSpPr>
      <dsp:spPr>
        <a:xfrm>
          <a:off x="5032757" y="1613514"/>
          <a:ext cx="1319372" cy="108820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752543"/>
              <a:satOff val="-16868"/>
              <a:lumOff val="129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None/>
          </a:pPr>
          <a:r>
            <a:rPr lang="en-US" sz="900" b="1" kern="1200"/>
            <a:t>Post-Processing: </a:t>
          </a:r>
          <a:r>
            <a:rPr lang="en-US" sz="900" b="0" i="0" kern="1200"/>
            <a:t>Extracting contours, vectors, pressure plots, heat flux, interface evolution</a:t>
          </a:r>
          <a:endParaRPr lang="en-US" sz="900" kern="1200"/>
        </a:p>
      </dsp:txBody>
      <dsp:txXfrm>
        <a:off x="5057800" y="1871744"/>
        <a:ext cx="1269286" cy="804933"/>
      </dsp:txXfrm>
    </dsp:sp>
    <dsp:sp modelId="{7AF9B493-6BAC-466D-9FC3-5B5DC9DFA435}">
      <dsp:nvSpPr>
        <dsp:cNvPr id="0" name=""/>
        <dsp:cNvSpPr/>
      </dsp:nvSpPr>
      <dsp:spPr>
        <a:xfrm>
          <a:off x="5765666" y="949053"/>
          <a:ext cx="1610610" cy="1610610"/>
        </a:xfrm>
        <a:prstGeom prst="circularArrow">
          <a:avLst>
            <a:gd name="adj1" fmla="val 2744"/>
            <a:gd name="adj2" fmla="val 334452"/>
            <a:gd name="adj3" fmla="val 19490037"/>
            <a:gd name="adj4" fmla="val 12575511"/>
            <a:gd name="adj5" fmla="val 3201"/>
          </a:avLst>
        </a:prstGeom>
        <a:solidFill>
          <a:schemeClr val="accent4">
            <a:hueOff val="-2336724"/>
            <a:satOff val="-22491"/>
            <a:lumOff val="1725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698737-9B1A-44BE-8372-B99C6A4F19B7}">
      <dsp:nvSpPr>
        <dsp:cNvPr id="0" name=""/>
        <dsp:cNvSpPr/>
      </dsp:nvSpPr>
      <dsp:spPr>
        <a:xfrm>
          <a:off x="5325951" y="1380327"/>
          <a:ext cx="1172775" cy="466374"/>
        </a:xfrm>
        <a:prstGeom prst="roundRect">
          <a:avLst>
            <a:gd name="adj" fmla="val 10000"/>
          </a:avLst>
        </a:prstGeom>
        <a:solidFill>
          <a:schemeClr val="accent4">
            <a:hueOff val="-1752543"/>
            <a:satOff val="-16868"/>
            <a:lumOff val="1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Week 04 (02/02 – 06/02)</a:t>
          </a:r>
        </a:p>
      </dsp:txBody>
      <dsp:txXfrm>
        <a:off x="5339611" y="1393987"/>
        <a:ext cx="1145455" cy="439054"/>
      </dsp:txXfrm>
    </dsp:sp>
    <dsp:sp modelId="{70068AAA-CDFF-4835-8862-ED1B7E017341}">
      <dsp:nvSpPr>
        <dsp:cNvPr id="0" name=""/>
        <dsp:cNvSpPr/>
      </dsp:nvSpPr>
      <dsp:spPr>
        <a:xfrm>
          <a:off x="6709183" y="1613514"/>
          <a:ext cx="1319372" cy="108820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336724"/>
              <a:satOff val="-22491"/>
              <a:lumOff val="172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None/>
          </a:pPr>
          <a:r>
            <a:rPr lang="en-US" sz="900" b="1" i="0" kern="1200"/>
            <a:t>Mesh Independence Study</a:t>
          </a:r>
          <a:r>
            <a:rPr lang="en-US" sz="900" b="0" i="0" kern="1200"/>
            <a:t>, </a:t>
          </a:r>
          <a:r>
            <a:rPr lang="en-US" sz="900" b="1" i="0" kern="1200"/>
            <a:t>Presentation preparation</a:t>
          </a:r>
          <a:r>
            <a:rPr lang="en-US" sz="900" b="0" i="0" kern="1200"/>
            <a:t>, cross-checking results, team integration</a:t>
          </a:r>
          <a:endParaRPr lang="en-US" sz="900" kern="1200"/>
        </a:p>
      </dsp:txBody>
      <dsp:txXfrm>
        <a:off x="6734226" y="1638557"/>
        <a:ext cx="1269286" cy="804933"/>
      </dsp:txXfrm>
    </dsp:sp>
    <dsp:sp modelId="{A9D01A4A-D554-44AB-AC0A-4FCCF214E1D4}">
      <dsp:nvSpPr>
        <dsp:cNvPr id="0" name=""/>
        <dsp:cNvSpPr/>
      </dsp:nvSpPr>
      <dsp:spPr>
        <a:xfrm>
          <a:off x="7002377" y="2468534"/>
          <a:ext cx="1172775" cy="466374"/>
        </a:xfrm>
        <a:prstGeom prst="roundRect">
          <a:avLst>
            <a:gd name="adj" fmla="val 10000"/>
          </a:avLst>
        </a:prstGeom>
        <a:solidFill>
          <a:schemeClr val="accent4">
            <a:hueOff val="-2336724"/>
            <a:satOff val="-22491"/>
            <a:lumOff val="172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Week 05 (09/02 – 13/02)</a:t>
          </a:r>
        </a:p>
      </dsp:txBody>
      <dsp:txXfrm>
        <a:off x="7016037" y="2482194"/>
        <a:ext cx="1145455" cy="4390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7F057-0AFC-4BB3-B53B-7711A835F6CC}">
      <dsp:nvSpPr>
        <dsp:cNvPr id="0" name=""/>
        <dsp:cNvSpPr/>
      </dsp:nvSpPr>
      <dsp:spPr>
        <a:xfrm>
          <a:off x="0" y="0"/>
          <a:ext cx="3092395" cy="846427"/>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Edge Sizing </a:t>
          </a:r>
        </a:p>
        <a:p>
          <a:pPr marL="0" lvl="0" indent="0" algn="l" defTabSz="533400">
            <a:lnSpc>
              <a:spcPct val="90000"/>
            </a:lnSpc>
            <a:spcBef>
              <a:spcPct val="0"/>
            </a:spcBef>
            <a:spcAft>
              <a:spcPct val="35000"/>
            </a:spcAft>
            <a:buNone/>
          </a:pPr>
          <a:r>
            <a:rPr lang="en-US" sz="1200" kern="1200"/>
            <a:t>Horizontal walls – 50 Divisions</a:t>
          </a:r>
        </a:p>
        <a:p>
          <a:pPr marL="0" lvl="0" indent="0" algn="l" defTabSz="533400">
            <a:lnSpc>
              <a:spcPct val="90000"/>
            </a:lnSpc>
            <a:spcBef>
              <a:spcPct val="0"/>
            </a:spcBef>
            <a:spcAft>
              <a:spcPct val="35000"/>
            </a:spcAft>
            <a:buNone/>
          </a:pPr>
          <a:r>
            <a:rPr lang="en-US" sz="1200" kern="1200"/>
            <a:t>Vertical walls – 10 Divisions</a:t>
          </a:r>
        </a:p>
      </dsp:txBody>
      <dsp:txXfrm>
        <a:off x="24791" y="24791"/>
        <a:ext cx="2217546" cy="796845"/>
      </dsp:txXfrm>
    </dsp:sp>
    <dsp:sp modelId="{0E94EBE2-884F-41EC-98DC-327DA057DCAE}">
      <dsp:nvSpPr>
        <dsp:cNvPr id="0" name=""/>
        <dsp:cNvSpPr/>
      </dsp:nvSpPr>
      <dsp:spPr>
        <a:xfrm>
          <a:off x="545716" y="1034522"/>
          <a:ext cx="3092395" cy="846427"/>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Face Sizing with element size = 0.005m</a:t>
          </a:r>
        </a:p>
        <a:p>
          <a:pPr marL="0" lvl="0" indent="0" algn="l" defTabSz="533400">
            <a:lnSpc>
              <a:spcPct val="90000"/>
            </a:lnSpc>
            <a:spcBef>
              <a:spcPct val="0"/>
            </a:spcBef>
            <a:spcAft>
              <a:spcPct val="35000"/>
            </a:spcAft>
            <a:buNone/>
          </a:pPr>
          <a:r>
            <a:rPr lang="en-US" sz="1200" kern="1200"/>
            <a:t>Skewness ~ 0.5, Orthogonality  ~ 0.95</a:t>
          </a:r>
        </a:p>
      </dsp:txBody>
      <dsp:txXfrm>
        <a:off x="570507" y="1059313"/>
        <a:ext cx="1946918" cy="796845"/>
      </dsp:txXfrm>
    </dsp:sp>
    <dsp:sp modelId="{951B0ACF-50F0-42E8-AC04-DC5B9BB11D7C}">
      <dsp:nvSpPr>
        <dsp:cNvPr id="0" name=""/>
        <dsp:cNvSpPr/>
      </dsp:nvSpPr>
      <dsp:spPr>
        <a:xfrm>
          <a:off x="2542217" y="622087"/>
          <a:ext cx="550177" cy="550177"/>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2666007" y="622087"/>
        <a:ext cx="302597" cy="4140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6B23DA-FD0B-4A52-BEA3-B60EE72179CE}">
      <dsp:nvSpPr>
        <dsp:cNvPr id="0" name=""/>
        <dsp:cNvSpPr/>
      </dsp:nvSpPr>
      <dsp:spPr>
        <a:xfrm>
          <a:off x="1225" y="586930"/>
          <a:ext cx="1893093" cy="75723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Arial"/>
            </a:rPr>
            <a:t>Tight Iterations</a:t>
          </a:r>
          <a:endParaRPr lang="en-US" sz="1700" kern="1200"/>
        </a:p>
      </dsp:txBody>
      <dsp:txXfrm>
        <a:off x="379844" y="586930"/>
        <a:ext cx="1135856" cy="757237"/>
      </dsp:txXfrm>
    </dsp:sp>
    <dsp:sp modelId="{5CD7EE2C-8B30-40A4-816D-52F98559379F}">
      <dsp:nvSpPr>
        <dsp:cNvPr id="0" name=""/>
        <dsp:cNvSpPr/>
      </dsp:nvSpPr>
      <dsp:spPr>
        <a:xfrm>
          <a:off x="1648216" y="651295"/>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20 step workout</a:t>
          </a:r>
          <a:endParaRPr lang="en-US" sz="700" kern="1200"/>
        </a:p>
      </dsp:txBody>
      <dsp:txXfrm>
        <a:off x="1962470" y="651295"/>
        <a:ext cx="942760" cy="628507"/>
      </dsp:txXfrm>
    </dsp:sp>
    <dsp:sp modelId="{DDF54D85-02CE-4184-A351-4B0C3B7A426F}">
      <dsp:nvSpPr>
        <dsp:cNvPr id="0" name=""/>
        <dsp:cNvSpPr/>
      </dsp:nvSpPr>
      <dsp:spPr>
        <a:xfrm>
          <a:off x="2999507" y="651295"/>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Solver</a:t>
          </a:r>
          <a:r>
            <a:rPr lang="en-US" sz="700" kern="1200"/>
            <a:t> </a:t>
          </a:r>
          <a:r>
            <a:rPr lang="en-US" sz="700" kern="1200">
              <a:latin typeface="Arial"/>
            </a:rPr>
            <a:t>refines the</a:t>
          </a:r>
          <a:r>
            <a:rPr lang="en-US" sz="700" kern="1200"/>
            <a:t> math before moving on. </a:t>
          </a:r>
        </a:p>
      </dsp:txBody>
      <dsp:txXfrm>
        <a:off x="3313761" y="651295"/>
        <a:ext cx="942760" cy="628507"/>
      </dsp:txXfrm>
    </dsp:sp>
    <dsp:sp modelId="{86F81637-40FF-4F3E-B372-7E665606CC92}">
      <dsp:nvSpPr>
        <dsp:cNvPr id="0" name=""/>
        <dsp:cNvSpPr/>
      </dsp:nvSpPr>
      <dsp:spPr>
        <a:xfrm>
          <a:off x="1225" y="1450181"/>
          <a:ext cx="1893093" cy="75723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rtl="0">
            <a:lnSpc>
              <a:spcPct val="90000"/>
            </a:lnSpc>
            <a:spcBef>
              <a:spcPct val="0"/>
            </a:spcBef>
            <a:spcAft>
              <a:spcPct val="35000"/>
            </a:spcAft>
            <a:buNone/>
          </a:pPr>
          <a:r>
            <a:rPr lang="en-US" sz="1700" kern="1200">
              <a:latin typeface="Arial"/>
            </a:rPr>
            <a:t> Sawtooth</a:t>
          </a:r>
          <a:r>
            <a:rPr lang="en-US" sz="1700" kern="1200"/>
            <a:t> Drop</a:t>
          </a:r>
        </a:p>
      </dsp:txBody>
      <dsp:txXfrm>
        <a:off x="379844" y="1450181"/>
        <a:ext cx="1135856" cy="757237"/>
      </dsp:txXfrm>
    </dsp:sp>
    <dsp:sp modelId="{E2A381D7-66B9-485D-9982-629370902126}">
      <dsp:nvSpPr>
        <dsp:cNvPr id="0" name=""/>
        <dsp:cNvSpPr/>
      </dsp:nvSpPr>
      <dsp:spPr>
        <a:xfrm>
          <a:off x="1648216" y="1514546"/>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Residual Nose-Dive</a:t>
          </a:r>
        </a:p>
      </dsp:txBody>
      <dsp:txXfrm>
        <a:off x="1962470" y="1514546"/>
        <a:ext cx="942760" cy="628507"/>
      </dsp:txXfrm>
    </dsp:sp>
    <dsp:sp modelId="{0E2825A1-B6B0-4D27-B4A5-B27439CA4DA8}">
      <dsp:nvSpPr>
        <dsp:cNvPr id="0" name=""/>
        <dsp:cNvSpPr/>
      </dsp:nvSpPr>
      <dsp:spPr>
        <a:xfrm>
          <a:off x="2999507" y="1514546"/>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b="0" kern="1200"/>
            <a:t>Error levels drop </a:t>
          </a:r>
          <a:r>
            <a:rPr lang="en-US" sz="700" b="0" kern="1200">
              <a:latin typeface="Arial"/>
            </a:rPr>
            <a:t>up to 3</a:t>
          </a:r>
          <a:r>
            <a:rPr lang="en-US" sz="700" b="0" kern="1200"/>
            <a:t>+ orders of magnitude every 0.005s.</a:t>
          </a:r>
          <a:r>
            <a:rPr lang="en-US" sz="700" kern="1200">
              <a:latin typeface="Arial"/>
            </a:rPr>
            <a:t> </a:t>
          </a:r>
        </a:p>
      </dsp:txBody>
      <dsp:txXfrm>
        <a:off x="3313761" y="1514546"/>
        <a:ext cx="942760" cy="628507"/>
      </dsp:txXfrm>
    </dsp:sp>
    <dsp:sp modelId="{3A724620-7029-4444-82D5-860BCFEE9A98}">
      <dsp:nvSpPr>
        <dsp:cNvPr id="0" name=""/>
        <dsp:cNvSpPr/>
      </dsp:nvSpPr>
      <dsp:spPr>
        <a:xfrm>
          <a:off x="1225" y="2313431"/>
          <a:ext cx="1893093" cy="75723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a:lnSpc>
              <a:spcPct val="90000"/>
            </a:lnSpc>
            <a:spcBef>
              <a:spcPct val="0"/>
            </a:spcBef>
            <a:spcAft>
              <a:spcPct val="35000"/>
            </a:spcAft>
            <a:buNone/>
          </a:pPr>
          <a:r>
            <a:rPr lang="en-US" sz="1700" kern="1200">
              <a:latin typeface="Arial"/>
            </a:rPr>
            <a:t> </a:t>
          </a:r>
          <a:r>
            <a:rPr lang="en-US" sz="1700" kern="1200"/>
            <a:t>Thermal Confidence</a:t>
          </a:r>
        </a:p>
      </dsp:txBody>
      <dsp:txXfrm>
        <a:off x="379844" y="2313431"/>
        <a:ext cx="1135856" cy="757237"/>
      </dsp:txXfrm>
    </dsp:sp>
    <dsp:sp modelId="{580E9869-8244-4962-AA22-72C557FC8CFC}">
      <dsp:nvSpPr>
        <dsp:cNvPr id="0" name=""/>
        <dsp:cNvSpPr/>
      </dsp:nvSpPr>
      <dsp:spPr>
        <a:xfrm>
          <a:off x="1648216" y="2377797"/>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Energy </a:t>
          </a:r>
          <a:r>
            <a:rPr lang="en-US" sz="700" kern="1200">
              <a:latin typeface="Arial"/>
            </a:rPr>
            <a:t>&lt;</a:t>
          </a:r>
          <a:r>
            <a:rPr lang="en-US" sz="700" kern="1200"/>
            <a:t> </a:t>
          </a:r>
          <a:r>
            <a:rPr lang="en-US" sz="700" kern="1200">
              <a:latin typeface="Arial"/>
            </a:rPr>
            <a:t>10</a:t>
          </a:r>
          <a:r>
            <a:rPr lang="en-US" sz="700" kern="1200" baseline="30000">
              <a:latin typeface="Arial"/>
            </a:rPr>
            <a:t>-6</a:t>
          </a:r>
          <a:endParaRPr lang="en-US" sz="700" kern="1200" baseline="30000"/>
        </a:p>
      </dsp:txBody>
      <dsp:txXfrm>
        <a:off x="1962470" y="2377797"/>
        <a:ext cx="942760" cy="628507"/>
      </dsp:txXfrm>
    </dsp:sp>
    <dsp:sp modelId="{70A762CD-7745-41E1-A9BF-5BF1F9445BCA}">
      <dsp:nvSpPr>
        <dsp:cNvPr id="0" name=""/>
        <dsp:cNvSpPr/>
      </dsp:nvSpPr>
      <dsp:spPr>
        <a:xfrm>
          <a:off x="2999507" y="2377797"/>
          <a:ext cx="1571267" cy="62850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b="0" kern="1200"/>
            <a:t>Deep convergence in the Energy </a:t>
          </a:r>
          <a:r>
            <a:rPr lang="en-US" sz="700" b="0" kern="1200">
              <a:latin typeface="Arial"/>
            </a:rPr>
            <a:t>equation. Heat</a:t>
          </a:r>
          <a:r>
            <a:rPr lang="en-US" sz="700" b="0" kern="1200"/>
            <a:t> transfer results aren't just </a:t>
          </a:r>
          <a:r>
            <a:rPr lang="en-US" sz="700" b="0" kern="1200">
              <a:latin typeface="Arial"/>
            </a:rPr>
            <a:t>guesses. They’re</a:t>
          </a:r>
          <a:r>
            <a:rPr lang="en-US" sz="700" b="0" kern="1200"/>
            <a:t> </a:t>
          </a:r>
          <a:r>
            <a:rPr lang="en-US" sz="700" b="0" kern="1200">
              <a:latin typeface="Arial"/>
            </a:rPr>
            <a:t>reliable</a:t>
          </a:r>
          <a:r>
            <a:rPr lang="en-US" sz="700" b="0" kern="1200"/>
            <a:t>.</a:t>
          </a:r>
        </a:p>
      </dsp:txBody>
      <dsp:txXfrm>
        <a:off x="3313761" y="2377797"/>
        <a:ext cx="942760" cy="62850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6B23DA-FD0B-4A52-BEA3-B60EE72179CE}">
      <dsp:nvSpPr>
        <dsp:cNvPr id="0" name=""/>
        <dsp:cNvSpPr/>
      </dsp:nvSpPr>
      <dsp:spPr>
        <a:xfrm>
          <a:off x="1198" y="569240"/>
          <a:ext cx="1852044" cy="74081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Arial"/>
            </a:rPr>
            <a:t>Tighter Iterations</a:t>
          </a:r>
          <a:endParaRPr lang="en-US" sz="1600" kern="1200"/>
        </a:p>
      </dsp:txBody>
      <dsp:txXfrm>
        <a:off x="371607" y="569240"/>
        <a:ext cx="1111227" cy="740817"/>
      </dsp:txXfrm>
    </dsp:sp>
    <dsp:sp modelId="{5CD7EE2C-8B30-40A4-816D-52F98559379F}">
      <dsp:nvSpPr>
        <dsp:cNvPr id="0" name=""/>
        <dsp:cNvSpPr/>
      </dsp:nvSpPr>
      <dsp:spPr>
        <a:xfrm>
          <a:off x="1612476" y="632210"/>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20 step workout</a:t>
          </a:r>
          <a:endParaRPr lang="en-US" sz="700" kern="1200"/>
        </a:p>
      </dsp:txBody>
      <dsp:txXfrm>
        <a:off x="1919915" y="632210"/>
        <a:ext cx="922318" cy="614878"/>
      </dsp:txXfrm>
    </dsp:sp>
    <dsp:sp modelId="{DDF54D85-02CE-4184-A351-4B0C3B7A426F}">
      <dsp:nvSpPr>
        <dsp:cNvPr id="0" name=""/>
        <dsp:cNvSpPr/>
      </dsp:nvSpPr>
      <dsp:spPr>
        <a:xfrm>
          <a:off x="2934465" y="632210"/>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Higher gas density. Solver</a:t>
          </a:r>
          <a:r>
            <a:rPr lang="en-US" sz="700" kern="1200"/>
            <a:t> </a:t>
          </a:r>
          <a:r>
            <a:rPr lang="en-US" sz="700" kern="1200">
              <a:latin typeface="Arial"/>
            </a:rPr>
            <a:t>refines the</a:t>
          </a:r>
          <a:r>
            <a:rPr lang="en-US" sz="700" kern="1200"/>
            <a:t> math before moving on. </a:t>
          </a:r>
        </a:p>
      </dsp:txBody>
      <dsp:txXfrm>
        <a:off x="3241904" y="632210"/>
        <a:ext cx="922318" cy="614878"/>
      </dsp:txXfrm>
    </dsp:sp>
    <dsp:sp modelId="{86F81637-40FF-4F3E-B372-7E665606CC92}">
      <dsp:nvSpPr>
        <dsp:cNvPr id="0" name=""/>
        <dsp:cNvSpPr/>
      </dsp:nvSpPr>
      <dsp:spPr>
        <a:xfrm>
          <a:off x="1198" y="1413772"/>
          <a:ext cx="1852044" cy="74081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Arial"/>
            </a:rPr>
            <a:t> Sawtooth</a:t>
          </a:r>
          <a:r>
            <a:rPr lang="en-US" sz="1600" kern="1200"/>
            <a:t> Drop</a:t>
          </a:r>
        </a:p>
      </dsp:txBody>
      <dsp:txXfrm>
        <a:off x="371607" y="1413772"/>
        <a:ext cx="1111227" cy="740817"/>
      </dsp:txXfrm>
    </dsp:sp>
    <dsp:sp modelId="{E2A381D7-66B9-485D-9982-629370902126}">
      <dsp:nvSpPr>
        <dsp:cNvPr id="0" name=""/>
        <dsp:cNvSpPr/>
      </dsp:nvSpPr>
      <dsp:spPr>
        <a:xfrm>
          <a:off x="1612476" y="1476742"/>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Residual Nose-Dive</a:t>
          </a:r>
        </a:p>
      </dsp:txBody>
      <dsp:txXfrm>
        <a:off x="1919915" y="1476742"/>
        <a:ext cx="922318" cy="614878"/>
      </dsp:txXfrm>
    </dsp:sp>
    <dsp:sp modelId="{0E2825A1-B6B0-4D27-B4A5-B27439CA4DA8}">
      <dsp:nvSpPr>
        <dsp:cNvPr id="0" name=""/>
        <dsp:cNvSpPr/>
      </dsp:nvSpPr>
      <dsp:spPr>
        <a:xfrm>
          <a:off x="2934465" y="1476742"/>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b="0" kern="1200"/>
            <a:t>Error levels drop </a:t>
          </a:r>
          <a:r>
            <a:rPr lang="en-US" sz="700" b="0" kern="1200">
              <a:latin typeface="Arial"/>
            </a:rPr>
            <a:t>up to 3</a:t>
          </a:r>
          <a:r>
            <a:rPr lang="en-US" sz="700" b="0" kern="1200"/>
            <a:t>+ orders of magnitude every 0.005s.</a:t>
          </a:r>
          <a:r>
            <a:rPr lang="en-US" sz="700" kern="1200">
              <a:latin typeface="Arial"/>
            </a:rPr>
            <a:t> </a:t>
          </a:r>
        </a:p>
      </dsp:txBody>
      <dsp:txXfrm>
        <a:off x="3241904" y="1476742"/>
        <a:ext cx="922318" cy="614878"/>
      </dsp:txXfrm>
    </dsp:sp>
    <dsp:sp modelId="{3A724620-7029-4444-82D5-860BCFEE9A98}">
      <dsp:nvSpPr>
        <dsp:cNvPr id="0" name=""/>
        <dsp:cNvSpPr/>
      </dsp:nvSpPr>
      <dsp:spPr>
        <a:xfrm>
          <a:off x="1198" y="2258304"/>
          <a:ext cx="1852044" cy="74081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a:rPr>
            <a:t> </a:t>
          </a:r>
          <a:r>
            <a:rPr lang="en-US" sz="1600" kern="1200"/>
            <a:t>Thermal Confidence</a:t>
          </a:r>
        </a:p>
      </dsp:txBody>
      <dsp:txXfrm>
        <a:off x="371607" y="2258304"/>
        <a:ext cx="1111227" cy="740817"/>
      </dsp:txXfrm>
    </dsp:sp>
    <dsp:sp modelId="{580E9869-8244-4962-AA22-72C557FC8CFC}">
      <dsp:nvSpPr>
        <dsp:cNvPr id="0" name=""/>
        <dsp:cNvSpPr/>
      </dsp:nvSpPr>
      <dsp:spPr>
        <a:xfrm>
          <a:off x="1612476" y="2321274"/>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Energy </a:t>
          </a:r>
          <a:r>
            <a:rPr lang="en-US" sz="700" kern="1200">
              <a:latin typeface="Arial"/>
            </a:rPr>
            <a:t>&lt;</a:t>
          </a:r>
          <a:r>
            <a:rPr lang="en-US" sz="700" kern="1200"/>
            <a:t> </a:t>
          </a:r>
          <a:r>
            <a:rPr lang="en-US" sz="700" kern="1200">
              <a:latin typeface="Arial"/>
            </a:rPr>
            <a:t>10</a:t>
          </a:r>
          <a:r>
            <a:rPr lang="en-US" sz="700" kern="1200" baseline="30000">
              <a:latin typeface="Arial"/>
            </a:rPr>
            <a:t>-6</a:t>
          </a:r>
          <a:endParaRPr lang="en-US" sz="700" kern="1200" baseline="30000"/>
        </a:p>
      </dsp:txBody>
      <dsp:txXfrm>
        <a:off x="1919915" y="2321274"/>
        <a:ext cx="922318" cy="614878"/>
      </dsp:txXfrm>
    </dsp:sp>
    <dsp:sp modelId="{70A762CD-7745-41E1-A9BF-5BF1F9445BCA}">
      <dsp:nvSpPr>
        <dsp:cNvPr id="0" name=""/>
        <dsp:cNvSpPr/>
      </dsp:nvSpPr>
      <dsp:spPr>
        <a:xfrm>
          <a:off x="2934465" y="2321274"/>
          <a:ext cx="1537196" cy="61487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b="0" kern="1200"/>
            <a:t>Deep convergence in the Energy </a:t>
          </a:r>
          <a:r>
            <a:rPr lang="en-US" sz="700" b="0" kern="1200">
              <a:latin typeface="Arial"/>
            </a:rPr>
            <a:t>equation. Heat</a:t>
          </a:r>
          <a:r>
            <a:rPr lang="en-US" sz="700" b="0" kern="1200"/>
            <a:t> transfer results aren't just </a:t>
          </a:r>
          <a:r>
            <a:rPr lang="en-US" sz="700" b="0" kern="1200">
              <a:latin typeface="Arial"/>
            </a:rPr>
            <a:t>guesses. They’re</a:t>
          </a:r>
          <a:r>
            <a:rPr lang="en-US" sz="700" b="0" kern="1200"/>
            <a:t> </a:t>
          </a:r>
          <a:r>
            <a:rPr lang="en-US" sz="700" b="0" kern="1200">
              <a:latin typeface="Arial"/>
            </a:rPr>
            <a:t>reliable</a:t>
          </a:r>
          <a:r>
            <a:rPr lang="en-US" sz="700" b="0" kern="1200"/>
            <a:t>.</a:t>
          </a:r>
        </a:p>
      </dsp:txBody>
      <dsp:txXfrm>
        <a:off x="3241904" y="2321274"/>
        <a:ext cx="922318" cy="6148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DFF81E-C925-42D5-9BD2-142F18202BB6}">
      <dsp:nvSpPr>
        <dsp:cNvPr id="0" name=""/>
        <dsp:cNvSpPr/>
      </dsp:nvSpPr>
      <dsp:spPr>
        <a:xfrm>
          <a:off x="1110" y="581035"/>
          <a:ext cx="1715663" cy="68626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rtl="0">
            <a:lnSpc>
              <a:spcPct val="90000"/>
            </a:lnSpc>
            <a:spcBef>
              <a:spcPct val="0"/>
            </a:spcBef>
            <a:spcAft>
              <a:spcPct val="35000"/>
            </a:spcAft>
            <a:buNone/>
          </a:pPr>
          <a:r>
            <a:rPr lang="en-US" sz="1700" kern="1200"/>
            <a:t>Stability Threshold</a:t>
          </a:r>
        </a:p>
      </dsp:txBody>
      <dsp:txXfrm>
        <a:off x="344243" y="581035"/>
        <a:ext cx="1029398" cy="686265"/>
      </dsp:txXfrm>
    </dsp:sp>
    <dsp:sp modelId="{DEDACF94-0BA5-412D-9501-EC9B657C2C1F}">
      <dsp:nvSpPr>
        <dsp:cNvPr id="0" name=""/>
        <dsp:cNvSpPr/>
      </dsp:nvSpPr>
      <dsp:spPr>
        <a:xfrm>
          <a:off x="1493737" y="639368"/>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CFL &lt; 1.0 Limit</a:t>
          </a:r>
        </a:p>
      </dsp:txBody>
      <dsp:txXfrm>
        <a:off x="1778537" y="639368"/>
        <a:ext cx="854400" cy="569600"/>
      </dsp:txXfrm>
    </dsp:sp>
    <dsp:sp modelId="{F0580F15-3A45-4341-A6CA-3C6AE8320AB1}">
      <dsp:nvSpPr>
        <dsp:cNvPr id="0" name=""/>
        <dsp:cNvSpPr/>
      </dsp:nvSpPr>
      <dsp:spPr>
        <a:xfrm>
          <a:off x="2718378" y="639368"/>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This</a:t>
          </a:r>
          <a:r>
            <a:rPr lang="en-US" sz="700" kern="1200"/>
            <a:t> acts as a speed limit to prevent the liquid interface from diverging.</a:t>
          </a:r>
        </a:p>
      </dsp:txBody>
      <dsp:txXfrm>
        <a:off x="3003178" y="639368"/>
        <a:ext cx="854400" cy="569600"/>
      </dsp:txXfrm>
    </dsp:sp>
    <dsp:sp modelId="{8C9D8F37-D50B-443B-9D72-C1127206198C}">
      <dsp:nvSpPr>
        <dsp:cNvPr id="0" name=""/>
        <dsp:cNvSpPr/>
      </dsp:nvSpPr>
      <dsp:spPr>
        <a:xfrm>
          <a:off x="1110" y="1363378"/>
          <a:ext cx="1715663" cy="68626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rtl="0">
            <a:lnSpc>
              <a:spcPct val="90000"/>
            </a:lnSpc>
            <a:spcBef>
              <a:spcPct val="0"/>
            </a:spcBef>
            <a:spcAft>
              <a:spcPct val="35000"/>
            </a:spcAft>
            <a:buNone/>
          </a:pPr>
          <a:r>
            <a:rPr lang="en-US" sz="1700" kern="1200"/>
            <a:t>The </a:t>
          </a:r>
          <a:r>
            <a:rPr lang="en-US" sz="1700" kern="1200">
              <a:latin typeface="Arial"/>
            </a:rPr>
            <a:t>2s</a:t>
          </a:r>
          <a:r>
            <a:rPr lang="en-US" sz="1700" kern="1200"/>
            <a:t> Milestone</a:t>
          </a:r>
        </a:p>
      </dsp:txBody>
      <dsp:txXfrm>
        <a:off x="344243" y="1363378"/>
        <a:ext cx="1029398" cy="686265"/>
      </dsp:txXfrm>
    </dsp:sp>
    <dsp:sp modelId="{EF3ACDF9-24E1-4C74-B8CC-E620577DDB44}">
      <dsp:nvSpPr>
        <dsp:cNvPr id="0" name=""/>
        <dsp:cNvSpPr/>
      </dsp:nvSpPr>
      <dsp:spPr>
        <a:xfrm>
          <a:off x="1493737" y="1421710"/>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Margin of Safety</a:t>
          </a:r>
        </a:p>
      </dsp:txBody>
      <dsp:txXfrm>
        <a:off x="1778537" y="1421710"/>
        <a:ext cx="854400" cy="569600"/>
      </dsp:txXfrm>
    </dsp:sp>
    <dsp:sp modelId="{E436FFCD-7973-43FF-91AE-7AC13A0C3A4F}">
      <dsp:nvSpPr>
        <dsp:cNvPr id="0" name=""/>
        <dsp:cNvSpPr/>
      </dsp:nvSpPr>
      <dsp:spPr>
        <a:xfrm>
          <a:off x="2718378" y="1421710"/>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At the </a:t>
          </a:r>
          <a:r>
            <a:rPr lang="en-US" sz="700" kern="1200">
              <a:latin typeface="Arial"/>
            </a:rPr>
            <a:t>2s</a:t>
          </a:r>
          <a:r>
            <a:rPr lang="en-US" sz="700" kern="1200"/>
            <a:t> cycle mark, </a:t>
          </a:r>
          <a:r>
            <a:rPr lang="en-US" sz="700" kern="1200">
              <a:latin typeface="Arial"/>
            </a:rPr>
            <a:t>AVE_CFL</a:t>
          </a:r>
          <a:r>
            <a:rPr lang="en-US" sz="700" kern="1200"/>
            <a:t> is only </a:t>
          </a:r>
          <a:r>
            <a:rPr lang="en-US" sz="700" kern="1200">
              <a:latin typeface="Arial"/>
            </a:rPr>
            <a:t>0.6.</a:t>
          </a:r>
          <a:r>
            <a:rPr lang="en-US" sz="700" kern="1200"/>
            <a:t> </a:t>
          </a:r>
          <a:r>
            <a:rPr lang="en-US" sz="700" kern="1200">
              <a:latin typeface="Arial"/>
            </a:rPr>
            <a:t>Comfortable</a:t>
          </a:r>
          <a:r>
            <a:rPr lang="en-US" sz="700" kern="1200"/>
            <a:t> buffer against numerical instability.</a:t>
          </a:r>
        </a:p>
      </dsp:txBody>
      <dsp:txXfrm>
        <a:off x="3003178" y="1421710"/>
        <a:ext cx="854400" cy="569600"/>
      </dsp:txXfrm>
    </dsp:sp>
    <dsp:sp modelId="{E62493B3-4573-4712-9E1B-5048FA1C485E}">
      <dsp:nvSpPr>
        <dsp:cNvPr id="0" name=""/>
        <dsp:cNvSpPr/>
      </dsp:nvSpPr>
      <dsp:spPr>
        <a:xfrm>
          <a:off x="1110" y="2145720"/>
          <a:ext cx="1715663" cy="68626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10795" rIns="0" bIns="10795" numCol="1" spcCol="1270" anchor="ctr" anchorCtr="0">
          <a:noAutofit/>
        </a:bodyPr>
        <a:lstStyle/>
        <a:p>
          <a:pPr marL="0" lvl="0" indent="0" algn="ctr" defTabSz="755650" rtl="0">
            <a:lnSpc>
              <a:spcPct val="90000"/>
            </a:lnSpc>
            <a:spcBef>
              <a:spcPct val="0"/>
            </a:spcBef>
            <a:spcAft>
              <a:spcPct val="35000"/>
            </a:spcAft>
            <a:buNone/>
          </a:pPr>
          <a:r>
            <a:rPr lang="en-US" sz="1700" kern="1200"/>
            <a:t>Temporal Precision</a:t>
          </a:r>
        </a:p>
      </dsp:txBody>
      <dsp:txXfrm>
        <a:off x="344243" y="2145720"/>
        <a:ext cx="1029398" cy="686265"/>
      </dsp:txXfrm>
    </dsp:sp>
    <dsp:sp modelId="{9CF9B3B6-01DE-4099-B85E-079D5BFB0F09}">
      <dsp:nvSpPr>
        <dsp:cNvPr id="0" name=""/>
        <dsp:cNvSpPr/>
      </dsp:nvSpPr>
      <dsp:spPr>
        <a:xfrm>
          <a:off x="1493737" y="2204053"/>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t>0.005s Step Size</a:t>
          </a:r>
        </a:p>
      </dsp:txBody>
      <dsp:txXfrm>
        <a:off x="1778537" y="2204053"/>
        <a:ext cx="854400" cy="569600"/>
      </dsp:txXfrm>
    </dsp:sp>
    <dsp:sp modelId="{C45CE028-FCB8-4171-814C-E1CBBFBD8E26}">
      <dsp:nvSpPr>
        <dsp:cNvPr id="0" name=""/>
        <dsp:cNvSpPr/>
      </dsp:nvSpPr>
      <dsp:spPr>
        <a:xfrm>
          <a:off x="2718378" y="2204053"/>
          <a:ext cx="1424000" cy="569600"/>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marL="0" lvl="0" indent="0" algn="ctr" defTabSz="311150" rtl="0">
            <a:lnSpc>
              <a:spcPct val="90000"/>
            </a:lnSpc>
            <a:spcBef>
              <a:spcPct val="0"/>
            </a:spcBef>
            <a:spcAft>
              <a:spcPct val="35000"/>
            </a:spcAft>
            <a:buNone/>
          </a:pPr>
          <a:r>
            <a:rPr lang="en-US" sz="700" kern="1200">
              <a:latin typeface="Arial"/>
            </a:rPr>
            <a:t>Resolving</a:t>
          </a:r>
          <a:r>
            <a:rPr lang="en-US" sz="700" kern="1200"/>
            <a:t> high-velocity sloshing without excessive cost.</a:t>
          </a:r>
        </a:p>
      </dsp:txBody>
      <dsp:txXfrm>
        <a:off x="3003178" y="2204053"/>
        <a:ext cx="854400" cy="569600"/>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01/04/2026</a:t>
            </a:fld>
            <a:endParaRPr lang="en-GB"/>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01/04/2026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3921725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pitchFamily="34" charset="0"/>
                <a:ea typeface="+mn-ea"/>
                <a:cs typeface="Arial" pitchFamily="34" charset="0"/>
              </a:rPr>
              <a:t>The simulation was performed using the pressure-based solver with absolute velocity formulation.</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A transient 2D planar configuration was selected to capture the sloshing dynamics.</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Gravity was enabled in the negative y-direction to represent realistic liquid–gas stratification.</a:t>
            </a:r>
          </a:p>
          <a:p>
            <a:r>
              <a:rPr lang="en-GB" sz="1200" kern="1200">
                <a:solidFill>
                  <a:schemeClr val="tx1"/>
                </a:solidFill>
                <a:effectLst/>
                <a:latin typeface="Arial" pitchFamily="34" charset="0"/>
                <a:ea typeface="+mn-ea"/>
                <a:cs typeface="Arial" pitchFamily="34" charset="0"/>
              </a:rPr>
              <a:t>The horizontal acceleration was introduced using a time-dependent expression to model the tank excitation.</a:t>
            </a:r>
          </a:p>
          <a:p>
            <a:endParaRPr lang="en-GB"/>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10</a:t>
            </a:fld>
            <a:endParaRPr lang="en-GB"/>
          </a:p>
        </p:txBody>
      </p:sp>
    </p:spTree>
    <p:extLst>
      <p:ext uri="{BB962C8B-B14F-4D97-AF65-F5344CB8AC3E}">
        <p14:creationId xmlns:p14="http://schemas.microsoft.com/office/powerpoint/2010/main" val="3144164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kern="1200">
                <a:solidFill>
                  <a:schemeClr val="tx1"/>
                </a:solidFill>
                <a:effectLst/>
                <a:latin typeface="Arial" pitchFamily="34" charset="0"/>
                <a:ea typeface="+mn-ea"/>
                <a:cs typeface="Arial" pitchFamily="34" charset="0"/>
              </a:rPr>
              <a:t>Next step we defined the thermophysical properties of the materials.</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Water was selected directly from the Fluent database.</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Two surrogate gases were implemented to study the effect of gas density on sloshing behaviour.</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Gas 2 has a higher density than Gas 1, allowing comparison of interface response under different gas environments.</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11</a:t>
            </a:fld>
            <a:endParaRPr lang="en-GB"/>
          </a:p>
        </p:txBody>
      </p:sp>
    </p:spTree>
    <p:extLst>
      <p:ext uri="{BB962C8B-B14F-4D97-AF65-F5344CB8AC3E}">
        <p14:creationId xmlns:p14="http://schemas.microsoft.com/office/powerpoint/2010/main" val="437110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pitchFamily="34" charset="0"/>
                <a:ea typeface="+mn-ea"/>
                <a:cs typeface="Arial" pitchFamily="34" charset="0"/>
              </a:rPr>
              <a:t>For the physics models, we used the Volume of Fluid model to capture the liquid–gas interface.</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Two Eulerian phases were defined: water as the 2ndary phase and the surrogate gas as the primary phase.</a:t>
            </a:r>
          </a:p>
          <a:p>
            <a:r>
              <a:rPr lang="en-GB" sz="1200" kern="1200">
                <a:solidFill>
                  <a:schemeClr val="tx1"/>
                </a:solidFill>
                <a:effectLst/>
                <a:latin typeface="Arial" pitchFamily="34" charset="0"/>
                <a:ea typeface="+mn-ea"/>
                <a:cs typeface="Arial" pitchFamily="34" charset="0"/>
              </a:rPr>
              <a:t>For turbulence modelling, the SST k–omega model was selected to accurately resolve near-wall effects and transient flow behaviour during sloshing.</a:t>
            </a:r>
          </a:p>
          <a:p>
            <a:r>
              <a:rPr lang="en-GB" sz="1200" kern="1200">
                <a:solidFill>
                  <a:schemeClr val="tx1"/>
                </a:solidFill>
                <a:effectLst/>
                <a:latin typeface="Arial" pitchFamily="34" charset="0"/>
                <a:ea typeface="+mn-ea"/>
                <a:cs typeface="Arial" pitchFamily="34" charset="0"/>
              </a:rPr>
              <a:t>The implicit scheme is more stable for larger time steps, but the explicit formulation offers better interface resolution when the time step is sufficiently small, which was the case in our simulation. The explicit scheme improves numerical stability for interface capturing and allows better control of the Courant number, which is important in transient multiphase simulations.</a:t>
            </a:r>
          </a:p>
          <a:p>
            <a:endParaRPr lang="en-GB"/>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12</a:t>
            </a:fld>
            <a:endParaRPr lang="en-GB"/>
          </a:p>
        </p:txBody>
      </p:sp>
    </p:spTree>
    <p:extLst>
      <p:ext uri="{BB962C8B-B14F-4D97-AF65-F5344CB8AC3E}">
        <p14:creationId xmlns:p14="http://schemas.microsoft.com/office/powerpoint/2010/main" val="1701842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sz="1200" kern="1200">
                <a:solidFill>
                  <a:schemeClr val="tx1"/>
                </a:solidFill>
                <a:effectLst/>
                <a:latin typeface="Arial" pitchFamily="34" charset="0"/>
                <a:ea typeface="+mn-ea"/>
                <a:cs typeface="Arial" pitchFamily="34" charset="0"/>
              </a:rPr>
              <a:t>For the tank walls, a convection boundary condition was applied to model heat exchange with the surrounding environment.</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A heat transfer coefficient of 5 W per square meter Kelvin and an ambient temperature of 293 Kelvin were specified. Convection better represents realistic heat exchange with the external environment compared to a fixed temperature or heat flux condition.</a:t>
            </a:r>
          </a:p>
          <a:p>
            <a:endParaRPr lang="en-GB"/>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13</a:t>
            </a:fld>
            <a:endParaRPr lang="en-GB"/>
          </a:p>
        </p:txBody>
      </p:sp>
    </p:spTree>
    <p:extLst>
      <p:ext uri="{BB962C8B-B14F-4D97-AF65-F5344CB8AC3E}">
        <p14:creationId xmlns:p14="http://schemas.microsoft.com/office/powerpoint/2010/main" val="245404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1200" kern="1200">
                <a:solidFill>
                  <a:schemeClr val="tx1"/>
                </a:solidFill>
                <a:effectLst/>
                <a:latin typeface="Arial" pitchFamily="34" charset="0"/>
                <a:ea typeface="+mn-ea"/>
                <a:cs typeface="Arial" pitchFamily="34" charset="0"/>
              </a:rPr>
              <a:t>For the solution methods, the PISO scheme was selected for pressure–velocity coupling, as it improves accuracy in transient simulations with rapidly changing flow fields.</a:t>
            </a:r>
          </a:p>
          <a:p>
            <a:r>
              <a:rPr lang="en-GB" sz="1200" kern="1200">
                <a:solidFill>
                  <a:schemeClr val="tx1"/>
                </a:solidFill>
                <a:effectLst/>
                <a:latin typeface="Arial" pitchFamily="34" charset="0"/>
                <a:ea typeface="+mn-ea"/>
                <a:cs typeface="Arial" pitchFamily="34" charset="0"/>
              </a:rPr>
              <a:t>For spatial discretization, PRESTO was used for pressure to better handle gravity effects.</a:t>
            </a:r>
            <a:br>
              <a:rPr lang="en-GB" sz="1200" kern="1200">
                <a:solidFill>
                  <a:schemeClr val="tx1"/>
                </a:solidFill>
                <a:effectLst/>
                <a:latin typeface="Arial" pitchFamily="34" charset="0"/>
                <a:ea typeface="+mn-ea"/>
                <a:cs typeface="Arial" pitchFamily="34" charset="0"/>
              </a:rPr>
            </a:br>
            <a:r>
              <a:rPr lang="en-GB" sz="1200" kern="1200">
                <a:solidFill>
                  <a:schemeClr val="tx1"/>
                </a:solidFill>
                <a:effectLst/>
                <a:latin typeface="Arial" pitchFamily="34" charset="0"/>
                <a:ea typeface="+mn-ea"/>
                <a:cs typeface="Arial" pitchFamily="34" charset="0"/>
              </a:rPr>
              <a:t>Momentum, turbulence, and energy equations were discretized using second-order upwind schemes to increase spatial accuracy.</a:t>
            </a:r>
          </a:p>
          <a:p>
            <a:r>
              <a:rPr lang="en-GB" sz="1200" kern="1200">
                <a:solidFill>
                  <a:schemeClr val="tx1"/>
                </a:solidFill>
                <a:effectLst/>
                <a:latin typeface="Arial" pitchFamily="34" charset="0"/>
                <a:ea typeface="+mn-ea"/>
                <a:cs typeface="Arial" pitchFamily="34" charset="0"/>
              </a:rPr>
              <a:t>The Geo-Reconstruct scheme was applied for volume fraction to ensure sharp interface capturing in the VOF model.</a:t>
            </a:r>
          </a:p>
          <a:p>
            <a:r>
              <a:rPr lang="en-GB" sz="1200" kern="1200">
                <a:solidFill>
                  <a:schemeClr val="tx1"/>
                </a:solidFill>
                <a:effectLst/>
                <a:latin typeface="Arial" pitchFamily="34" charset="0"/>
                <a:ea typeface="+mn-ea"/>
                <a:cs typeface="Arial" pitchFamily="34" charset="0"/>
              </a:rPr>
              <a:t>PISO performs multiple correction steps per time step, which improves transient solution stability and accuracy.</a:t>
            </a:r>
          </a:p>
          <a:p>
            <a:r>
              <a:rPr lang="en-GB" sz="1200" kern="1200">
                <a:solidFill>
                  <a:schemeClr val="tx1"/>
                </a:solidFill>
                <a:effectLst/>
                <a:latin typeface="Arial" pitchFamily="34" charset="0"/>
                <a:ea typeface="+mn-ea"/>
                <a:cs typeface="Arial" pitchFamily="34" charset="0"/>
              </a:rPr>
              <a:t>PRESTO improves pressure interpolation in flows influenced by gravity and free-surface motion.</a:t>
            </a:r>
          </a:p>
          <a:p>
            <a:r>
              <a:rPr lang="en-GB" sz="1200" kern="1200">
                <a:solidFill>
                  <a:schemeClr val="tx1"/>
                </a:solidFill>
                <a:effectLst/>
                <a:latin typeface="Arial" pitchFamily="34" charset="0"/>
                <a:ea typeface="+mn-ea"/>
                <a:cs typeface="Arial" pitchFamily="34" charset="0"/>
              </a:rPr>
              <a:t>Second-order schemes reduce numerical diffusion and improve solution accuracy compared to first-order schemes.</a:t>
            </a:r>
          </a:p>
          <a:p>
            <a:r>
              <a:rPr lang="en-GB" sz="1200" kern="1200">
                <a:solidFill>
                  <a:schemeClr val="tx1"/>
                </a:solidFill>
                <a:effectLst/>
                <a:latin typeface="Arial" pitchFamily="34" charset="0"/>
                <a:ea typeface="+mn-ea"/>
                <a:cs typeface="Arial" pitchFamily="34" charset="0"/>
              </a:rPr>
              <a:t>Conservative relaxation was used to ensure stable convergence under transient multiphase conditions. Because our simulation is </a:t>
            </a:r>
            <a:r>
              <a:rPr lang="en-GB" sz="1200" b="1" kern="1200">
                <a:solidFill>
                  <a:schemeClr val="tx1"/>
                </a:solidFill>
                <a:effectLst/>
                <a:latin typeface="Arial" pitchFamily="34" charset="0"/>
                <a:ea typeface="+mn-ea"/>
                <a:cs typeface="Arial" pitchFamily="34" charset="0"/>
              </a:rPr>
              <a:t>transient</a:t>
            </a:r>
            <a:r>
              <a:rPr lang="en-GB" sz="1200" kern="1200">
                <a:solidFill>
                  <a:schemeClr val="tx1"/>
                </a:solidFill>
                <a:effectLst/>
                <a:latin typeface="Arial" pitchFamily="34" charset="0"/>
                <a:ea typeface="+mn-ea"/>
                <a:cs typeface="Arial" pitchFamily="34" charset="0"/>
              </a:rPr>
              <a:t>, under-relaxation factors are </a:t>
            </a:r>
            <a:r>
              <a:rPr lang="en-GB" sz="1200" b="1" kern="1200">
                <a:solidFill>
                  <a:schemeClr val="tx1"/>
                </a:solidFill>
                <a:effectLst/>
                <a:latin typeface="Arial" pitchFamily="34" charset="0"/>
                <a:ea typeface="+mn-ea"/>
                <a:cs typeface="Arial" pitchFamily="34" charset="0"/>
              </a:rPr>
              <a:t>less dominant</a:t>
            </a:r>
            <a:r>
              <a:rPr lang="en-GB" sz="1200" kern="1200">
                <a:solidFill>
                  <a:schemeClr val="tx1"/>
                </a:solidFill>
                <a:effectLst/>
                <a:latin typeface="Arial" pitchFamily="34" charset="0"/>
                <a:ea typeface="+mn-ea"/>
                <a:cs typeface="Arial" pitchFamily="34" charset="0"/>
              </a:rPr>
              <a:t> than in steady simulations. In transient simulations:</a:t>
            </a:r>
          </a:p>
          <a:p>
            <a:pPr lvl="0"/>
            <a:r>
              <a:rPr lang="en-GB" sz="1200" kern="1200">
                <a:solidFill>
                  <a:schemeClr val="tx1"/>
                </a:solidFill>
                <a:effectLst/>
                <a:latin typeface="Arial" pitchFamily="34" charset="0"/>
                <a:ea typeface="+mn-ea"/>
                <a:cs typeface="Arial" pitchFamily="34" charset="0"/>
              </a:rPr>
              <a:t>Stability is mainly controlled by </a:t>
            </a:r>
            <a:r>
              <a:rPr lang="en-GB" sz="1200" b="1" kern="1200">
                <a:solidFill>
                  <a:schemeClr val="tx1"/>
                </a:solidFill>
                <a:effectLst/>
                <a:latin typeface="Arial" pitchFamily="34" charset="0"/>
                <a:ea typeface="+mn-ea"/>
                <a:cs typeface="Arial" pitchFamily="34" charset="0"/>
              </a:rPr>
              <a:t>time step size</a:t>
            </a:r>
            <a:endParaRPr lang="en-GB" sz="1200" kern="1200">
              <a:solidFill>
                <a:schemeClr val="tx1"/>
              </a:solidFill>
              <a:effectLst/>
              <a:latin typeface="Arial" pitchFamily="34" charset="0"/>
              <a:ea typeface="+mn-ea"/>
              <a:cs typeface="Arial" pitchFamily="34" charset="0"/>
            </a:endParaRPr>
          </a:p>
          <a:p>
            <a:pPr lvl="0"/>
            <a:r>
              <a:rPr lang="en-GB" sz="1200" kern="1200">
                <a:solidFill>
                  <a:schemeClr val="tx1"/>
                </a:solidFill>
                <a:effectLst/>
                <a:latin typeface="Arial" pitchFamily="34" charset="0"/>
                <a:ea typeface="+mn-ea"/>
                <a:cs typeface="Arial" pitchFamily="34" charset="0"/>
              </a:rPr>
              <a:t>Under-relaxation still helps numerical stability, but is secondary</a:t>
            </a:r>
          </a:p>
          <a:p>
            <a:endParaRPr lang="en-GB"/>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14</a:t>
            </a:fld>
            <a:endParaRPr lang="en-GB"/>
          </a:p>
        </p:txBody>
      </p:sp>
    </p:spTree>
    <p:extLst>
      <p:ext uri="{BB962C8B-B14F-4D97-AF65-F5344CB8AC3E}">
        <p14:creationId xmlns:p14="http://schemas.microsoft.com/office/powerpoint/2010/main" val="2339756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lnSpcReduction="10000"/>
          </a:bodyPr>
          <a:lstStyle/>
          <a:p>
            <a:r>
              <a:rPr lang="en-US">
                <a:latin typeface="Calibri"/>
                <a:ea typeface="Calibri"/>
                <a:cs typeface="Calibri"/>
              </a:rPr>
              <a:t>Initial idea was to do the simulation for 1.16 seconds but an extension to 2 seconds permits to see the breakage of the wave by the impact on the walls</a:t>
            </a:r>
          </a:p>
          <a:p>
            <a:endParaRPr lang="en-US">
              <a:latin typeface="Calibri"/>
              <a:ea typeface="Calibri"/>
              <a:cs typeface="Calibri"/>
            </a:endParaRPr>
          </a:p>
          <a:p>
            <a:r>
              <a:rPr lang="en-US">
                <a:latin typeface="Calibri"/>
                <a:ea typeface="Calibri"/>
                <a:cs typeface="Calibri"/>
              </a:rPr>
              <a:t>What we want to see: </a:t>
            </a:r>
          </a:p>
          <a:p>
            <a:pPr marL="228600" indent="-228600">
              <a:buAutoNum type="arabicPeriod"/>
            </a:pPr>
            <a:r>
              <a:rPr lang="en-US">
                <a:latin typeface="Calibri"/>
                <a:ea typeface="Calibri"/>
                <a:cs typeface="Calibri"/>
              </a:rPr>
              <a:t>Free surface deformation, liquid impact on walls and ceiling. (helps calculate maximum wave height, sloshing severity or on more complicated cases the risk of hitting structural components. </a:t>
            </a:r>
          </a:p>
          <a:p>
            <a:pPr marL="228600" indent="-228600">
              <a:buAutoNum type="arabicPeriod"/>
            </a:pPr>
            <a:endParaRPr lang="en-US">
              <a:latin typeface="Calibri"/>
              <a:ea typeface="Calibri"/>
              <a:cs typeface="Calibri"/>
            </a:endParaRPr>
          </a:p>
          <a:p>
            <a:r>
              <a:rPr lang="en-US">
                <a:latin typeface="Calibri"/>
                <a:ea typeface="Calibri"/>
                <a:cs typeface="Calibri"/>
              </a:rPr>
              <a:t>Also help us  evaluate compressibility effects (gas compressibility dampens sloshing) </a:t>
            </a:r>
          </a:p>
          <a:p>
            <a:endParaRPr lang="en-US">
              <a:latin typeface="Calibri"/>
              <a:ea typeface="Calibri"/>
              <a:cs typeface="Calibri"/>
            </a:endParaRPr>
          </a:p>
          <a:p>
            <a:r>
              <a:rPr lang="en-US">
                <a:latin typeface="Calibri"/>
                <a:ea typeface="Calibri"/>
                <a:cs typeface="Calibri"/>
              </a:rPr>
              <a:t>Interface movement affects pressure oscillations</a:t>
            </a:r>
          </a:p>
          <a:p>
            <a:endParaRPr lang="en-US">
              <a:latin typeface="Calibri"/>
              <a:ea typeface="Calibri"/>
              <a:cs typeface="Calibri"/>
            </a:endParaRPr>
          </a:p>
          <a:p>
            <a:r>
              <a:rPr lang="en-US">
                <a:latin typeface="Calibri"/>
                <a:ea typeface="Calibri"/>
                <a:cs typeface="Calibri"/>
              </a:rPr>
              <a:t>Do we have jet formation? Wave overturning? </a:t>
            </a:r>
            <a:r>
              <a:rPr lang="en-US" err="1">
                <a:latin typeface="Calibri"/>
                <a:ea typeface="Calibri"/>
                <a:cs typeface="Calibri"/>
              </a:rPr>
              <a:t>Assymetric</a:t>
            </a:r>
            <a:r>
              <a:rPr lang="en-US">
                <a:latin typeface="Calibri"/>
                <a:ea typeface="Calibri"/>
                <a:cs typeface="Calibri"/>
              </a:rPr>
              <a:t> filling patterns?</a:t>
            </a:r>
          </a:p>
          <a:p>
            <a:endParaRPr lang="en-US">
              <a:latin typeface="Calibri"/>
              <a:ea typeface="Calibri"/>
              <a:cs typeface="Calibri"/>
            </a:endParaRPr>
          </a:p>
          <a:p>
            <a:r>
              <a:rPr lang="en-US">
                <a:latin typeface="Calibri"/>
                <a:ea typeface="Calibri"/>
                <a:cs typeface="Calibri"/>
              </a:rPr>
              <a:t>PLAY</a:t>
            </a: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27</a:t>
            </a:fld>
            <a:endParaRPr lang="en-GB"/>
          </a:p>
        </p:txBody>
      </p:sp>
    </p:spTree>
    <p:extLst>
      <p:ext uri="{BB962C8B-B14F-4D97-AF65-F5344CB8AC3E}">
        <p14:creationId xmlns:p14="http://schemas.microsoft.com/office/powerpoint/2010/main" val="2653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Calibri"/>
                <a:ea typeface="Calibri"/>
                <a:cs typeface="Calibri"/>
              </a:rPr>
              <a:t>Surrogate gas 2 doubles surrogate gas 1 in density, but have the same viscosity and comparable CP and thermal conductivity</a:t>
            </a:r>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28</a:t>
            </a:fld>
            <a:endParaRPr lang="en-GB"/>
          </a:p>
        </p:txBody>
      </p:sp>
    </p:spTree>
    <p:extLst>
      <p:ext uri="{BB962C8B-B14F-4D97-AF65-F5344CB8AC3E}">
        <p14:creationId xmlns:p14="http://schemas.microsoft.com/office/powerpoint/2010/main" val="4052329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lnSpcReduction="10000"/>
          </a:bodyPr>
          <a:lstStyle/>
          <a:p>
            <a:r>
              <a:rPr lang="en-US">
                <a:latin typeface="Arial"/>
                <a:cs typeface="Arial"/>
              </a:rPr>
              <a:t>What we want to see</a:t>
            </a:r>
          </a:p>
          <a:p>
            <a:r>
              <a:rPr lang="en-US">
                <a:latin typeface="Arial"/>
                <a:cs typeface="Arial"/>
              </a:rPr>
              <a:t>1. Circulation patterns inside the liquid</a:t>
            </a:r>
          </a:p>
          <a:p>
            <a:r>
              <a:rPr lang="en-US">
                <a:latin typeface="Arial"/>
                <a:cs typeface="Arial"/>
              </a:rPr>
              <a:t>2. Wave propagation and direction</a:t>
            </a:r>
          </a:p>
          <a:p>
            <a:r>
              <a:rPr lang="en-US">
                <a:latin typeface="Arial"/>
                <a:cs typeface="Arial"/>
              </a:rPr>
              <a:t>3. Vortices and recirculation zones</a:t>
            </a:r>
          </a:p>
          <a:p>
            <a:endParaRPr lang="en-US"/>
          </a:p>
          <a:p>
            <a:r>
              <a:rPr lang="en-US">
                <a:latin typeface="Arial"/>
                <a:cs typeface="Arial"/>
              </a:rPr>
              <a:t>Do we have gentle slosh?, wave amplification? </a:t>
            </a:r>
            <a:endParaRPr lang="en-US"/>
          </a:p>
          <a:p>
            <a:endParaRPr lang="en-US"/>
          </a:p>
          <a:p>
            <a:r>
              <a:rPr lang="en-US">
                <a:latin typeface="Arial"/>
                <a:cs typeface="Arial"/>
              </a:rPr>
              <a:t>PLAY</a:t>
            </a:r>
            <a:endParaRPr lang="en-US"/>
          </a:p>
          <a:p>
            <a:endParaRPr lang="en-US"/>
          </a:p>
          <a:p>
            <a:r>
              <a:rPr lang="en-US">
                <a:latin typeface="Arial"/>
                <a:cs typeface="Arial"/>
              </a:rPr>
              <a:t>We can see strong momentum transfer (high velocities near walls), and high shear stress zones</a:t>
            </a:r>
          </a:p>
          <a:p>
            <a:endParaRPr lang="en-US"/>
          </a:p>
          <a:p>
            <a:r>
              <a:rPr lang="en-US">
                <a:latin typeface="Arial"/>
                <a:cs typeface="Arial"/>
              </a:rPr>
              <a:t>Time of study doesn’t allow to see damping or energy dissipation due to viscosity or turbulence (important for cryogenic storage)</a:t>
            </a:r>
          </a:p>
          <a:p>
            <a:endParaRPr lang="en-US"/>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29</a:t>
            </a:fld>
            <a:endParaRPr lang="en-GB"/>
          </a:p>
        </p:txBody>
      </p:sp>
    </p:spTree>
    <p:extLst>
      <p:ext uri="{BB962C8B-B14F-4D97-AF65-F5344CB8AC3E}">
        <p14:creationId xmlns:p14="http://schemas.microsoft.com/office/powerpoint/2010/main" val="2329258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Arial"/>
                <a:cs typeface="Arial"/>
              </a:rPr>
              <a:t>Surrogate gas 1 </a:t>
            </a:r>
            <a:r>
              <a:rPr lang="en-US" err="1">
                <a:latin typeface="Arial"/>
                <a:cs typeface="Arial"/>
              </a:rPr>
              <a:t>movess</a:t>
            </a:r>
            <a:r>
              <a:rPr lang="en-US">
                <a:latin typeface="Arial"/>
                <a:cs typeface="Arial"/>
              </a:rPr>
              <a:t> lightly faster upon oscillation</a:t>
            </a:r>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30</a:t>
            </a:fld>
            <a:endParaRPr lang="en-GB"/>
          </a:p>
        </p:txBody>
      </p:sp>
    </p:spTree>
    <p:extLst>
      <p:ext uri="{BB962C8B-B14F-4D97-AF65-F5344CB8AC3E}">
        <p14:creationId xmlns:p14="http://schemas.microsoft.com/office/powerpoint/2010/main" val="1666680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92500"/>
          </a:bodyPr>
          <a:lstStyle/>
          <a:p>
            <a:r>
              <a:rPr lang="en-US">
                <a:latin typeface="Calibri"/>
                <a:ea typeface="Calibri"/>
                <a:cs typeface="Calibri"/>
              </a:rPr>
              <a:t>Static pressure represents the exact thermodynamic pressure on the substance.</a:t>
            </a:r>
          </a:p>
          <a:p>
            <a:r>
              <a:rPr lang="en-US">
                <a:latin typeface="Calibri"/>
                <a:ea typeface="Calibri"/>
                <a:cs typeface="Calibri"/>
              </a:rPr>
              <a:t>Pressure within the system can be less than the atmospheric one leading to negative static pressure values</a:t>
            </a:r>
          </a:p>
          <a:p>
            <a:endParaRPr lang="en-US">
              <a:latin typeface="Calibri"/>
              <a:ea typeface="Calibri"/>
              <a:cs typeface="Calibri"/>
            </a:endParaRPr>
          </a:p>
          <a:p>
            <a:r>
              <a:rPr lang="en-US">
                <a:latin typeface="Calibri"/>
                <a:ea typeface="Calibri"/>
                <a:cs typeface="Calibri"/>
              </a:rPr>
              <a:t>Goals: </a:t>
            </a:r>
          </a:p>
          <a:p>
            <a:pPr marL="228600" indent="-228600">
              <a:buAutoNum type="arabicPeriod"/>
            </a:pPr>
            <a:r>
              <a:rPr lang="en-US">
                <a:latin typeface="Calibri"/>
                <a:ea typeface="Calibri"/>
                <a:cs typeface="Calibri"/>
              </a:rPr>
              <a:t>Identify pressure peaks (local stress hotspots) -&gt; structural safety and fatigue</a:t>
            </a:r>
          </a:p>
          <a:p>
            <a:pPr marL="228600" indent="-228600">
              <a:buAutoNum type="arabicPeriod"/>
            </a:pPr>
            <a:r>
              <a:rPr lang="en-US">
                <a:latin typeface="Calibri"/>
                <a:ea typeface="Calibri"/>
                <a:cs typeface="Calibri"/>
              </a:rPr>
              <a:t>Understand liquid-gas interaction (Dynamic variations due to motion) -&gt; how hydrogen cushion influences pressure oscillations</a:t>
            </a:r>
          </a:p>
          <a:p>
            <a:pPr marL="228600" indent="-228600">
              <a:buAutoNum type="arabicPeriod"/>
            </a:pPr>
            <a:r>
              <a:rPr lang="en-US">
                <a:latin typeface="Calibri"/>
                <a:ea typeface="Calibri"/>
                <a:cs typeface="Calibri"/>
              </a:rPr>
              <a:t>Reveal wave motion!</a:t>
            </a:r>
          </a:p>
          <a:p>
            <a:pPr marL="228600" indent="-228600">
              <a:buAutoNum type="arabicPeriod"/>
            </a:pPr>
            <a:r>
              <a:rPr lang="en-US">
                <a:latin typeface="Calibri"/>
                <a:ea typeface="Calibri"/>
                <a:cs typeface="Calibri"/>
              </a:rPr>
              <a:t>For the future: </a:t>
            </a:r>
            <a:r>
              <a:rPr lang="en-US" err="1">
                <a:latin typeface="Calibri"/>
                <a:ea typeface="Calibri"/>
                <a:cs typeface="Calibri"/>
              </a:rPr>
              <a:t>Evaliate</a:t>
            </a:r>
            <a:r>
              <a:rPr lang="en-US">
                <a:latin typeface="Calibri"/>
                <a:ea typeface="Calibri"/>
                <a:cs typeface="Calibri"/>
              </a:rPr>
              <a:t> structural and design implications</a:t>
            </a:r>
          </a:p>
          <a:p>
            <a:endParaRPr lang="en-US">
              <a:latin typeface="Calibri"/>
              <a:ea typeface="Calibri"/>
              <a:cs typeface="Calibri"/>
            </a:endParaRPr>
          </a:p>
          <a:p>
            <a:r>
              <a:rPr lang="en-US">
                <a:latin typeface="Calibri"/>
                <a:ea typeface="Calibri"/>
                <a:cs typeface="Calibri"/>
              </a:rPr>
              <a:t>PLAY </a:t>
            </a:r>
          </a:p>
          <a:p>
            <a:endParaRPr lang="en-US">
              <a:latin typeface="Calibri"/>
              <a:ea typeface="Calibri"/>
              <a:cs typeface="Calibri"/>
            </a:endParaRPr>
          </a:p>
          <a:p>
            <a:r>
              <a:rPr lang="en-US">
                <a:latin typeface="Arial"/>
                <a:cs typeface="Arial"/>
              </a:rPr>
              <a:t>The contours reveal pressure amplification near the tank walls during oscillatory motion, reflecting the interaction between the liquid phase inertia and the compressible gas cushion. Essential for evaluating structural stresses, identifying resonance behavior, and understanding the damping effect of the gas phase</a:t>
            </a:r>
          </a:p>
          <a:p>
            <a:pPr marL="228600" indent="-228600">
              <a:buAutoNum type="arabicPeriod"/>
            </a:pP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31</a:t>
            </a:fld>
            <a:endParaRPr lang="en-GB"/>
          </a:p>
        </p:txBody>
      </p:sp>
    </p:spTree>
    <p:extLst>
      <p:ext uri="{BB962C8B-B14F-4D97-AF65-F5344CB8AC3E}">
        <p14:creationId xmlns:p14="http://schemas.microsoft.com/office/powerpoint/2010/main" val="2210085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Calibri"/>
                <a:ea typeface="Calibri"/>
                <a:cs typeface="Calibri"/>
              </a:rPr>
              <a:t>Usually temperature could help us capture: </a:t>
            </a:r>
          </a:p>
          <a:p>
            <a:pPr marL="228600" indent="-228600">
              <a:buAutoNum type="arabicPeriod"/>
            </a:pPr>
            <a:r>
              <a:rPr lang="en-US">
                <a:latin typeface="Calibri"/>
                <a:ea typeface="Calibri"/>
                <a:cs typeface="Calibri"/>
              </a:rPr>
              <a:t>Thermal stratification(if any)</a:t>
            </a:r>
          </a:p>
          <a:p>
            <a:pPr marL="228600" indent="-228600">
              <a:buAutoNum type="arabicPeriod"/>
            </a:pPr>
            <a:r>
              <a:rPr lang="en-US">
                <a:latin typeface="Calibri"/>
                <a:ea typeface="Calibri"/>
                <a:cs typeface="Calibri"/>
              </a:rPr>
              <a:t>Heat transfer between phases.</a:t>
            </a:r>
          </a:p>
          <a:p>
            <a:pPr marL="228600" indent="-228600">
              <a:buAutoNum type="arabicPeriod"/>
            </a:pPr>
            <a:endParaRPr lang="en-US">
              <a:latin typeface="Calibri"/>
              <a:ea typeface="Calibri"/>
              <a:cs typeface="Calibri"/>
            </a:endParaRPr>
          </a:p>
          <a:p>
            <a:pPr marL="228600" indent="-228600">
              <a:buAutoNum type="arabicPeriod"/>
            </a:pP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a:defRPr/>
            </a:pPr>
            <a:fld id="{00AFC6D0-44D5-4EB7-828F-6F464F83D79A}" type="slidenum">
              <a:rPr lang="en-GB"/>
              <a:pPr>
                <a:defRPr/>
              </a:pPr>
              <a:t>32</a:t>
            </a:fld>
            <a:endParaRPr lang="en-GB"/>
          </a:p>
        </p:txBody>
      </p:sp>
    </p:spTree>
    <p:extLst>
      <p:ext uri="{BB962C8B-B14F-4D97-AF65-F5344CB8AC3E}">
        <p14:creationId xmlns:p14="http://schemas.microsoft.com/office/powerpoint/2010/main" val="371550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F28DD-5C5F-2D7B-7868-93388A242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FB628-C6BF-691A-80C2-D4FD5B59C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F0431-6B98-8AB0-E80B-263C67331D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EA8B88-C0E7-2242-74FF-18F332F6D22B}"/>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605668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89" y="972000"/>
            <a:ext cx="4121294"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a:t>Titel der Präsentation durch Klicken bearbeiten</a:t>
            </a:r>
          </a:p>
        </p:txBody>
      </p:sp>
      <p:sp>
        <p:nvSpPr>
          <p:cNvPr id="16" name="Inhaltsplatzhalter 2"/>
          <p:cNvSpPr>
            <a:spLocks noGrp="1"/>
          </p:cNvSpPr>
          <p:nvPr>
            <p:ph idx="10" hasCustomPrompt="1"/>
          </p:nvPr>
        </p:nvSpPr>
        <p:spPr>
          <a:xfrm>
            <a:off x="319088" y="1484040"/>
            <a:ext cx="4391457"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a:t>Referent</a:t>
            </a:r>
            <a:br>
              <a:rPr lang="de-DE" noProof="0"/>
            </a:br>
            <a:r>
              <a:rPr lang="de-DE" noProof="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a:t>Referent</a:t>
            </a:r>
            <a:br>
              <a:rPr lang="de-DE" noProof="0"/>
            </a:br>
            <a:r>
              <a:rPr lang="de-DE" noProof="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kern="1200">
                <a:solidFill>
                  <a:schemeClr val="bg1"/>
                </a:solidFill>
                <a:latin typeface="+mn-lt"/>
                <a:ea typeface="+mn-ea"/>
                <a:cs typeface="Arial" charset="0"/>
              </a:rPr>
              <a:t>Chair of Thermodynamics </a:t>
            </a:r>
          </a:p>
          <a:p>
            <a:pPr>
              <a:lnSpc>
                <a:spcPts val="900"/>
              </a:lnSpc>
            </a:pPr>
            <a:r>
              <a:rPr lang="en-US" sz="800" kern="1200">
                <a:solidFill>
                  <a:schemeClr val="bg1"/>
                </a:solidFill>
                <a:latin typeface="+mn-lt"/>
                <a:ea typeface="+mn-ea"/>
                <a:cs typeface="Arial" charset="0"/>
              </a:rPr>
              <a:t>TUM School of Engineering and Design</a:t>
            </a:r>
            <a:endParaRPr lang="de-DE" sz="800" kern="1200">
              <a:solidFill>
                <a:schemeClr val="bg1"/>
              </a:solidFill>
              <a:latin typeface="+mn-lt"/>
              <a:ea typeface="+mn-ea"/>
              <a:cs typeface="Arial" charset="0"/>
            </a:endParaRPr>
          </a:p>
          <a:p>
            <a:pPr>
              <a:lnSpc>
                <a:spcPts val="900"/>
              </a:lnSpc>
            </a:pPr>
            <a:r>
              <a:rPr lang="de-DE" sz="800" baseline="0">
                <a:solidFill>
                  <a:schemeClr val="bg1"/>
                </a:solidFill>
                <a:latin typeface="+mn-lt"/>
              </a:rPr>
              <a:t>Technical University of Munich</a:t>
            </a:r>
            <a:endParaRPr lang="de-DE" sz="80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a:t>Referent</a:t>
            </a:r>
            <a:br>
              <a:rPr lang="de-DE" noProof="0"/>
            </a:br>
            <a:r>
              <a:rPr lang="de-DE" noProof="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a:t>Referent</a:t>
            </a:r>
            <a:br>
              <a:rPr lang="de-DE" noProof="0"/>
            </a:br>
            <a:r>
              <a:rPr lang="de-DE" noProof="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a:p>
        </p:txBody>
      </p:sp>
    </p:spTree>
    <p:extLst>
      <p:ext uri="{BB962C8B-B14F-4D97-AF65-F5344CB8AC3E}">
        <p14:creationId xmlns:p14="http://schemas.microsoft.com/office/powerpoint/2010/main" val="3981830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a:t>Referent</a:t>
            </a:r>
            <a:br>
              <a:rPr lang="de-DE" noProof="0"/>
            </a:br>
            <a:r>
              <a:rPr lang="de-DE" noProof="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a:p>
        </p:txBody>
      </p:sp>
      <p:sp>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B4B3-DA70-2D33-4CF7-EE2AD37A01FC}"/>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8BF84261-CB53-D3A7-F3C1-05C81AA467B2}"/>
              </a:ext>
            </a:extLst>
          </p:cNvPr>
          <p:cNvSpPr>
            <a:spLocks noGrp="1"/>
          </p:cNvSpPr>
          <p:nvPr>
            <p:ph type="sldNum" sz="quarter" idx="10"/>
          </p:nvPr>
        </p:nvSpPr>
        <p:spPr/>
        <p:txBody>
          <a:bodyPr/>
          <a:lstStyle/>
          <a:p>
            <a:r>
              <a:rPr lang="de-DE"/>
              <a:t>1</a:t>
            </a:r>
          </a:p>
        </p:txBody>
      </p:sp>
      <p:sp>
        <p:nvSpPr>
          <p:cNvPr id="4" name="Footer Placeholder 3">
            <a:extLst>
              <a:ext uri="{FF2B5EF4-FFF2-40B4-BE49-F238E27FC236}">
                <a16:creationId xmlns:a16="http://schemas.microsoft.com/office/drawing/2014/main" id="{B8907F3F-A0F3-D9FE-F2A6-6170953000B2}"/>
              </a:ext>
            </a:extLst>
          </p:cNvPr>
          <p:cNvSpPr>
            <a:spLocks noGrp="1"/>
          </p:cNvSpPr>
          <p:nvPr>
            <p:ph type="ftr" sz="quarter" idx="11"/>
          </p:nvPr>
        </p:nvSpPr>
        <p:spPr/>
        <p:txBody>
          <a:bodyPr/>
          <a:lstStyle/>
          <a:p>
            <a:r>
              <a:rPr lang="en-US"/>
              <a:t>Technical University of Munich, TUM | Chair of Thermodynamics | Multiphase Flows | Project Presentation  </a:t>
            </a:r>
          </a:p>
        </p:txBody>
      </p:sp>
    </p:spTree>
    <p:extLst>
      <p:ext uri="{BB962C8B-B14F-4D97-AF65-F5344CB8AC3E}">
        <p14:creationId xmlns:p14="http://schemas.microsoft.com/office/powerpoint/2010/main" val="2146184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a:p>
        </p:txBody>
      </p:sp>
      <p:sp>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Tree>
    <p:extLst>
      <p:ext uri="{BB962C8B-B14F-4D97-AF65-F5344CB8AC3E}">
        <p14:creationId xmlns:p14="http://schemas.microsoft.com/office/powerpoint/2010/main" val="1307266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a:p>
        </p:txBody>
      </p:sp>
      <p:sp useBgFill="1">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2183948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a:p>
        </p:txBody>
      </p:sp>
      <p:sp useBgFill="1">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a:p>
        </p:txBody>
      </p:sp>
      <p:sp useBgFill="1">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a:p>
        </p:txBody>
      </p:sp>
      <p:sp useBgFill="1">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1855147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a:p>
        </p:txBody>
      </p:sp>
      <p:sp useBgFill="1">
        <p:nvSpPr>
          <p:cNvPr id="7" name="Fußzeilenplatzhalter 6"/>
          <p:cNvSpPr>
            <a:spLocks noGrp="1"/>
          </p:cNvSpPr>
          <p:nvPr>
            <p:ph type="ftr" sz="quarter" idx="12"/>
          </p:nvPr>
        </p:nvSpPr>
        <p:spPr/>
        <p:txBody>
          <a:bodyPr/>
          <a:lstStyle/>
          <a:p>
            <a:r>
              <a:rPr lang="en-US"/>
              <a:t>Technical University of Munich, TUM | Chair of Thermodynamics | Multiphase Flows | Project Presentation  </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a:p>
        </p:txBody>
      </p:sp>
      <p:sp>
        <p:nvSpPr>
          <p:cNvPr id="8" name="Fußzeilenplatzhalter 7"/>
          <p:cNvSpPr>
            <a:spLocks noGrp="1"/>
          </p:cNvSpPr>
          <p:nvPr>
            <p:ph type="ftr" sz="quarter" idx="17"/>
          </p:nvPr>
        </p:nvSpPr>
        <p:spPr/>
        <p:txBody>
          <a:bodyPr/>
          <a:lstStyle/>
          <a:p>
            <a:r>
              <a:rPr lang="en-US"/>
              <a:t>Technical University of Munich, TUM | Chair of Thermodynamics | Multiphase Flows | Project Presentation  </a:t>
            </a:r>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3462901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a:t>Inhalt durch Klicken bearbeiten</a:t>
            </a:r>
          </a:p>
          <a:p>
            <a:pPr lvl="1"/>
            <a:r>
              <a:rPr lang="de-DE" noProof="0"/>
              <a:t>Zweite Ebene</a:t>
            </a:r>
          </a:p>
          <a:p>
            <a:pPr lvl="2"/>
            <a:r>
              <a:rPr lang="de-DE" noProof="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a:p>
        </p:txBody>
      </p:sp>
      <p:sp>
        <p:nvSpPr>
          <p:cNvPr id="8" name="Fußzeilenplatzhalter 7"/>
          <p:cNvSpPr>
            <a:spLocks noGrp="1"/>
          </p:cNvSpPr>
          <p:nvPr>
            <p:ph type="ftr" sz="quarter" idx="17"/>
          </p:nvPr>
        </p:nvSpPr>
        <p:spPr/>
        <p:txBody>
          <a:bodyPr/>
          <a:lstStyle/>
          <a:p>
            <a:r>
              <a:rPr lang="en-US"/>
              <a:t>Technical University of Munich, TUM | Chair of Thermodynamics | Multiphase Flows | Project Presentation  </a:t>
            </a:r>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a:t>Textmasterformate durch Klicken bearbeiten</a:t>
            </a:r>
          </a:p>
          <a:p>
            <a:pPr lvl="1"/>
            <a:r>
              <a:rPr lang="de-DE"/>
              <a:t>Zweite Ebene</a:t>
            </a:r>
          </a:p>
          <a:p>
            <a:pPr lvl="2"/>
            <a:r>
              <a:rPr lang="de-DE"/>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1111508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a:t>Textmasterformate durch Klicken bearbeiten</a:t>
            </a:r>
          </a:p>
          <a:p>
            <a:pPr lvl="1"/>
            <a:r>
              <a:rPr lang="de-DE"/>
              <a:t>Zweite Ebene</a:t>
            </a:r>
          </a:p>
          <a:p>
            <a:pPr lvl="2"/>
            <a:r>
              <a:rPr lang="de-DE"/>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a:t>Textmasterformate durch Klicken bearbeiten</a:t>
            </a:r>
          </a:p>
          <a:p>
            <a:pPr lvl="1"/>
            <a:r>
              <a:rPr lang="de-DE"/>
              <a:t>Zweite Ebene</a:t>
            </a:r>
          </a:p>
          <a:p>
            <a:pPr lvl="2"/>
            <a:r>
              <a:rPr lang="de-DE"/>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a:t>Textmasterformate durch Klicken bearbeiten</a:t>
            </a:r>
          </a:p>
          <a:p>
            <a:pPr lvl="1"/>
            <a:r>
              <a:rPr lang="de-DE"/>
              <a:t>Zweite Ebene</a:t>
            </a:r>
          </a:p>
          <a:p>
            <a:pPr lvl="2"/>
            <a:r>
              <a:rPr lang="de-DE"/>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a:p>
        </p:txBody>
      </p:sp>
      <p:sp>
        <p:nvSpPr>
          <p:cNvPr id="12" name="Fußzeilenplatzhalter 11"/>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a:p>
        </p:txBody>
      </p:sp>
      <p:sp>
        <p:nvSpPr>
          <p:cNvPr id="10" name="Fußzeilenplatzhalter 9"/>
          <p:cNvSpPr>
            <a:spLocks noGrp="1"/>
          </p:cNvSpPr>
          <p:nvPr>
            <p:ph type="ftr" sz="quarter" idx="16"/>
          </p:nvPr>
        </p:nvSpPr>
        <p:spPr/>
        <p:txBody>
          <a:bodyPr/>
          <a:lstStyle/>
          <a:p>
            <a:r>
              <a:rPr lang="en-US"/>
              <a:t>Technical University of Munich, TUM | Chair of Thermodynamics | Multiphase Flows | Project Presentation  </a:t>
            </a:r>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a:t>Untert</a:t>
            </a:r>
            <a:r>
              <a:rPr lang="de-DE" sz="1800" noProof="0"/>
              <a:t>itel durch Klicken bearbeiten</a:t>
            </a:r>
          </a:p>
          <a:p>
            <a:pPr lvl="0"/>
            <a:endParaRPr lang="en-US"/>
          </a:p>
        </p:txBody>
      </p:sp>
    </p:spTree>
    <p:extLst>
      <p:ext uri="{BB962C8B-B14F-4D97-AF65-F5344CB8AC3E}">
        <p14:creationId xmlns:p14="http://schemas.microsoft.com/office/powerpoint/2010/main" val="42579873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35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a:p>
        </p:txBody>
      </p:sp>
      <p:sp>
        <p:nvSpPr>
          <p:cNvPr id="10" name="Fußzeilenplatzhalter 9"/>
          <p:cNvSpPr>
            <a:spLocks noGrp="1"/>
          </p:cNvSpPr>
          <p:nvPr>
            <p:ph type="ftr" sz="quarter" idx="16"/>
          </p:nvPr>
        </p:nvSpPr>
        <p:spPr/>
        <p:txBody>
          <a:bodyPr/>
          <a:lstStyle/>
          <a:p>
            <a:r>
              <a:rPr lang="en-US"/>
              <a:t>Technical University of Munich, TUM | Chair of Thermodynamics | Multiphase Flows | Project Presentation  </a:t>
            </a:r>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theme" Target="../theme/theme3.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image" Target="../media/image3.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a:latin typeface="+mn-lt"/>
              <a:cs typeface="Arial" pitchFamily="34" charset="0"/>
            </a:endParaRPr>
          </a:p>
        </p:txBody>
      </p:sp>
      <p:pic>
        <p:nvPicPr>
          <p:cNvPr id="5" name="Bild 4" descr="Fahnen_HG.jpg"/>
          <p:cNvPicPr>
            <a:picLocks noChangeAspect="1"/>
          </p:cNvPicPr>
          <p:nvPr/>
        </p:nvPicPr>
        <p:blipFill>
          <a:blip r:embed="rId4" cstate="screen"/>
          <a:srcRect l="398" t="14167" r="16921" b="10833"/>
          <a:stretch>
            <a:fillRect/>
          </a:stretch>
        </p:blipFill>
        <p:spPr>
          <a:xfrm>
            <a:off x="0" y="-14671"/>
            <a:ext cx="9138096"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en-US"/>
              <a:t>Technical University of Munich, TUM | Chair of Thermodynamics | Multiphase Flows | Project Presentation  </a:t>
            </a:r>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en-US"/>
              <a:t>Technical University of Munich, TUM | Chair of Thermodynamics | Multiphase Flows | Project Presentation  </a:t>
            </a:r>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r>
              <a:rPr lang="de-DE"/>
              <a:t>1</a:t>
            </a:r>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2"/>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7439890" y="4854985"/>
            <a:ext cx="1387117" cy="273844"/>
          </a:xfrm>
          <a:prstGeom prst="rect">
            <a:avLst/>
          </a:prstGeom>
        </p:spPr>
        <p:txBody>
          <a:bodyPr vert="horz" lIns="0" tIns="45720" rIns="0" bIns="45720" rtlCol="0" anchor="ctr"/>
          <a:lstStyle>
            <a:lvl1pPr algn="r">
              <a:defRPr sz="1100">
                <a:solidFill>
                  <a:schemeClr val="tx1"/>
                </a:solidFill>
              </a:defRPr>
            </a:lvl1pPr>
          </a:lstStyle>
          <a:p>
            <a:r>
              <a:rPr lang="de-DE"/>
              <a:t>1</a:t>
            </a:r>
          </a:p>
        </p:txBody>
      </p:sp>
      <p:sp>
        <p:nvSpPr>
          <p:cNvPr id="6" name="Fußzeilenplatzhalter 3"/>
          <p:cNvSpPr>
            <a:spLocks noGrp="1"/>
          </p:cNvSpPr>
          <p:nvPr>
            <p:ph type="ftr" sz="quarter" idx="3"/>
          </p:nvPr>
        </p:nvSpPr>
        <p:spPr>
          <a:xfrm>
            <a:off x="311161" y="4854985"/>
            <a:ext cx="6941693" cy="273844"/>
          </a:xfrm>
          <a:prstGeom prst="rect">
            <a:avLst/>
          </a:prstGeom>
        </p:spPr>
        <p:txBody>
          <a:bodyPr vert="horz" lIns="0" tIns="45720" rIns="0" bIns="45720" rtlCol="0" anchor="ctr"/>
          <a:lstStyle>
            <a:lvl1pPr algn="l">
              <a:defRPr sz="1100">
                <a:solidFill>
                  <a:schemeClr val="tx1"/>
                </a:solidFill>
              </a:defRPr>
            </a:lvl1pPr>
          </a:lstStyle>
          <a:p>
            <a:r>
              <a:rPr lang="en-US"/>
              <a:t>Technical University of Munich, TUM | Chair of Thermodynamics | Multiphase Flows | Project Presentation  </a:t>
            </a:r>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22" r:id="rId3"/>
    <p:sldLayoutId id="2147483716" r:id="rId4"/>
    <p:sldLayoutId id="2147483704" r:id="rId5"/>
    <p:sldLayoutId id="2147483714" r:id="rId6"/>
    <p:sldLayoutId id="2147483713" r:id="rId7"/>
    <p:sldLayoutId id="2147483712" r:id="rId8"/>
    <p:sldLayoutId id="2147483715" r:id="rId9"/>
    <p:sldLayoutId id="2147483657" r:id="rId10"/>
    <p:sldLayoutId id="2147483717" r:id="rId11"/>
    <p:sldLayoutId id="2147483711" r:id="rId12"/>
    <p:sldLayoutId id="2147483718" r:id="rId13"/>
    <p:sldLayoutId id="2147483703" r:id="rId14"/>
    <p:sldLayoutId id="2147483719" r:id="rId15"/>
    <p:sldLayoutId id="2147483653" r:id="rId16"/>
    <p:sldLayoutId id="2147483721" r:id="rId17"/>
    <p:sldLayoutId id="2147483656" r:id="rId18"/>
    <p:sldLayoutId id="2147483723" r:id="rId19"/>
    <p:sldLayoutId id="2147483720" r:id="rId20"/>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A9_B43CD30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2.xml"/><Relationship Id="rId7" Type="http://schemas.openxmlformats.org/officeDocument/2006/relationships/image" Target="../media/image15.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9.png"/><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1.jpeg"/><Relationship Id="rId7" Type="http://schemas.openxmlformats.org/officeDocument/2006/relationships/diagramColors" Target="../diagrams/colors5.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QuickStyle" Target="../diagrams/quickStyle5.xml"/><Relationship Id="rId5" Type="http://schemas.openxmlformats.org/officeDocument/2006/relationships/diagramLayout" Target="../diagrams/layout5.xml"/><Relationship Id="rId10" Type="http://schemas.openxmlformats.org/officeDocument/2006/relationships/image" Target="../media/image23.png"/><Relationship Id="rId4" Type="http://schemas.openxmlformats.org/officeDocument/2006/relationships/diagramData" Target="../diagrams/data5.xml"/><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microsoft.com/office/2018/10/relationships/comments" Target="../comments/modernComment_1AD_48532B0.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microsoft.com/office/2018/10/relationships/comments" Target="../comments/modernComment_1B8_896698DB.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microsoft.com/office/2018/10/relationships/comments" Target="../comments/modernComment_19B_66655997.xml"/><Relationship Id="rId1" Type="http://schemas.openxmlformats.org/officeDocument/2006/relationships/slideLayout" Target="../slideLayouts/slideLayout17.xml"/><Relationship Id="rId6" Type="http://schemas.openxmlformats.org/officeDocument/2006/relationships/image" Target="../media/image29.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7.png"/><Relationship Id="rId1" Type="http://schemas.openxmlformats.org/officeDocument/2006/relationships/slideLayout" Target="../slideLayouts/slideLayout1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48.png"/><Relationship Id="rId1" Type="http://schemas.openxmlformats.org/officeDocument/2006/relationships/slideLayout" Target="../slideLayouts/slideLayout1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9.png"/><Relationship Id="rId1" Type="http://schemas.openxmlformats.org/officeDocument/2006/relationships/slideLayout" Target="../slideLayouts/slideLayout1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56.png"/><Relationship Id="rId4"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56.png"/><Relationship Id="rId4"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57.png"/><Relationship Id="rId4"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58.png"/><Relationship Id="rId4"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59.png"/><Relationship Id="rId4"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60.png"/><Relationship Id="rId4"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 Id="rId5" Type="http://schemas.openxmlformats.org/officeDocument/2006/relationships/image" Target="../media/image64.png"/><Relationship Id="rId4" Type="http://schemas.openxmlformats.org/officeDocument/2006/relationships/image" Target="../media/image63.pn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4.xml"/><Relationship Id="rId5" Type="http://schemas.openxmlformats.org/officeDocument/2006/relationships/image" Target="../media/image68.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1.xml"/><Relationship Id="rId5" Type="http://schemas.openxmlformats.org/officeDocument/2006/relationships/image" Target="../media/image72.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1.xml"/><Relationship Id="rId5" Type="http://schemas.openxmlformats.org/officeDocument/2006/relationships/image" Target="../media/image76.png"/><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 Id="rId5" Type="http://schemas.openxmlformats.org/officeDocument/2006/relationships/image" Target="../media/image80.png"/><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54AC-9E1D-30D1-9740-928B4C5AD024}"/>
              </a:ext>
            </a:extLst>
          </p:cNvPr>
          <p:cNvSpPr>
            <a:spLocks noGrp="1"/>
          </p:cNvSpPr>
          <p:nvPr>
            <p:ph type="title"/>
          </p:nvPr>
        </p:nvSpPr>
        <p:spPr>
          <a:xfrm>
            <a:off x="319088" y="908696"/>
            <a:ext cx="5216547" cy="376238"/>
          </a:xfrm>
        </p:spPr>
        <p:txBody>
          <a:bodyPr/>
          <a:lstStyle/>
          <a:p>
            <a:r>
              <a:rPr lang="en-GB"/>
              <a:t>Project 05: Hydrogen Sloshing on Ansys FLUENT</a:t>
            </a:r>
          </a:p>
        </p:txBody>
      </p:sp>
      <p:sp>
        <p:nvSpPr>
          <p:cNvPr id="3" name="Content Placeholder 2">
            <a:extLst>
              <a:ext uri="{FF2B5EF4-FFF2-40B4-BE49-F238E27FC236}">
                <a16:creationId xmlns:a16="http://schemas.microsoft.com/office/drawing/2014/main" id="{E2BAFEFA-78D5-E71A-BCE9-F496F186A9C1}"/>
              </a:ext>
            </a:extLst>
          </p:cNvPr>
          <p:cNvSpPr>
            <a:spLocks noGrp="1"/>
          </p:cNvSpPr>
          <p:nvPr>
            <p:ph idx="10"/>
          </p:nvPr>
        </p:nvSpPr>
        <p:spPr>
          <a:xfrm>
            <a:off x="1953172" y="1799273"/>
            <a:ext cx="1948376" cy="376238"/>
          </a:xfrm>
        </p:spPr>
        <p:txBody>
          <a:bodyPr/>
          <a:lstStyle/>
          <a:p>
            <a:pPr algn="ctr"/>
            <a:r>
              <a:rPr lang="en-GB" u="sng"/>
              <a:t>Team Members</a:t>
            </a:r>
          </a:p>
          <a:p>
            <a:pPr algn="ctr"/>
            <a:endParaRPr lang="en-US" u="sng"/>
          </a:p>
          <a:p>
            <a:pPr algn="ctr"/>
            <a:endParaRPr lang="en-GB" u="sng"/>
          </a:p>
        </p:txBody>
      </p:sp>
      <p:sp>
        <p:nvSpPr>
          <p:cNvPr id="5" name="TextBox 4">
            <a:extLst>
              <a:ext uri="{FF2B5EF4-FFF2-40B4-BE49-F238E27FC236}">
                <a16:creationId xmlns:a16="http://schemas.microsoft.com/office/drawing/2014/main" id="{93E0E543-02AE-8ACE-1279-B075F9A7387C}"/>
              </a:ext>
            </a:extLst>
          </p:cNvPr>
          <p:cNvSpPr txBox="1"/>
          <p:nvPr/>
        </p:nvSpPr>
        <p:spPr>
          <a:xfrm>
            <a:off x="5409028" y="353557"/>
            <a:ext cx="2489981" cy="283219"/>
          </a:xfrm>
          <a:prstGeom prst="rect">
            <a:avLst/>
          </a:prstGeom>
          <a:noFill/>
        </p:spPr>
        <p:txBody>
          <a:bodyPr wrap="square" lIns="0" tIns="0" rIns="0" bIns="0" rtlCol="0">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rial"/>
                <a:ea typeface="+mn-ea"/>
                <a:cs typeface="+mn-cs"/>
              </a:rPr>
              <a:t>Dated: 16</a:t>
            </a:r>
            <a:r>
              <a:rPr kumimoji="0" lang="en-US" sz="1400" b="0" i="0" u="none" strike="noStrike" kern="1200" cap="none" spc="0" normalizeH="0" baseline="30000" noProof="0">
                <a:ln>
                  <a:noFill/>
                </a:ln>
                <a:solidFill>
                  <a:prstClr val="white"/>
                </a:solidFill>
                <a:effectLst/>
                <a:uLnTx/>
                <a:uFillTx/>
                <a:latin typeface="Arial"/>
                <a:ea typeface="+mn-ea"/>
                <a:cs typeface="+mn-cs"/>
              </a:rPr>
              <a:t>th</a:t>
            </a:r>
            <a:r>
              <a:rPr kumimoji="0" lang="en-US" sz="1400" b="0" i="0" u="none" strike="noStrike" kern="1200" cap="none" spc="0" normalizeH="0" baseline="0" noProof="0">
                <a:ln>
                  <a:noFill/>
                </a:ln>
                <a:solidFill>
                  <a:prstClr val="white"/>
                </a:solidFill>
                <a:effectLst/>
                <a:uLnTx/>
                <a:uFillTx/>
                <a:latin typeface="Arial"/>
                <a:ea typeface="+mn-ea"/>
                <a:cs typeface="+mn-cs"/>
              </a:rPr>
              <a:t> February 2026</a:t>
            </a:r>
          </a:p>
        </p:txBody>
      </p:sp>
      <p:graphicFrame>
        <p:nvGraphicFramePr>
          <p:cNvPr id="7" name="Diagram 6">
            <a:extLst>
              <a:ext uri="{FF2B5EF4-FFF2-40B4-BE49-F238E27FC236}">
                <a16:creationId xmlns:a16="http://schemas.microsoft.com/office/drawing/2014/main" id="{3678ECCA-9441-F015-9CF6-84050B571406}"/>
              </a:ext>
            </a:extLst>
          </p:cNvPr>
          <p:cNvGraphicFramePr/>
          <p:nvPr>
            <p:extLst>
              <p:ext uri="{D42A27DB-BD31-4B8C-83A1-F6EECF244321}">
                <p14:modId xmlns:p14="http://schemas.microsoft.com/office/powerpoint/2010/main" val="1121680821"/>
              </p:ext>
            </p:extLst>
          </p:nvPr>
        </p:nvGraphicFramePr>
        <p:xfrm>
          <a:off x="239259" y="2078574"/>
          <a:ext cx="5376203" cy="3209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a:extLst>
              <a:ext uri="{FF2B5EF4-FFF2-40B4-BE49-F238E27FC236}">
                <a16:creationId xmlns:a16="http://schemas.microsoft.com/office/drawing/2014/main" id="{6D0C1CEC-C5B8-8DA5-A00C-11358FE62A08}"/>
              </a:ext>
            </a:extLst>
          </p:cNvPr>
          <p:cNvSpPr>
            <a:spLocks noGrp="1"/>
          </p:cNvSpPr>
          <p:nvPr>
            <p:ph type="sldNum" sz="quarter" idx="12"/>
          </p:nvPr>
        </p:nvSpPr>
        <p:spPr/>
        <p:txBody>
          <a:bodyPr/>
          <a:lstStyle/>
          <a:p>
            <a:fld id="{CE58CB1E-F828-4F11-99E0-327109AF9DA4}" type="slidenum">
              <a:rPr lang="de-DE" smtClean="0"/>
              <a:pPr/>
              <a:t>1</a:t>
            </a:fld>
            <a:endParaRPr lang="de-DE"/>
          </a:p>
        </p:txBody>
      </p:sp>
    </p:spTree>
    <p:extLst>
      <p:ext uri="{BB962C8B-B14F-4D97-AF65-F5344CB8AC3E}">
        <p14:creationId xmlns:p14="http://schemas.microsoft.com/office/powerpoint/2010/main" val="30238850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0CF76A-D92E-F039-0A0A-D836D8661E09}"/>
              </a:ext>
            </a:extLst>
          </p:cNvPr>
          <p:cNvSpPr>
            <a:spLocks noGrp="1"/>
          </p:cNvSpPr>
          <p:nvPr>
            <p:ph type="sldNum" sz="quarter" idx="11"/>
          </p:nvPr>
        </p:nvSpPr>
        <p:spPr/>
        <p:txBody>
          <a:bodyPr/>
          <a:lstStyle/>
          <a:p>
            <a:fld id="{CE58CB1E-F828-4F11-99E0-327109AF9DA4}" type="slidenum">
              <a:rPr lang="de-DE" smtClean="0"/>
              <a:pPr/>
              <a:t>2</a:t>
            </a:fld>
            <a:endParaRPr lang="de-DE"/>
          </a:p>
        </p:txBody>
      </p:sp>
      <p:sp>
        <p:nvSpPr>
          <p:cNvPr id="4" name="Footer Placeholder 3">
            <a:extLst>
              <a:ext uri="{FF2B5EF4-FFF2-40B4-BE49-F238E27FC236}">
                <a16:creationId xmlns:a16="http://schemas.microsoft.com/office/drawing/2014/main" id="{04EF78C9-99E2-C01C-FFA5-C88D396A65B3}"/>
              </a:ext>
            </a:extLst>
          </p:cNvPr>
          <p:cNvSpPr>
            <a:spLocks noGrp="1"/>
          </p:cNvSpPr>
          <p:nvPr>
            <p:ph type="ftr" sz="quarter" idx="12"/>
          </p:nvPr>
        </p:nvSpPr>
        <p:spPr>
          <a:xfrm>
            <a:off x="385504" y="4843587"/>
            <a:ext cx="7503442" cy="273844"/>
          </a:xfrm>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6E870AEB-C319-2464-B19B-AFA51F89C06E}"/>
              </a:ext>
            </a:extLst>
          </p:cNvPr>
          <p:cNvSpPr>
            <a:spLocks noGrp="1"/>
          </p:cNvSpPr>
          <p:nvPr>
            <p:ph type="title"/>
          </p:nvPr>
        </p:nvSpPr>
        <p:spPr>
          <a:xfrm>
            <a:off x="1843668" y="261400"/>
            <a:ext cx="6045278" cy="788164"/>
          </a:xfrm>
        </p:spPr>
        <p:txBody>
          <a:bodyPr/>
          <a:lstStyle/>
          <a:p>
            <a:r>
              <a:rPr lang="en-US" b="1">
                <a:solidFill>
                  <a:schemeClr val="bg2"/>
                </a:solidFill>
              </a:rPr>
              <a:t>Executive Summary – Multiphase Sloshing Simulation</a:t>
            </a:r>
          </a:p>
        </p:txBody>
      </p:sp>
      <p:sp>
        <p:nvSpPr>
          <p:cNvPr id="18" name="TextBox 17">
            <a:extLst>
              <a:ext uri="{FF2B5EF4-FFF2-40B4-BE49-F238E27FC236}">
                <a16:creationId xmlns:a16="http://schemas.microsoft.com/office/drawing/2014/main" id="{B9D65225-B20F-1ED4-D7DC-6E12A676B9B3}"/>
              </a:ext>
            </a:extLst>
          </p:cNvPr>
          <p:cNvSpPr txBox="1"/>
          <p:nvPr/>
        </p:nvSpPr>
        <p:spPr>
          <a:xfrm>
            <a:off x="580630" y="1446165"/>
            <a:ext cx="7113190" cy="2793072"/>
          </a:xfrm>
          <a:prstGeom prst="rect">
            <a:avLst/>
          </a:prstGeom>
          <a:noFill/>
        </p:spPr>
        <p:txBody>
          <a:bodyPr wrap="square">
            <a:spAutoFit/>
          </a:bodyPr>
          <a:lstStyle/>
          <a:p>
            <a:pPr>
              <a:buNone/>
            </a:pPr>
            <a:r>
              <a:rPr lang="en-US" sz="1350" b="1"/>
              <a:t>🔷 Objective:</a:t>
            </a:r>
            <a:br>
              <a:rPr lang="en-US" sz="1350"/>
            </a:br>
            <a:r>
              <a:rPr lang="en-US" sz="1350"/>
              <a:t> Transient CFD analysis of liquid–gas sloshing in a partially filled storage tank under harmonic excitation, focusing on interface dynamics, pressure loads and thermal effects.</a:t>
            </a:r>
          </a:p>
          <a:p>
            <a:pPr>
              <a:buNone/>
            </a:pPr>
            <a:r>
              <a:rPr lang="en-US" sz="1350" b="1"/>
              <a:t>🔷 Modeling Approach:</a:t>
            </a:r>
            <a:br>
              <a:rPr lang="en-US" sz="1350"/>
            </a:br>
            <a:r>
              <a:rPr lang="en-US" sz="1350"/>
              <a:t>• 2D tank (~75% water)</a:t>
            </a:r>
            <a:br>
              <a:rPr lang="en-US" sz="1350"/>
            </a:br>
            <a:r>
              <a:rPr lang="en-US" sz="1350"/>
              <a:t>• Harmonic motion (f = 0.89 Hz)</a:t>
            </a:r>
            <a:br>
              <a:rPr lang="en-US" sz="1350"/>
            </a:br>
            <a:r>
              <a:rPr lang="en-US" sz="1350"/>
              <a:t>• Transient pressure-based solver (ANSYS Fluent)</a:t>
            </a:r>
            <a:br>
              <a:rPr lang="en-US" sz="1350"/>
            </a:br>
            <a:r>
              <a:rPr lang="en-US" sz="1350"/>
              <a:t>• VOF + k–</a:t>
            </a:r>
            <a:r>
              <a:rPr lang="el-GR" sz="1350"/>
              <a:t>ω </a:t>
            </a:r>
            <a:r>
              <a:rPr lang="en-US" sz="1350"/>
              <a:t>SST + Energy equation</a:t>
            </a:r>
          </a:p>
          <a:p>
            <a:pPr>
              <a:buNone/>
            </a:pPr>
            <a:r>
              <a:rPr lang="en-US" sz="1350" b="1"/>
              <a:t>🔷 Numerical Verification:</a:t>
            </a:r>
            <a:br>
              <a:rPr lang="en-US" sz="1350"/>
            </a:br>
            <a:r>
              <a:rPr lang="en-US" sz="1350"/>
              <a:t>• 4 structured meshes (1k–24k cells)</a:t>
            </a:r>
            <a:br>
              <a:rPr lang="en-US" sz="1350"/>
            </a:br>
            <a:r>
              <a:rPr lang="en-US" sz="1350"/>
              <a:t>• Monitored: average upper wall pressure</a:t>
            </a:r>
            <a:br>
              <a:rPr lang="en-US" sz="1350"/>
            </a:br>
            <a:r>
              <a:rPr lang="en-US" sz="1350"/>
              <a:t>• 1.8% error (Medium vs Fine)</a:t>
            </a:r>
            <a:br>
              <a:rPr lang="en-US" sz="1350"/>
            </a:br>
            <a:r>
              <a:rPr lang="en-US" sz="1350"/>
              <a:t>• Medium mesh selected for post-processing</a:t>
            </a:r>
          </a:p>
        </p:txBody>
      </p:sp>
      <p:sp>
        <p:nvSpPr>
          <p:cNvPr id="5" name="Rectangle 4">
            <a:extLst>
              <a:ext uri="{FF2B5EF4-FFF2-40B4-BE49-F238E27FC236}">
                <a16:creationId xmlns:a16="http://schemas.microsoft.com/office/drawing/2014/main" id="{30DD772C-2D43-7405-5F73-880872588D0E}"/>
              </a:ext>
            </a:extLst>
          </p:cNvPr>
          <p:cNvSpPr/>
          <p:nvPr/>
        </p:nvSpPr>
        <p:spPr>
          <a:xfrm>
            <a:off x="5278243" y="2756504"/>
            <a:ext cx="3412273" cy="1509596"/>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1350" b="1"/>
              <a:t>🔷 Key Results</a:t>
            </a:r>
            <a:br>
              <a:rPr lang="en-US" sz="1350"/>
            </a:br>
            <a:r>
              <a:rPr lang="en-US" sz="1350"/>
              <a:t>• Stable sloshing for more than one cycle (2 s)</a:t>
            </a:r>
            <a:br>
              <a:rPr lang="en-US" sz="1350"/>
            </a:br>
            <a:r>
              <a:rPr lang="en-US" sz="1350"/>
              <a:t>• Pressure amplification near walls</a:t>
            </a:r>
            <a:br>
              <a:rPr lang="en-US" sz="1350"/>
            </a:br>
            <a:r>
              <a:rPr lang="en-US" sz="1350"/>
              <a:t>• Similar wave </a:t>
            </a:r>
            <a:r>
              <a:rPr lang="en-US" sz="1350" err="1"/>
              <a:t>behaviour</a:t>
            </a:r>
            <a:r>
              <a:rPr lang="en-US" sz="1350"/>
              <a:t> for both gases</a:t>
            </a:r>
            <a:br>
              <a:rPr lang="en-US" sz="1350"/>
            </a:br>
            <a:r>
              <a:rPr lang="en-US" sz="1350"/>
              <a:t>• Suitable for structural safety assessment</a:t>
            </a:r>
          </a:p>
        </p:txBody>
      </p:sp>
      <p:pic>
        <p:nvPicPr>
          <p:cNvPr id="8" name="Picture 7" descr="A colorful diagram and pie chart&#10;&#10;AI-generated content may be incorrect.">
            <a:extLst>
              <a:ext uri="{FF2B5EF4-FFF2-40B4-BE49-F238E27FC236}">
                <a16:creationId xmlns:a16="http://schemas.microsoft.com/office/drawing/2014/main" id="{8786356E-C97E-F030-51F7-CB192B41D528}"/>
              </a:ext>
            </a:extLst>
          </p:cNvPr>
          <p:cNvPicPr>
            <a:picLocks noChangeAspect="1"/>
          </p:cNvPicPr>
          <p:nvPr/>
        </p:nvPicPr>
        <p:blipFill>
          <a:blip r:embed="rId2"/>
          <a:stretch>
            <a:fillRect/>
          </a:stretch>
        </p:blipFill>
        <p:spPr>
          <a:xfrm>
            <a:off x="726158" y="205212"/>
            <a:ext cx="742256" cy="742256"/>
          </a:xfrm>
          <a:prstGeom prst="rect">
            <a:avLst/>
          </a:prstGeom>
        </p:spPr>
      </p:pic>
    </p:spTree>
    <p:extLst>
      <p:ext uri="{BB962C8B-B14F-4D97-AF65-F5344CB8AC3E}">
        <p14:creationId xmlns:p14="http://schemas.microsoft.com/office/powerpoint/2010/main" val="12316499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80CF76A-D92E-F039-0A0A-D836D8661E09}"/>
              </a:ext>
            </a:extLst>
          </p:cNvPr>
          <p:cNvSpPr>
            <a:spLocks noGrp="1"/>
          </p:cNvSpPr>
          <p:nvPr>
            <p:ph type="sldNum" sz="quarter" idx="11"/>
          </p:nvPr>
        </p:nvSpPr>
        <p:spPr/>
        <p:txBody>
          <a:bodyPr/>
          <a:lstStyle/>
          <a:p>
            <a:fld id="{CE58CB1E-F828-4F11-99E0-327109AF9DA4}" type="slidenum">
              <a:rPr lang="de-DE" smtClean="0"/>
              <a:pPr/>
              <a:t>3</a:t>
            </a:fld>
            <a:endParaRPr lang="de-DE"/>
          </a:p>
        </p:txBody>
      </p:sp>
      <p:sp>
        <p:nvSpPr>
          <p:cNvPr id="4" name="Footer Placeholder 3">
            <a:extLst>
              <a:ext uri="{FF2B5EF4-FFF2-40B4-BE49-F238E27FC236}">
                <a16:creationId xmlns:a16="http://schemas.microsoft.com/office/drawing/2014/main" id="{04EF78C9-99E2-C01C-FFA5-C88D396A65B3}"/>
              </a:ext>
            </a:extLst>
          </p:cNvPr>
          <p:cNvSpPr>
            <a:spLocks noGrp="1"/>
          </p:cNvSpPr>
          <p:nvPr>
            <p:ph type="ftr" sz="quarter" idx="12"/>
          </p:nvPr>
        </p:nvSpPr>
        <p:spPr>
          <a:xfrm>
            <a:off x="385504" y="4843587"/>
            <a:ext cx="7503442" cy="273844"/>
          </a:xfrm>
        </p:spPr>
        <p:txBody>
          <a:bodyPr/>
          <a:lstStyle/>
          <a:p>
            <a:r>
              <a:rPr lang="en-US"/>
              <a:t>Technical University of Munich, TUM | Chair of Thermodynamics | Multiphase Flows | Project Presentation  </a:t>
            </a:r>
          </a:p>
        </p:txBody>
      </p:sp>
      <p:sp>
        <p:nvSpPr>
          <p:cNvPr id="5" name="Text Placeholder 4">
            <a:extLst>
              <a:ext uri="{FF2B5EF4-FFF2-40B4-BE49-F238E27FC236}">
                <a16:creationId xmlns:a16="http://schemas.microsoft.com/office/drawing/2014/main" id="{8E49FC45-430D-16D9-2859-F25B9AC4A58F}"/>
              </a:ext>
            </a:extLst>
          </p:cNvPr>
          <p:cNvSpPr>
            <a:spLocks noGrp="1"/>
          </p:cNvSpPr>
          <p:nvPr>
            <p:ph type="body" sz="quarter" idx="13"/>
          </p:nvPr>
        </p:nvSpPr>
        <p:spPr>
          <a:xfrm>
            <a:off x="488836" y="1282232"/>
            <a:ext cx="2529618" cy="3372921"/>
          </a:xfrm>
        </p:spPr>
        <p:txBody>
          <a:bodyPr/>
          <a:lstStyle/>
          <a:p>
            <a:pPr algn="ctr"/>
            <a:r>
              <a:rPr lang="en-US"/>
              <a:t>Sloshing - Motion of a Liquid’s Free Surface, due to tank movement</a:t>
            </a:r>
          </a:p>
          <a:p>
            <a:pPr algn="ctr"/>
            <a:endParaRPr lang="en-US"/>
          </a:p>
          <a:p>
            <a:pPr algn="ctr"/>
            <a:r>
              <a:rPr lang="en-US"/>
              <a:t>Fundamental fluid phenomenon in many real-world systems</a:t>
            </a:r>
          </a:p>
          <a:p>
            <a:endParaRPr lang="en-US"/>
          </a:p>
          <a:p>
            <a:r>
              <a:rPr lang="en-US">
                <a:solidFill>
                  <a:schemeClr val="accent4"/>
                </a:solidFill>
              </a:rPr>
              <a:t>Talking about Hydrogen…</a:t>
            </a:r>
          </a:p>
          <a:p>
            <a:endParaRPr lang="en-US"/>
          </a:p>
          <a:p>
            <a:r>
              <a:rPr lang="en-US">
                <a:solidFill>
                  <a:schemeClr val="accent4"/>
                </a:solidFill>
              </a:rPr>
              <a:t>Applications:</a:t>
            </a:r>
          </a:p>
          <a:p>
            <a:pPr marL="285750" indent="-285750">
              <a:buFont typeface="Arial" panose="020B0604020202020204" pitchFamily="34" charset="0"/>
              <a:buChar char="•"/>
            </a:pPr>
            <a:r>
              <a:rPr lang="en-US">
                <a:solidFill>
                  <a:schemeClr val="accent4"/>
                </a:solidFill>
              </a:rPr>
              <a:t>Transport Vehicles</a:t>
            </a:r>
          </a:p>
          <a:p>
            <a:pPr marL="285750" indent="-285750">
              <a:buFont typeface="Arial" panose="020B0604020202020204" pitchFamily="34" charset="0"/>
              <a:buChar char="•"/>
            </a:pPr>
            <a:r>
              <a:rPr lang="en-US">
                <a:solidFill>
                  <a:schemeClr val="accent4"/>
                </a:solidFill>
              </a:rPr>
              <a:t>Aerospace Rockets</a:t>
            </a:r>
          </a:p>
          <a:p>
            <a:pPr marL="285750" indent="-285750">
              <a:buFont typeface="Arial" panose="020B0604020202020204" pitchFamily="34" charset="0"/>
              <a:buChar char="•"/>
            </a:pPr>
            <a:r>
              <a:rPr lang="en-US">
                <a:solidFill>
                  <a:schemeClr val="accent4"/>
                </a:solidFill>
              </a:rPr>
              <a:t>Cryogenic Storage Tanks </a:t>
            </a:r>
          </a:p>
          <a:p>
            <a:pPr marL="285750" indent="-285750">
              <a:buFont typeface="Arial" panose="020B0604020202020204" pitchFamily="34" charset="0"/>
              <a:buChar char="•"/>
            </a:pPr>
            <a:endParaRPr lang="en-US"/>
          </a:p>
        </p:txBody>
      </p:sp>
      <p:sp>
        <p:nvSpPr>
          <p:cNvPr id="6" name="Title 5">
            <a:extLst>
              <a:ext uri="{FF2B5EF4-FFF2-40B4-BE49-F238E27FC236}">
                <a16:creationId xmlns:a16="http://schemas.microsoft.com/office/drawing/2014/main" id="{6E870AEB-C319-2464-B19B-AFA51F89C06E}"/>
              </a:ext>
            </a:extLst>
          </p:cNvPr>
          <p:cNvSpPr>
            <a:spLocks noGrp="1"/>
          </p:cNvSpPr>
          <p:nvPr>
            <p:ph type="title"/>
          </p:nvPr>
        </p:nvSpPr>
        <p:spPr>
          <a:xfrm>
            <a:off x="1845394" y="467804"/>
            <a:ext cx="5453211" cy="410369"/>
          </a:xfrm>
        </p:spPr>
        <p:txBody>
          <a:bodyPr/>
          <a:lstStyle/>
          <a:p>
            <a:pPr algn="ctr"/>
            <a:r>
              <a:rPr lang="en-US" sz="3200" b="1">
                <a:solidFill>
                  <a:schemeClr val="bg2"/>
                </a:solidFill>
              </a:rPr>
              <a:t>Motivation for the Study</a:t>
            </a:r>
          </a:p>
        </p:txBody>
      </p:sp>
      <p:pic>
        <p:nvPicPr>
          <p:cNvPr id="7" name="sloshing-tank">
            <a:hlinkClick r:id="" action="ppaction://media"/>
            <a:extLst>
              <a:ext uri="{FF2B5EF4-FFF2-40B4-BE49-F238E27FC236}">
                <a16:creationId xmlns:a16="http://schemas.microsoft.com/office/drawing/2014/main" id="{6504782D-B4DF-428D-709E-5E205E5F79E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746810" y="1066607"/>
            <a:ext cx="5011686" cy="3776980"/>
          </a:xfrm>
          <a:prstGeom prst="rect">
            <a:avLst/>
          </a:prstGeom>
        </p:spPr>
      </p:pic>
      <p:pic>
        <p:nvPicPr>
          <p:cNvPr id="11" name="Picture 10" descr="A person walking up a staircase&#10;&#10;AI-generated content may be incorrect.">
            <a:extLst>
              <a:ext uri="{FF2B5EF4-FFF2-40B4-BE49-F238E27FC236}">
                <a16:creationId xmlns:a16="http://schemas.microsoft.com/office/drawing/2014/main" id="{DE99F2FC-4C67-E713-DD9E-F9260C23F84D}"/>
              </a:ext>
            </a:extLst>
          </p:cNvPr>
          <p:cNvPicPr>
            <a:picLocks noChangeAspect="1"/>
          </p:cNvPicPr>
          <p:nvPr/>
        </p:nvPicPr>
        <p:blipFill>
          <a:blip r:embed="rId5"/>
          <a:stretch>
            <a:fillRect/>
          </a:stretch>
        </p:blipFill>
        <p:spPr>
          <a:xfrm>
            <a:off x="959878" y="175473"/>
            <a:ext cx="738112" cy="738112"/>
          </a:xfrm>
          <a:prstGeom prst="rect">
            <a:avLst/>
          </a:prstGeom>
        </p:spPr>
      </p:pic>
    </p:spTree>
    <p:extLst>
      <p:ext uri="{BB962C8B-B14F-4D97-AF65-F5344CB8AC3E}">
        <p14:creationId xmlns:p14="http://schemas.microsoft.com/office/powerpoint/2010/main" val="8115427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40"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anim calcmode="lin" valueType="num">
                                      <p:cBhvr additive="base">
                                        <p:cTn id="1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anim calcmode="lin" valueType="num">
                                      <p:cBhvr additive="base">
                                        <p:cTn id="1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anim calcmode="lin" valueType="num">
                                      <p:cBhvr additive="base">
                                        <p:cTn id="2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 calcmode="lin" valueType="num">
                                      <p:cBhvr additive="base">
                                        <p:cTn id="2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9" repeatCount="indefinite" fill="remove" display="0">
                  <p:stCondLst>
                    <p:cond delay="indefinite"/>
                  </p:stCondLst>
                </p:cTn>
                <p:tgtEl>
                  <p:spTgt spid="7"/>
                </p:tgtEl>
              </p:cMediaNode>
            </p:video>
            <p:seq concurrent="1" nextAc="seek">
              <p:cTn id="30" restart="whenNotActive" fill="hold" evtFilter="cancelBubble" nodeType="interactiveSeq">
                <p:stCondLst>
                  <p:cond evt="onClick" delay="0">
                    <p:tgtEl>
                      <p:spTgt spid="7"/>
                    </p:tgtEl>
                  </p:cond>
                </p:stCondLst>
                <p:endSync evt="end" delay="0">
                  <p:rtn val="all"/>
                </p:endSync>
                <p:childTnLst>
                  <p:par>
                    <p:cTn id="31" fill="hold">
                      <p:stCondLst>
                        <p:cond delay="0"/>
                      </p:stCondLst>
                      <p:childTnLst>
                        <p:par>
                          <p:cTn id="32" fill="hold">
                            <p:stCondLst>
                              <p:cond delay="0"/>
                            </p:stCondLst>
                            <p:childTnLst>
                              <p:par>
                                <p:cTn id="33" presetID="2" presetClass="mediacall" presetSubtype="0" fill="hold" nodeType="clickEffect">
                                  <p:stCondLst>
                                    <p:cond delay="0"/>
                                  </p:stCondLst>
                                  <p:childTnLst>
                                    <p:cmd type="call" cmd="togglePause">
                                      <p:cBhvr>
                                        <p:cTn id="34"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25F8E-CD9F-156D-8FF7-336A3BA5256B}"/>
              </a:ext>
            </a:extLst>
          </p:cNvPr>
          <p:cNvSpPr>
            <a:spLocks noGrp="1"/>
          </p:cNvSpPr>
          <p:nvPr>
            <p:ph type="title"/>
          </p:nvPr>
        </p:nvSpPr>
        <p:spPr>
          <a:xfrm>
            <a:off x="311161" y="298085"/>
            <a:ext cx="7886700" cy="993775"/>
          </a:xfrm>
        </p:spPr>
        <p:txBody>
          <a:bodyPr/>
          <a:lstStyle/>
          <a:p>
            <a:r>
              <a:rPr lang="en-US" b="1">
                <a:solidFill>
                  <a:schemeClr val="bg2"/>
                </a:solidFill>
              </a:rPr>
              <a:t>What are the problems in such applications?</a:t>
            </a:r>
          </a:p>
        </p:txBody>
      </p:sp>
      <p:sp>
        <p:nvSpPr>
          <p:cNvPr id="3" name="Slide Number Placeholder 2">
            <a:extLst>
              <a:ext uri="{FF2B5EF4-FFF2-40B4-BE49-F238E27FC236}">
                <a16:creationId xmlns:a16="http://schemas.microsoft.com/office/drawing/2014/main" id="{6902F59C-29D5-F9B9-4E2A-43B9DCBAACC2}"/>
              </a:ext>
            </a:extLst>
          </p:cNvPr>
          <p:cNvSpPr>
            <a:spLocks noGrp="1"/>
          </p:cNvSpPr>
          <p:nvPr>
            <p:ph type="sldNum" sz="quarter" idx="10"/>
          </p:nvPr>
        </p:nvSpPr>
        <p:spPr/>
        <p:txBody>
          <a:bodyPr/>
          <a:lstStyle/>
          <a:p>
            <a:r>
              <a:rPr lang="de-DE"/>
              <a:t>1</a:t>
            </a:r>
          </a:p>
        </p:txBody>
      </p:sp>
      <p:sp>
        <p:nvSpPr>
          <p:cNvPr id="4" name="Footer Placeholder 3">
            <a:extLst>
              <a:ext uri="{FF2B5EF4-FFF2-40B4-BE49-F238E27FC236}">
                <a16:creationId xmlns:a16="http://schemas.microsoft.com/office/drawing/2014/main" id="{42BCB24D-2D76-03DE-54B3-C5987467A6C9}"/>
              </a:ext>
            </a:extLst>
          </p:cNvPr>
          <p:cNvSpPr>
            <a:spLocks noGrp="1"/>
          </p:cNvSpPr>
          <p:nvPr>
            <p:ph type="ftr" sz="quarter" idx="11"/>
          </p:nvPr>
        </p:nvSpPr>
        <p:spPr/>
        <p:txBody>
          <a:bodyPr/>
          <a:lstStyle/>
          <a:p>
            <a:r>
              <a:rPr lang="en-US"/>
              <a:t>Technical University of Munich, TUM | Chair of Thermodynamics | Multiphase Flows | Project Presentation  </a:t>
            </a:r>
          </a:p>
        </p:txBody>
      </p:sp>
      <p:graphicFrame>
        <p:nvGraphicFramePr>
          <p:cNvPr id="5" name="Diagram 4">
            <a:extLst>
              <a:ext uri="{FF2B5EF4-FFF2-40B4-BE49-F238E27FC236}">
                <a16:creationId xmlns:a16="http://schemas.microsoft.com/office/drawing/2014/main" id="{EBAE9769-8F3B-207B-5420-CD00379D57EC}"/>
              </a:ext>
            </a:extLst>
          </p:cNvPr>
          <p:cNvGraphicFramePr/>
          <p:nvPr>
            <p:extLst>
              <p:ext uri="{D42A27DB-BD31-4B8C-83A1-F6EECF244321}">
                <p14:modId xmlns:p14="http://schemas.microsoft.com/office/powerpoint/2010/main" val="1047655910"/>
              </p:ext>
            </p:extLst>
          </p:nvPr>
        </p:nvGraphicFramePr>
        <p:xfrm>
          <a:off x="830519" y="1048039"/>
          <a:ext cx="5902976" cy="3601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cartoon of a person thinking&#10;&#10;AI-generated content may be incorrect.">
            <a:extLst>
              <a:ext uri="{FF2B5EF4-FFF2-40B4-BE49-F238E27FC236}">
                <a16:creationId xmlns:a16="http://schemas.microsoft.com/office/drawing/2014/main" id="{4CFFED5C-4E4E-40D3-AAFF-40AF93D99B58}"/>
              </a:ext>
            </a:extLst>
          </p:cNvPr>
          <p:cNvPicPr>
            <a:picLocks noChangeAspect="1"/>
          </p:cNvPicPr>
          <p:nvPr/>
        </p:nvPicPr>
        <p:blipFill>
          <a:blip r:embed="rId7"/>
          <a:stretch>
            <a:fillRect/>
          </a:stretch>
        </p:blipFill>
        <p:spPr>
          <a:xfrm>
            <a:off x="7694155" y="1138452"/>
            <a:ext cx="1243805" cy="124380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DAD5100-9A73-0EF0-AC9C-40AD353F2AD2}"/>
                  </a:ext>
                </a:extLst>
              </p:cNvPr>
              <p:cNvSpPr txBox="1"/>
              <p:nvPr/>
            </p:nvSpPr>
            <p:spPr>
              <a:xfrm>
                <a:off x="7252854" y="2848767"/>
                <a:ext cx="1387117" cy="1960793"/>
              </a:xfrm>
              <a:prstGeom prst="rect">
                <a:avLst/>
              </a:prstGeom>
              <a:noFill/>
            </p:spPr>
            <p:txBody>
              <a:bodyPr wrap="square" lIns="0" tIns="0" rIns="0" bIns="0" rtlCol="0">
                <a:spAutoFit/>
              </a:bodyPr>
              <a:lstStyle/>
              <a:p>
                <a:endParaRPr lang="en-US" sz="1600"/>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m:t>
                      </m:r>
                      <m:f>
                        <m:fPr>
                          <m:ctrlPr>
                            <a:rPr lang="ar-AE" sz="1600" i="1">
                              <a:latin typeface="Cambria Math" panose="02040503050406030204" pitchFamily="18" charset="0"/>
                            </a:rPr>
                          </m:ctrlPr>
                        </m:fPr>
                        <m:num>
                          <m:r>
                            <m:rPr>
                              <m:sty m:val="p"/>
                            </m:rPr>
                            <a:rPr lang="el-GR" sz="1600">
                              <a:latin typeface="Cambria Math" panose="02040503050406030204" pitchFamily="18" charset="0"/>
                            </a:rPr>
                            <m:t>Δ</m:t>
                          </m:r>
                          <m:d>
                            <m:dPr>
                              <m:ctrlPr>
                                <a:rPr lang="ar-AE" sz="1600" i="1">
                                  <a:latin typeface="Cambria Math" panose="02040503050406030204" pitchFamily="18" charset="0"/>
                                </a:rPr>
                              </m:ctrlPr>
                            </m:dPr>
                            <m:e>
                              <m:r>
                                <a:rPr lang="ar-AE" sz="1600" i="1">
                                  <a:latin typeface="Cambria Math" panose="02040503050406030204" pitchFamily="18" charset="0"/>
                                </a:rPr>
                                <m:t>𝑚𝑣</m:t>
                              </m:r>
                            </m:e>
                          </m:d>
                        </m:num>
                        <m:den>
                          <m:r>
                            <m:rPr>
                              <m:sty m:val="p"/>
                            </m:rPr>
                            <a:rPr lang="el-GR" sz="1600">
                              <a:latin typeface="Cambria Math" panose="02040503050406030204" pitchFamily="18" charset="0"/>
                            </a:rPr>
                            <m:t>Δ</m:t>
                          </m:r>
                          <m:r>
                            <a:rPr lang="el-GR" sz="1600" i="1">
                              <a:latin typeface="Cambria Math" panose="02040503050406030204" pitchFamily="18" charset="0"/>
                            </a:rPr>
                            <m:t>𝑡</m:t>
                          </m:r>
                        </m:den>
                      </m:f>
                    </m:oMath>
                  </m:oMathPara>
                </a14:m>
                <a:endParaRPr lang="en-US" sz="1600"/>
              </a:p>
              <a:p>
                <a:endParaRPr lang="el-GR" sz="1600"/>
              </a:p>
              <a:p>
                <a:pPr/>
                <a14:m>
                  <m:oMathPara xmlns:m="http://schemas.openxmlformats.org/officeDocument/2006/math">
                    <m:oMathParaPr>
                      <m:jc m:val="centerGroup"/>
                    </m:oMathParaPr>
                    <m:oMath xmlns:m="http://schemas.openxmlformats.org/officeDocument/2006/math">
                      <m:r>
                        <m:rPr>
                          <m:sty m:val="p"/>
                        </m:rPr>
                        <a:rPr lang="el-GR" sz="1600">
                          <a:latin typeface="Cambria Math" panose="02040503050406030204" pitchFamily="18" charset="0"/>
                        </a:rPr>
                        <m:t>Δ</m:t>
                      </m:r>
                      <m:r>
                        <a:rPr lang="el-GR" sz="1600" i="1">
                          <a:latin typeface="Cambria Math" panose="02040503050406030204" pitchFamily="18" charset="0"/>
                        </a:rPr>
                        <m:t>𝑃</m:t>
                      </m:r>
                      <m:r>
                        <a:rPr lang="el-GR" sz="1600">
                          <a:latin typeface="Cambria Math" panose="02040503050406030204" pitchFamily="18" charset="0"/>
                        </a:rPr>
                        <m:t>≈</m:t>
                      </m:r>
                      <m:r>
                        <a:rPr lang="el-GR" sz="1600" i="1">
                          <a:latin typeface="Cambria Math" panose="02040503050406030204" pitchFamily="18" charset="0"/>
                        </a:rPr>
                        <m:t>𝜌</m:t>
                      </m:r>
                      <m:r>
                        <m:rPr>
                          <m:sty m:val="p"/>
                        </m:rPr>
                        <a:rPr lang="el-GR" sz="1600">
                          <a:latin typeface="Cambria Math" panose="02040503050406030204" pitchFamily="18" charset="0"/>
                        </a:rPr>
                        <m:t>Δ</m:t>
                      </m:r>
                      <m:sSup>
                        <m:sSupPr>
                          <m:ctrlPr>
                            <a:rPr lang="ar-AE" sz="1600" i="1">
                              <a:latin typeface="Cambria Math" panose="02040503050406030204" pitchFamily="18" charset="0"/>
                            </a:rPr>
                          </m:ctrlPr>
                        </m:sSupPr>
                        <m:e>
                          <m:r>
                            <a:rPr lang="ar-AE" sz="1600" i="1">
                              <a:latin typeface="Cambria Math" panose="02040503050406030204" pitchFamily="18" charset="0"/>
                            </a:rPr>
                            <m:t>𝑣</m:t>
                          </m:r>
                        </m:e>
                        <m:sup>
                          <m:r>
                            <a:rPr lang="ar-AE" sz="1600">
                              <a:latin typeface="Cambria Math" panose="02040503050406030204" pitchFamily="18" charset="0"/>
                            </a:rPr>
                            <m:t>2</m:t>
                          </m:r>
                        </m:sup>
                      </m:sSup>
                    </m:oMath>
                  </m:oMathPara>
                </a14:m>
                <a:endParaRPr lang="ar-AE" sz="1600"/>
              </a:p>
              <a:p>
                <a:endParaRPr lang="ar-AE" sz="1600"/>
              </a:p>
              <a:p>
                <a:endParaRPr lang="en-US" sz="1600"/>
              </a:p>
              <a:p>
                <a:r>
                  <a:rPr lang="en-US" sz="1600"/>
                  <a:t>​ </a:t>
                </a:r>
              </a:p>
            </p:txBody>
          </p:sp>
        </mc:Choice>
        <mc:Fallback xmlns="">
          <p:sp>
            <p:nvSpPr>
              <p:cNvPr id="8" name="TextBox 7">
                <a:extLst>
                  <a:ext uri="{FF2B5EF4-FFF2-40B4-BE49-F238E27FC236}">
                    <a16:creationId xmlns:a16="http://schemas.microsoft.com/office/drawing/2014/main" id="{6DAD5100-9A73-0EF0-AC9C-40AD353F2AD2}"/>
                  </a:ext>
                </a:extLst>
              </p:cNvPr>
              <p:cNvSpPr txBox="1">
                <a:spLocks noRot="1" noChangeAspect="1" noMove="1" noResize="1" noEditPoints="1" noAdjustHandles="1" noChangeArrowheads="1" noChangeShapeType="1" noTextEdit="1"/>
              </p:cNvSpPr>
              <p:nvPr/>
            </p:nvSpPr>
            <p:spPr>
              <a:xfrm>
                <a:off x="7252854" y="2848767"/>
                <a:ext cx="1387117" cy="1960793"/>
              </a:xfrm>
              <a:prstGeom prst="rect">
                <a:avLst/>
              </a:prstGeom>
              <a:blipFill>
                <a:blip r:embed="rId8"/>
                <a:stretch>
                  <a:fillRect l="-9251" b="-5280"/>
                </a:stretch>
              </a:blipFill>
            </p:spPr>
            <p:txBody>
              <a:bodyPr/>
              <a:lstStyle/>
              <a:p>
                <a:r>
                  <a:rPr lang="en-US">
                    <a:noFill/>
                  </a:rPr>
                  <a:t> </a:t>
                </a:r>
              </a:p>
            </p:txBody>
          </p:sp>
        </mc:Fallback>
      </mc:AlternateContent>
    </p:spTree>
    <p:extLst>
      <p:ext uri="{BB962C8B-B14F-4D97-AF65-F5344CB8AC3E}">
        <p14:creationId xmlns:p14="http://schemas.microsoft.com/office/powerpoint/2010/main" val="267879580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blue rectangle with orange lines&#10;&#10;AI-generated content may be incorrect.">
            <a:extLst>
              <a:ext uri="{FF2B5EF4-FFF2-40B4-BE49-F238E27FC236}">
                <a16:creationId xmlns:a16="http://schemas.microsoft.com/office/drawing/2014/main" id="{C9497636-B7D5-2D9C-85D5-19826EC5D33B}"/>
              </a:ext>
            </a:extLst>
          </p:cNvPr>
          <p:cNvPicPr>
            <a:picLocks noGrp="1" noChangeAspect="1"/>
          </p:cNvPicPr>
          <p:nvPr>
            <p:ph idx="1"/>
          </p:nvPr>
        </p:nvPicPr>
        <p:blipFill>
          <a:blip r:embed="rId2"/>
          <a:stretch>
            <a:fillRect/>
          </a:stretch>
        </p:blipFill>
        <p:spPr>
          <a:xfrm>
            <a:off x="311161" y="1956217"/>
            <a:ext cx="5413496" cy="2670380"/>
          </a:xfrm>
          <a:prstGeom prst="rect">
            <a:avLst/>
          </a:prstGeom>
          <a:ln w="9525">
            <a:noFill/>
            <a:miter lim="800000"/>
            <a:headEnd/>
            <a:tailEnd/>
          </a:ln>
        </p:spPr>
      </p:pic>
      <p:sp>
        <p:nvSpPr>
          <p:cNvPr id="3" name="Slide Number Placeholder 2">
            <a:extLst>
              <a:ext uri="{FF2B5EF4-FFF2-40B4-BE49-F238E27FC236}">
                <a16:creationId xmlns:a16="http://schemas.microsoft.com/office/drawing/2014/main" id="{7A610472-1A71-C846-F873-F1C5EDA82AD5}"/>
              </a:ext>
            </a:extLst>
          </p:cNvPr>
          <p:cNvSpPr>
            <a:spLocks noGrp="1"/>
          </p:cNvSpPr>
          <p:nvPr>
            <p:ph type="sldNum" sz="quarter" idx="11"/>
          </p:nvPr>
        </p:nvSpPr>
        <p:spPr/>
        <p:txBody>
          <a:bodyPr/>
          <a:lstStyle/>
          <a:p>
            <a:fld id="{CE58CB1E-F828-4F11-99E0-327109AF9DA4}" type="slidenum">
              <a:rPr lang="de-DE" smtClean="0"/>
              <a:pPr/>
              <a:t>5</a:t>
            </a:fld>
            <a:endParaRPr lang="de-DE"/>
          </a:p>
        </p:txBody>
      </p:sp>
      <p:sp>
        <p:nvSpPr>
          <p:cNvPr id="4" name="Footer Placeholder 3">
            <a:extLst>
              <a:ext uri="{FF2B5EF4-FFF2-40B4-BE49-F238E27FC236}">
                <a16:creationId xmlns:a16="http://schemas.microsoft.com/office/drawing/2014/main" id="{48D9B7FB-03A4-EE75-8C46-C03076CFA1DB}"/>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5" name="Text Placeholder 4">
            <a:extLst>
              <a:ext uri="{FF2B5EF4-FFF2-40B4-BE49-F238E27FC236}">
                <a16:creationId xmlns:a16="http://schemas.microsoft.com/office/drawing/2014/main" id="{E69D41EA-E6A9-F525-3B2A-F4D469B5A3FA}"/>
              </a:ext>
            </a:extLst>
          </p:cNvPr>
          <p:cNvSpPr>
            <a:spLocks noGrp="1"/>
          </p:cNvSpPr>
          <p:nvPr>
            <p:ph type="body" sz="quarter" idx="13"/>
          </p:nvPr>
        </p:nvSpPr>
        <p:spPr>
          <a:xfrm>
            <a:off x="378441" y="970748"/>
            <a:ext cx="7922233" cy="505304"/>
          </a:xfrm>
        </p:spPr>
        <p:txBody>
          <a:bodyPr/>
          <a:lstStyle/>
          <a:p>
            <a:r>
              <a:rPr lang="en-US">
                <a:solidFill>
                  <a:schemeClr val="bg2"/>
                </a:solidFill>
              </a:rPr>
              <a:t>Transient CFD Simulation to study Fluid Interface, Liquid-Gas Regions, Heat transfer from Tank to Atmosphere, Wave Behavior, Fluid-Wall Interactions</a:t>
            </a:r>
          </a:p>
        </p:txBody>
      </p:sp>
      <p:sp>
        <p:nvSpPr>
          <p:cNvPr id="6" name="Title 5">
            <a:extLst>
              <a:ext uri="{FF2B5EF4-FFF2-40B4-BE49-F238E27FC236}">
                <a16:creationId xmlns:a16="http://schemas.microsoft.com/office/drawing/2014/main" id="{65FE6BFB-2AE0-63AB-0DC4-15134073124D}"/>
              </a:ext>
            </a:extLst>
          </p:cNvPr>
          <p:cNvSpPr>
            <a:spLocks noGrp="1"/>
          </p:cNvSpPr>
          <p:nvPr>
            <p:ph type="title"/>
          </p:nvPr>
        </p:nvSpPr>
        <p:spPr>
          <a:xfrm>
            <a:off x="311162" y="293460"/>
            <a:ext cx="8508999" cy="380810"/>
          </a:xfrm>
        </p:spPr>
        <p:txBody>
          <a:bodyPr/>
          <a:lstStyle/>
          <a:p>
            <a:r>
              <a:rPr lang="en-US" b="1">
                <a:solidFill>
                  <a:schemeClr val="bg2"/>
                </a:solidFill>
              </a:rPr>
              <a:t>Case Description (Hydrogen Sloshing in a Tank)</a:t>
            </a:r>
          </a:p>
        </p:txBody>
      </p:sp>
      <p:cxnSp>
        <p:nvCxnSpPr>
          <p:cNvPr id="10" name="Straight Arrow Connector 9">
            <a:extLst>
              <a:ext uri="{FF2B5EF4-FFF2-40B4-BE49-F238E27FC236}">
                <a16:creationId xmlns:a16="http://schemas.microsoft.com/office/drawing/2014/main" id="{27A99C68-0E5B-2701-C3C7-CE84AF3544E4}"/>
              </a:ext>
            </a:extLst>
          </p:cNvPr>
          <p:cNvCxnSpPr>
            <a:cxnSpLocks/>
          </p:cNvCxnSpPr>
          <p:nvPr/>
        </p:nvCxnSpPr>
        <p:spPr>
          <a:xfrm>
            <a:off x="5493434" y="2060917"/>
            <a:ext cx="0" cy="19343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592DB1-AE67-FB4D-F8F6-A0BBA873B234}"/>
              </a:ext>
            </a:extLst>
          </p:cNvPr>
          <p:cNvSpPr txBox="1"/>
          <p:nvPr/>
        </p:nvSpPr>
        <p:spPr>
          <a:xfrm rot="16200000">
            <a:off x="5320203" y="2943656"/>
            <a:ext cx="640079" cy="168829"/>
          </a:xfrm>
          <a:prstGeom prst="rect">
            <a:avLst/>
          </a:prstGeom>
          <a:noFill/>
        </p:spPr>
        <p:txBody>
          <a:bodyPr wrap="square" lIns="0" tIns="0" rIns="0" bIns="0" rtlCol="0">
            <a:spAutoFit/>
          </a:bodyPr>
          <a:lstStyle/>
          <a:p>
            <a:pPr algn="ctr">
              <a:lnSpc>
                <a:spcPct val="114000"/>
              </a:lnSpc>
            </a:pPr>
            <a:r>
              <a:rPr lang="en-US" sz="1050">
                <a:solidFill>
                  <a:schemeClr val="tx1">
                    <a:lumMod val="65000"/>
                    <a:lumOff val="35000"/>
                  </a:schemeClr>
                </a:solidFill>
                <a:latin typeface="+mn-lt"/>
                <a:cs typeface="+mn-cs"/>
              </a:rPr>
              <a:t>0.35 m</a:t>
            </a:r>
          </a:p>
        </p:txBody>
      </p:sp>
      <p:cxnSp>
        <p:nvCxnSpPr>
          <p:cNvPr id="15" name="Straight Arrow Connector 14">
            <a:extLst>
              <a:ext uri="{FF2B5EF4-FFF2-40B4-BE49-F238E27FC236}">
                <a16:creationId xmlns:a16="http://schemas.microsoft.com/office/drawing/2014/main" id="{5CD715D6-4AE4-A93C-E790-0BDB22C309B4}"/>
              </a:ext>
            </a:extLst>
          </p:cNvPr>
          <p:cNvCxnSpPr>
            <a:cxnSpLocks/>
          </p:cNvCxnSpPr>
          <p:nvPr/>
        </p:nvCxnSpPr>
        <p:spPr>
          <a:xfrm>
            <a:off x="1041009" y="1956217"/>
            <a:ext cx="40444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D9AF72C-BCB1-1A1A-ECF5-FC6D545BB2BD}"/>
              </a:ext>
            </a:extLst>
          </p:cNvPr>
          <p:cNvSpPr txBox="1"/>
          <p:nvPr/>
        </p:nvSpPr>
        <p:spPr>
          <a:xfrm>
            <a:off x="2718581" y="1727829"/>
            <a:ext cx="640079" cy="168829"/>
          </a:xfrm>
          <a:prstGeom prst="rect">
            <a:avLst/>
          </a:prstGeom>
          <a:noFill/>
        </p:spPr>
        <p:txBody>
          <a:bodyPr wrap="square" lIns="0" tIns="0" rIns="0" bIns="0" rtlCol="0">
            <a:spAutoFit/>
          </a:bodyPr>
          <a:lstStyle/>
          <a:p>
            <a:pPr algn="ctr">
              <a:lnSpc>
                <a:spcPct val="114000"/>
              </a:lnSpc>
            </a:pPr>
            <a:r>
              <a:rPr lang="en-US" sz="1050">
                <a:solidFill>
                  <a:schemeClr val="tx1">
                    <a:lumMod val="65000"/>
                    <a:lumOff val="35000"/>
                  </a:schemeClr>
                </a:solidFill>
                <a:latin typeface="+mn-lt"/>
                <a:cs typeface="+mn-cs"/>
              </a:rPr>
              <a:t>0.75 m</a:t>
            </a:r>
          </a:p>
        </p:txBody>
      </p:sp>
      <p:sp>
        <p:nvSpPr>
          <p:cNvPr id="21" name="Rectangle 20">
            <a:extLst>
              <a:ext uri="{FF2B5EF4-FFF2-40B4-BE49-F238E27FC236}">
                <a16:creationId xmlns:a16="http://schemas.microsoft.com/office/drawing/2014/main" id="{7049A352-AFB0-3BAC-BEC3-2E60D5FB8A39}"/>
              </a:ext>
            </a:extLst>
          </p:cNvPr>
          <p:cNvSpPr/>
          <p:nvPr/>
        </p:nvSpPr>
        <p:spPr>
          <a:xfrm>
            <a:off x="640080" y="3995225"/>
            <a:ext cx="611944" cy="24618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sz="1600"/>
          </a:p>
        </p:txBody>
      </p:sp>
      <p:sp>
        <p:nvSpPr>
          <p:cNvPr id="20" name="Rectangle 19">
            <a:extLst>
              <a:ext uri="{FF2B5EF4-FFF2-40B4-BE49-F238E27FC236}">
                <a16:creationId xmlns:a16="http://schemas.microsoft.com/office/drawing/2014/main" id="{1976CB96-7E96-C14C-FE12-62D234C7174C}"/>
              </a:ext>
            </a:extLst>
          </p:cNvPr>
          <p:cNvSpPr/>
          <p:nvPr/>
        </p:nvSpPr>
        <p:spPr>
          <a:xfrm>
            <a:off x="358725" y="4047139"/>
            <a:ext cx="1364567" cy="194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1000">
                <a:solidFill>
                  <a:schemeClr val="tx1">
                    <a:lumMod val="65000"/>
                    <a:lumOff val="35000"/>
                  </a:schemeClr>
                </a:solidFill>
              </a:rPr>
              <a:t>Approx ~75 % H</a:t>
            </a:r>
            <a:r>
              <a:rPr lang="en-US" sz="500">
                <a:solidFill>
                  <a:schemeClr val="tx1">
                    <a:lumMod val="65000"/>
                    <a:lumOff val="35000"/>
                  </a:schemeClr>
                </a:solidFill>
              </a:rPr>
              <a:t>2</a:t>
            </a:r>
            <a:r>
              <a:rPr lang="en-US" sz="1000">
                <a:solidFill>
                  <a:schemeClr val="tx1">
                    <a:lumMod val="65000"/>
                    <a:lumOff val="35000"/>
                  </a:schemeClr>
                </a:solidFill>
              </a:rPr>
              <a:t>0</a:t>
            </a:r>
          </a:p>
        </p:txBody>
      </p:sp>
      <p:sp>
        <p:nvSpPr>
          <p:cNvPr id="22" name="TextBox 21">
            <a:extLst>
              <a:ext uri="{FF2B5EF4-FFF2-40B4-BE49-F238E27FC236}">
                <a16:creationId xmlns:a16="http://schemas.microsoft.com/office/drawing/2014/main" id="{F5A57C97-7651-4DAD-DEBB-E12E7435AC96}"/>
              </a:ext>
            </a:extLst>
          </p:cNvPr>
          <p:cNvSpPr txBox="1"/>
          <p:nvPr/>
        </p:nvSpPr>
        <p:spPr>
          <a:xfrm>
            <a:off x="2093014" y="4045651"/>
            <a:ext cx="1891211" cy="168829"/>
          </a:xfrm>
          <a:prstGeom prst="rect">
            <a:avLst/>
          </a:prstGeom>
          <a:noFill/>
        </p:spPr>
        <p:txBody>
          <a:bodyPr wrap="square" lIns="0" tIns="0" rIns="0" bIns="0" rtlCol="0">
            <a:spAutoFit/>
          </a:bodyPr>
          <a:lstStyle/>
          <a:p>
            <a:pPr algn="ctr">
              <a:lnSpc>
                <a:spcPct val="114000"/>
              </a:lnSpc>
            </a:pPr>
            <a:r>
              <a:rPr lang="en-US" sz="1050">
                <a:solidFill>
                  <a:schemeClr val="tx1">
                    <a:lumMod val="65000"/>
                    <a:lumOff val="35000"/>
                  </a:schemeClr>
                </a:solidFill>
                <a:latin typeface="+mn-lt"/>
                <a:cs typeface="+mn-cs"/>
              </a:rPr>
              <a:t>Harmonic Motion</a:t>
            </a:r>
          </a:p>
        </p:txBody>
      </p:sp>
      <p:sp>
        <p:nvSpPr>
          <p:cNvPr id="23" name="TextBox 22">
            <a:extLst>
              <a:ext uri="{FF2B5EF4-FFF2-40B4-BE49-F238E27FC236}">
                <a16:creationId xmlns:a16="http://schemas.microsoft.com/office/drawing/2014/main" id="{763D93E2-F5D4-2CED-76FE-B73D825B9BC4}"/>
              </a:ext>
            </a:extLst>
          </p:cNvPr>
          <p:cNvSpPr txBox="1"/>
          <p:nvPr/>
        </p:nvSpPr>
        <p:spPr>
          <a:xfrm>
            <a:off x="6084243" y="2615104"/>
            <a:ext cx="2742764" cy="1380121"/>
          </a:xfrm>
          <a:prstGeom prst="rect">
            <a:avLst/>
          </a:prstGeom>
          <a:noFill/>
        </p:spPr>
        <p:txBody>
          <a:bodyPr wrap="square" lIns="0" tIns="0" rIns="0" bIns="0" rtlCol="0">
            <a:spAutoFit/>
          </a:bodyPr>
          <a:lstStyle/>
          <a:p>
            <a:pPr algn="ctr">
              <a:lnSpc>
                <a:spcPct val="114000"/>
              </a:lnSpc>
            </a:pPr>
            <a:r>
              <a:rPr lang="en-US" sz="1600"/>
              <a:t>For simplicity, hydrogen is not used in the study; instead, water and two surrogate gases are considered, one denser than the other</a:t>
            </a:r>
            <a:endParaRPr lang="en-US" sz="1600">
              <a:latin typeface="+mn-lt"/>
            </a:endParaRPr>
          </a:p>
        </p:txBody>
      </p:sp>
      <p:pic>
        <p:nvPicPr>
          <p:cNvPr id="29" name="Picture 28" descr="A blue tank with white text&#10;&#10;AI-generated content may be incorrect.">
            <a:extLst>
              <a:ext uri="{FF2B5EF4-FFF2-40B4-BE49-F238E27FC236}">
                <a16:creationId xmlns:a16="http://schemas.microsoft.com/office/drawing/2014/main" id="{13F53AEC-775C-0752-F5DA-10EE874BA6BB}"/>
              </a:ext>
            </a:extLst>
          </p:cNvPr>
          <p:cNvPicPr>
            <a:picLocks noChangeAspect="1"/>
          </p:cNvPicPr>
          <p:nvPr/>
        </p:nvPicPr>
        <p:blipFill>
          <a:blip r:embed="rId3"/>
          <a:stretch>
            <a:fillRect/>
          </a:stretch>
        </p:blipFill>
        <p:spPr>
          <a:xfrm>
            <a:off x="7950870" y="1391529"/>
            <a:ext cx="762001" cy="762001"/>
          </a:xfrm>
          <a:prstGeom prst="rect">
            <a:avLst/>
          </a:prstGeom>
        </p:spPr>
      </p:pic>
    </p:spTree>
    <p:extLst>
      <p:ext uri="{BB962C8B-B14F-4D97-AF65-F5344CB8AC3E}">
        <p14:creationId xmlns:p14="http://schemas.microsoft.com/office/powerpoint/2010/main" val="76273430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1C0D5F6C-0952-8B5C-D40B-8B1B5C209E92}"/>
              </a:ext>
            </a:extLst>
          </p:cNvPr>
          <p:cNvGraphicFramePr>
            <a:graphicFrameLocks noGrp="1"/>
          </p:cNvGraphicFramePr>
          <p:nvPr>
            <p:ph idx="1"/>
            <p:extLst>
              <p:ext uri="{D42A27DB-BD31-4B8C-83A1-F6EECF244321}">
                <p14:modId xmlns:p14="http://schemas.microsoft.com/office/powerpoint/2010/main" val="1825767503"/>
              </p:ext>
            </p:extLst>
          </p:nvPr>
        </p:nvGraphicFramePr>
        <p:xfrm>
          <a:off x="740851" y="1478175"/>
          <a:ext cx="7662298" cy="2877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1EF45967-79C8-E081-3587-9C2EFA8E1EE2}"/>
              </a:ext>
            </a:extLst>
          </p:cNvPr>
          <p:cNvSpPr>
            <a:spLocks noGrp="1"/>
          </p:cNvSpPr>
          <p:nvPr>
            <p:ph type="sldNum" sz="quarter" idx="11"/>
          </p:nvPr>
        </p:nvSpPr>
        <p:spPr/>
        <p:txBody>
          <a:bodyPr/>
          <a:lstStyle/>
          <a:p>
            <a:fld id="{CE58CB1E-F828-4F11-99E0-327109AF9DA4}" type="slidenum">
              <a:rPr lang="de-DE" smtClean="0"/>
              <a:pPr/>
              <a:t>6</a:t>
            </a:fld>
            <a:endParaRPr lang="de-DE"/>
          </a:p>
        </p:txBody>
      </p:sp>
      <p:sp>
        <p:nvSpPr>
          <p:cNvPr id="4" name="Footer Placeholder 3">
            <a:extLst>
              <a:ext uri="{FF2B5EF4-FFF2-40B4-BE49-F238E27FC236}">
                <a16:creationId xmlns:a16="http://schemas.microsoft.com/office/drawing/2014/main" id="{D2295D81-D1BA-98F2-D500-B3A01F90559B}"/>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AE21715F-3602-3C4C-3FF2-AA4C6B59CE22}"/>
              </a:ext>
            </a:extLst>
          </p:cNvPr>
          <p:cNvSpPr>
            <a:spLocks noGrp="1"/>
          </p:cNvSpPr>
          <p:nvPr>
            <p:ph type="title"/>
          </p:nvPr>
        </p:nvSpPr>
        <p:spPr>
          <a:xfrm>
            <a:off x="1854747" y="462821"/>
            <a:ext cx="8508999" cy="410369"/>
          </a:xfrm>
        </p:spPr>
        <p:txBody>
          <a:bodyPr/>
          <a:lstStyle/>
          <a:p>
            <a:r>
              <a:rPr lang="en-US" sz="3200" b="1">
                <a:solidFill>
                  <a:schemeClr val="bg2"/>
                </a:solidFill>
              </a:rPr>
              <a:t>Work Distribution  </a:t>
            </a:r>
          </a:p>
        </p:txBody>
      </p:sp>
      <p:pic>
        <p:nvPicPr>
          <p:cNvPr id="9" name="Picture 8" descr="A group of people with a paper and a check mark&#10;&#10;AI-generated content may be incorrect.">
            <a:extLst>
              <a:ext uri="{FF2B5EF4-FFF2-40B4-BE49-F238E27FC236}">
                <a16:creationId xmlns:a16="http://schemas.microsoft.com/office/drawing/2014/main" id="{A37089DB-D34E-B247-367B-2CCD3E340AEF}"/>
              </a:ext>
            </a:extLst>
          </p:cNvPr>
          <p:cNvPicPr>
            <a:picLocks noChangeAspect="1"/>
          </p:cNvPicPr>
          <p:nvPr/>
        </p:nvPicPr>
        <p:blipFill>
          <a:blip r:embed="rId7"/>
          <a:stretch>
            <a:fillRect/>
          </a:stretch>
        </p:blipFill>
        <p:spPr>
          <a:xfrm>
            <a:off x="497014" y="159910"/>
            <a:ext cx="867508" cy="867508"/>
          </a:xfrm>
          <a:prstGeom prst="rect">
            <a:avLst/>
          </a:prstGeom>
        </p:spPr>
      </p:pic>
    </p:spTree>
    <p:extLst>
      <p:ext uri="{BB962C8B-B14F-4D97-AF65-F5344CB8AC3E}">
        <p14:creationId xmlns:p14="http://schemas.microsoft.com/office/powerpoint/2010/main" val="31588966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AF56-09F0-AE35-BE43-CAB6217CC50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1F4AB1-23C1-4E02-3E43-0A2678EAAD32}"/>
              </a:ext>
            </a:extLst>
          </p:cNvPr>
          <p:cNvSpPr>
            <a:spLocks noGrp="1"/>
          </p:cNvSpPr>
          <p:nvPr>
            <p:ph type="sldNum" sz="quarter" idx="11"/>
          </p:nvPr>
        </p:nvSpPr>
        <p:spPr/>
        <p:txBody>
          <a:bodyPr/>
          <a:lstStyle/>
          <a:p>
            <a:fld id="{CE58CB1E-F828-4F11-99E0-327109AF9DA4}" type="slidenum">
              <a:rPr lang="de-DE" smtClean="0"/>
              <a:pPr/>
              <a:t>7</a:t>
            </a:fld>
            <a:endParaRPr lang="de-DE"/>
          </a:p>
        </p:txBody>
      </p:sp>
      <p:sp>
        <p:nvSpPr>
          <p:cNvPr id="4" name="Footer Placeholder 3">
            <a:extLst>
              <a:ext uri="{FF2B5EF4-FFF2-40B4-BE49-F238E27FC236}">
                <a16:creationId xmlns:a16="http://schemas.microsoft.com/office/drawing/2014/main" id="{83B26B02-EA6B-FFF0-1797-566C00948068}"/>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68262C85-E4DA-9326-AE91-0A07E32B48F5}"/>
              </a:ext>
            </a:extLst>
          </p:cNvPr>
          <p:cNvSpPr>
            <a:spLocks noGrp="1"/>
          </p:cNvSpPr>
          <p:nvPr>
            <p:ph type="title"/>
          </p:nvPr>
        </p:nvSpPr>
        <p:spPr>
          <a:xfrm>
            <a:off x="1810142" y="513265"/>
            <a:ext cx="5363809" cy="410369"/>
          </a:xfrm>
        </p:spPr>
        <p:txBody>
          <a:bodyPr/>
          <a:lstStyle/>
          <a:p>
            <a:r>
              <a:rPr lang="en-US" sz="3200" b="1">
                <a:solidFill>
                  <a:schemeClr val="bg2"/>
                </a:solidFill>
              </a:rPr>
              <a:t>Timeline of the Project </a:t>
            </a:r>
          </a:p>
        </p:txBody>
      </p:sp>
      <p:pic>
        <p:nvPicPr>
          <p:cNvPr id="12" name="Picture 11" descr="A calendar and stopwatch with a black background&#10;&#10;AI-generated content may be incorrect.">
            <a:extLst>
              <a:ext uri="{FF2B5EF4-FFF2-40B4-BE49-F238E27FC236}">
                <a16:creationId xmlns:a16="http://schemas.microsoft.com/office/drawing/2014/main" id="{C078BE29-2CFE-D02A-DC26-87EFBD001329}"/>
              </a:ext>
            </a:extLst>
          </p:cNvPr>
          <p:cNvPicPr>
            <a:picLocks noChangeAspect="1"/>
          </p:cNvPicPr>
          <p:nvPr/>
        </p:nvPicPr>
        <p:blipFill>
          <a:blip r:embed="rId2"/>
          <a:stretch>
            <a:fillRect/>
          </a:stretch>
        </p:blipFill>
        <p:spPr>
          <a:xfrm>
            <a:off x="598376" y="314345"/>
            <a:ext cx="845382" cy="845382"/>
          </a:xfrm>
          <a:prstGeom prst="rect">
            <a:avLst/>
          </a:prstGeom>
        </p:spPr>
      </p:pic>
      <p:graphicFrame>
        <p:nvGraphicFramePr>
          <p:cNvPr id="13" name="Diagram 12">
            <a:extLst>
              <a:ext uri="{FF2B5EF4-FFF2-40B4-BE49-F238E27FC236}">
                <a16:creationId xmlns:a16="http://schemas.microsoft.com/office/drawing/2014/main" id="{833EDFFC-B63D-436C-4C5E-38D3BEEFC57D}"/>
              </a:ext>
            </a:extLst>
          </p:cNvPr>
          <p:cNvGraphicFramePr/>
          <p:nvPr>
            <p:extLst>
              <p:ext uri="{D42A27DB-BD31-4B8C-83A1-F6EECF244321}">
                <p14:modId xmlns:p14="http://schemas.microsoft.com/office/powerpoint/2010/main" val="1736637764"/>
              </p:ext>
            </p:extLst>
          </p:nvPr>
        </p:nvGraphicFramePr>
        <p:xfrm>
          <a:off x="598376" y="718449"/>
          <a:ext cx="8178634" cy="43152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Rectangle 13">
            <a:extLst>
              <a:ext uri="{FF2B5EF4-FFF2-40B4-BE49-F238E27FC236}">
                <a16:creationId xmlns:a16="http://schemas.microsoft.com/office/drawing/2014/main" id="{C2A28C09-D384-F50B-2189-CEF448439FE0}"/>
              </a:ext>
            </a:extLst>
          </p:cNvPr>
          <p:cNvSpPr/>
          <p:nvPr/>
        </p:nvSpPr>
        <p:spPr>
          <a:xfrm>
            <a:off x="3990109" y="2398222"/>
            <a:ext cx="45719" cy="66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spTree>
    <p:extLst>
      <p:ext uri="{BB962C8B-B14F-4D97-AF65-F5344CB8AC3E}">
        <p14:creationId xmlns:p14="http://schemas.microsoft.com/office/powerpoint/2010/main" val="317845585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A566EB-C443-3101-4921-7DFA94B1EC34}"/>
              </a:ext>
            </a:extLst>
          </p:cNvPr>
          <p:cNvSpPr>
            <a:spLocks noGrp="1"/>
          </p:cNvSpPr>
          <p:nvPr>
            <p:ph idx="1"/>
          </p:nvPr>
        </p:nvSpPr>
        <p:spPr>
          <a:xfrm>
            <a:off x="311161" y="1245074"/>
            <a:ext cx="8508999" cy="3463775"/>
          </a:xfrm>
        </p:spPr>
        <p:txBody>
          <a:bodyPr/>
          <a:lstStyle/>
          <a:p>
            <a:endParaRPr lang="en-US"/>
          </a:p>
          <a:p>
            <a:endParaRPr lang="en-GB"/>
          </a:p>
        </p:txBody>
      </p:sp>
      <p:sp>
        <p:nvSpPr>
          <p:cNvPr id="3" name="Slide Number Placeholder 2">
            <a:extLst>
              <a:ext uri="{FF2B5EF4-FFF2-40B4-BE49-F238E27FC236}">
                <a16:creationId xmlns:a16="http://schemas.microsoft.com/office/drawing/2014/main" id="{C128B705-BBAA-3154-BFE2-8BA2ECE53970}"/>
              </a:ext>
            </a:extLst>
          </p:cNvPr>
          <p:cNvSpPr>
            <a:spLocks noGrp="1"/>
          </p:cNvSpPr>
          <p:nvPr>
            <p:ph type="sldNum" sz="quarter" idx="11"/>
          </p:nvPr>
        </p:nvSpPr>
        <p:spPr/>
        <p:txBody>
          <a:bodyPr/>
          <a:lstStyle/>
          <a:p>
            <a:fld id="{CE58CB1E-F828-4F11-99E0-327109AF9DA4}" type="slidenum">
              <a:rPr lang="de-DE" smtClean="0"/>
              <a:pPr/>
              <a:t>8</a:t>
            </a:fld>
            <a:endParaRPr lang="de-DE"/>
          </a:p>
        </p:txBody>
      </p:sp>
      <p:sp>
        <p:nvSpPr>
          <p:cNvPr id="4" name="Footer Placeholder 3">
            <a:extLst>
              <a:ext uri="{FF2B5EF4-FFF2-40B4-BE49-F238E27FC236}">
                <a16:creationId xmlns:a16="http://schemas.microsoft.com/office/drawing/2014/main" id="{8D207FD8-24A8-32AE-B63E-CA2E63A6A757}"/>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5" name="Title 4">
            <a:extLst>
              <a:ext uri="{FF2B5EF4-FFF2-40B4-BE49-F238E27FC236}">
                <a16:creationId xmlns:a16="http://schemas.microsoft.com/office/drawing/2014/main" id="{95121504-EDB5-F8E8-A116-4F18BA31278F}"/>
              </a:ext>
            </a:extLst>
          </p:cNvPr>
          <p:cNvSpPr>
            <a:spLocks noGrp="1"/>
          </p:cNvSpPr>
          <p:nvPr>
            <p:ph type="title"/>
          </p:nvPr>
        </p:nvSpPr>
        <p:spPr>
          <a:xfrm>
            <a:off x="311161" y="353656"/>
            <a:ext cx="4169399" cy="377796"/>
          </a:xfrm>
        </p:spPr>
        <p:txBody>
          <a:bodyPr/>
          <a:lstStyle/>
          <a:p>
            <a:r>
              <a:rPr lang="de-DE" b="1">
                <a:solidFill>
                  <a:schemeClr val="bg2"/>
                </a:solidFill>
              </a:rPr>
              <a:t>Geometry and Meshing</a:t>
            </a:r>
            <a:endParaRPr lang="en-GB" b="1">
              <a:solidFill>
                <a:schemeClr val="bg2"/>
              </a:solidFill>
            </a:endParaRPr>
          </a:p>
        </p:txBody>
      </p:sp>
      <p:sp>
        <p:nvSpPr>
          <p:cNvPr id="12" name="TextBox 11">
            <a:extLst>
              <a:ext uri="{FF2B5EF4-FFF2-40B4-BE49-F238E27FC236}">
                <a16:creationId xmlns:a16="http://schemas.microsoft.com/office/drawing/2014/main" id="{87207461-9BC8-C25C-2855-B852B0947595}"/>
              </a:ext>
            </a:extLst>
          </p:cNvPr>
          <p:cNvSpPr txBox="1"/>
          <p:nvPr/>
        </p:nvSpPr>
        <p:spPr>
          <a:xfrm>
            <a:off x="963670" y="1218311"/>
            <a:ext cx="4369633" cy="537968"/>
          </a:xfrm>
          <a:prstGeom prst="rect">
            <a:avLst/>
          </a:prstGeom>
          <a:noFill/>
        </p:spPr>
        <p:txBody>
          <a:bodyPr wrap="square" lIns="0" tIns="0" rIns="0" bIns="0" rtlCol="0">
            <a:spAutoFit/>
          </a:bodyPr>
          <a:lstStyle/>
          <a:p>
            <a:pPr>
              <a:lnSpc>
                <a:spcPct val="114000"/>
              </a:lnSpc>
            </a:pPr>
            <a:r>
              <a:rPr lang="en-US" sz="1600">
                <a:solidFill>
                  <a:schemeClr val="tx1">
                    <a:lumMod val="50000"/>
                    <a:lumOff val="50000"/>
                  </a:schemeClr>
                </a:solidFill>
              </a:rPr>
              <a:t>Simple 2D Geometry Featuring Specific Edges, Meshed Using Hexahedral Elements</a:t>
            </a:r>
            <a:endParaRPr lang="en-US" sz="1600">
              <a:solidFill>
                <a:schemeClr val="tx1">
                  <a:lumMod val="50000"/>
                  <a:lumOff val="50000"/>
                </a:schemeClr>
              </a:solidFill>
              <a:latin typeface="+mn-lt"/>
            </a:endParaRPr>
          </a:p>
        </p:txBody>
      </p:sp>
      <p:pic>
        <p:nvPicPr>
          <p:cNvPr id="14" name="Picture 13" descr="A screenshot of a computer&#10;&#10;AI-generated content may be incorrect.">
            <a:extLst>
              <a:ext uri="{FF2B5EF4-FFF2-40B4-BE49-F238E27FC236}">
                <a16:creationId xmlns:a16="http://schemas.microsoft.com/office/drawing/2014/main" id="{5C0CCB7C-BA41-B5BD-CFC3-F1CA80CF13DA}"/>
              </a:ext>
            </a:extLst>
          </p:cNvPr>
          <p:cNvPicPr>
            <a:picLocks noChangeAspect="1"/>
          </p:cNvPicPr>
          <p:nvPr/>
        </p:nvPicPr>
        <p:blipFill>
          <a:blip r:embed="rId3"/>
          <a:srcRect r="32329"/>
          <a:stretch>
            <a:fillRect/>
          </a:stretch>
        </p:blipFill>
        <p:spPr>
          <a:xfrm>
            <a:off x="6385314" y="2227445"/>
            <a:ext cx="2475130" cy="2609850"/>
          </a:xfrm>
          <a:prstGeom prst="rect">
            <a:avLst/>
          </a:prstGeom>
        </p:spPr>
      </p:pic>
      <p:graphicFrame>
        <p:nvGraphicFramePr>
          <p:cNvPr id="15" name="Diagram 14">
            <a:extLst>
              <a:ext uri="{FF2B5EF4-FFF2-40B4-BE49-F238E27FC236}">
                <a16:creationId xmlns:a16="http://schemas.microsoft.com/office/drawing/2014/main" id="{622ED271-A8E5-5878-623E-AB854EB78DDD}"/>
              </a:ext>
            </a:extLst>
          </p:cNvPr>
          <p:cNvGraphicFramePr/>
          <p:nvPr>
            <p:extLst>
              <p:ext uri="{D42A27DB-BD31-4B8C-83A1-F6EECF244321}">
                <p14:modId xmlns:p14="http://schemas.microsoft.com/office/powerpoint/2010/main" val="2356633184"/>
              </p:ext>
            </p:extLst>
          </p:nvPr>
        </p:nvGraphicFramePr>
        <p:xfrm>
          <a:off x="5026813" y="127290"/>
          <a:ext cx="3638112" cy="18809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descr="A grid of black squares&#10;&#10;AI-generated content may be incorrect.">
            <a:extLst>
              <a:ext uri="{FF2B5EF4-FFF2-40B4-BE49-F238E27FC236}">
                <a16:creationId xmlns:a16="http://schemas.microsoft.com/office/drawing/2014/main" id="{ED2961C7-3627-DF65-9242-CC2A981D04E5}"/>
              </a:ext>
            </a:extLst>
          </p:cNvPr>
          <p:cNvPicPr>
            <a:picLocks noChangeAspect="1"/>
          </p:cNvPicPr>
          <p:nvPr/>
        </p:nvPicPr>
        <p:blipFill>
          <a:blip r:embed="rId9"/>
          <a:srcRect l="8818" t="17914" r="12804" b="19180"/>
          <a:stretch>
            <a:fillRect/>
          </a:stretch>
        </p:blipFill>
        <p:spPr>
          <a:xfrm>
            <a:off x="454523" y="2081308"/>
            <a:ext cx="5767754" cy="2645231"/>
          </a:xfrm>
          <a:prstGeom prst="rect">
            <a:avLst/>
          </a:prstGeom>
        </p:spPr>
      </p:pic>
      <p:pic>
        <p:nvPicPr>
          <p:cNvPr id="9" name="Picture 8" descr="A blue cube with dots and lines&#10;&#10;AI-generated content may be incorrect.">
            <a:extLst>
              <a:ext uri="{FF2B5EF4-FFF2-40B4-BE49-F238E27FC236}">
                <a16:creationId xmlns:a16="http://schemas.microsoft.com/office/drawing/2014/main" id="{0BFCD214-9DCA-83B2-9104-01BE44A64DD9}"/>
              </a:ext>
            </a:extLst>
          </p:cNvPr>
          <p:cNvPicPr>
            <a:picLocks noChangeAspect="1"/>
          </p:cNvPicPr>
          <p:nvPr/>
        </p:nvPicPr>
        <p:blipFill>
          <a:blip r:embed="rId10"/>
          <a:stretch>
            <a:fillRect/>
          </a:stretch>
        </p:blipFill>
        <p:spPr>
          <a:xfrm>
            <a:off x="298482" y="1098938"/>
            <a:ext cx="537587" cy="537587"/>
          </a:xfrm>
          <a:prstGeom prst="rect">
            <a:avLst/>
          </a:prstGeom>
        </p:spPr>
      </p:pic>
    </p:spTree>
    <p:extLst>
      <p:ext uri="{BB962C8B-B14F-4D97-AF65-F5344CB8AC3E}">
        <p14:creationId xmlns:p14="http://schemas.microsoft.com/office/powerpoint/2010/main" val="44207927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0760C5-C409-EBA3-6EC9-19410FBD52F7}"/>
              </a:ext>
            </a:extLst>
          </p:cNvPr>
          <p:cNvSpPr>
            <a:spLocks noGrp="1"/>
          </p:cNvSpPr>
          <p:nvPr>
            <p:ph type="sldNum" sz="quarter" idx="11"/>
          </p:nvPr>
        </p:nvSpPr>
        <p:spPr/>
        <p:txBody>
          <a:bodyPr/>
          <a:lstStyle/>
          <a:p>
            <a:fld id="{CE58CB1E-F828-4F11-99E0-327109AF9DA4}" type="slidenum">
              <a:rPr lang="de-DE" smtClean="0"/>
              <a:pPr/>
              <a:t>9</a:t>
            </a:fld>
            <a:endParaRPr lang="de-DE"/>
          </a:p>
        </p:txBody>
      </p:sp>
      <p:sp>
        <p:nvSpPr>
          <p:cNvPr id="4" name="Footer Placeholder 3">
            <a:extLst>
              <a:ext uri="{FF2B5EF4-FFF2-40B4-BE49-F238E27FC236}">
                <a16:creationId xmlns:a16="http://schemas.microsoft.com/office/drawing/2014/main" id="{68DE7133-5332-DB05-7CB5-DFF741A81D57}"/>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5" name="Title 4">
            <a:extLst>
              <a:ext uri="{FF2B5EF4-FFF2-40B4-BE49-F238E27FC236}">
                <a16:creationId xmlns:a16="http://schemas.microsoft.com/office/drawing/2014/main" id="{24F863E5-203C-6984-D649-A0A51B15CE39}"/>
              </a:ext>
            </a:extLst>
          </p:cNvPr>
          <p:cNvSpPr>
            <a:spLocks noGrp="1"/>
          </p:cNvSpPr>
          <p:nvPr>
            <p:ph type="title"/>
          </p:nvPr>
        </p:nvSpPr>
        <p:spPr>
          <a:xfrm>
            <a:off x="1231100" y="444601"/>
            <a:ext cx="3270561" cy="377796"/>
          </a:xfrm>
        </p:spPr>
        <p:txBody>
          <a:bodyPr/>
          <a:lstStyle/>
          <a:p>
            <a:r>
              <a:rPr lang="de-DE" b="1">
                <a:solidFill>
                  <a:schemeClr val="bg2"/>
                </a:solidFill>
              </a:rPr>
              <a:t>Edge Sizing </a:t>
            </a:r>
            <a:endParaRPr lang="en-GB" b="1">
              <a:solidFill>
                <a:schemeClr val="bg2"/>
              </a:solidFill>
            </a:endParaRPr>
          </a:p>
        </p:txBody>
      </p:sp>
      <p:grpSp>
        <p:nvGrpSpPr>
          <p:cNvPr id="10" name="Group 9">
            <a:extLst>
              <a:ext uri="{FF2B5EF4-FFF2-40B4-BE49-F238E27FC236}">
                <a16:creationId xmlns:a16="http://schemas.microsoft.com/office/drawing/2014/main" id="{69520C2F-0E92-E3C4-C9BD-4EB64329F2C1}"/>
              </a:ext>
            </a:extLst>
          </p:cNvPr>
          <p:cNvGrpSpPr/>
          <p:nvPr/>
        </p:nvGrpSpPr>
        <p:grpSpPr>
          <a:xfrm>
            <a:off x="1938552" y="1055818"/>
            <a:ext cx="2311372" cy="3592951"/>
            <a:chOff x="2070321" y="1008000"/>
            <a:chExt cx="2311372" cy="3592951"/>
          </a:xfrm>
        </p:grpSpPr>
        <p:pic>
          <p:nvPicPr>
            <p:cNvPr id="9" name="Picture 8" descr="A grid with a blue background&#10;&#10;AI-generated content may be incorrect.">
              <a:extLst>
                <a:ext uri="{FF2B5EF4-FFF2-40B4-BE49-F238E27FC236}">
                  <a16:creationId xmlns:a16="http://schemas.microsoft.com/office/drawing/2014/main" id="{159AFFF1-B3B0-773C-175C-2BF659E0530D}"/>
                </a:ext>
              </a:extLst>
            </p:cNvPr>
            <p:cNvPicPr>
              <a:picLocks noChangeAspect="1"/>
            </p:cNvPicPr>
            <p:nvPr/>
          </p:nvPicPr>
          <p:blipFill>
            <a:blip r:embed="rId3"/>
            <a:srcRect l="10330" t="19774" r="68064" b="20399"/>
            <a:stretch>
              <a:fillRect/>
            </a:stretch>
          </p:blipFill>
          <p:spPr>
            <a:xfrm>
              <a:off x="2070321" y="1008000"/>
              <a:ext cx="2311372" cy="3592951"/>
            </a:xfrm>
            <a:prstGeom prst="rect">
              <a:avLst/>
            </a:prstGeom>
          </p:spPr>
        </p:pic>
        <p:sp>
          <p:nvSpPr>
            <p:cNvPr id="14" name="Oval 13">
              <a:extLst>
                <a:ext uri="{FF2B5EF4-FFF2-40B4-BE49-F238E27FC236}">
                  <a16:creationId xmlns:a16="http://schemas.microsoft.com/office/drawing/2014/main" id="{6301BF75-DB00-959F-190B-8C247B9543F2}"/>
                </a:ext>
              </a:extLst>
            </p:cNvPr>
            <p:cNvSpPr/>
            <p:nvPr/>
          </p:nvSpPr>
          <p:spPr>
            <a:xfrm>
              <a:off x="2533759" y="1090733"/>
              <a:ext cx="808892" cy="8018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grpSp>
      <p:sp>
        <p:nvSpPr>
          <p:cNvPr id="15" name="TextBox 14">
            <a:extLst>
              <a:ext uri="{FF2B5EF4-FFF2-40B4-BE49-F238E27FC236}">
                <a16:creationId xmlns:a16="http://schemas.microsoft.com/office/drawing/2014/main" id="{523E9554-CB3D-B78C-4C8D-33E0D0D7A970}"/>
              </a:ext>
            </a:extLst>
          </p:cNvPr>
          <p:cNvSpPr txBox="1"/>
          <p:nvPr/>
        </p:nvSpPr>
        <p:spPr>
          <a:xfrm>
            <a:off x="283715" y="2261344"/>
            <a:ext cx="1364566" cy="1452962"/>
          </a:xfrm>
          <a:prstGeom prst="rect">
            <a:avLst/>
          </a:prstGeom>
          <a:noFill/>
        </p:spPr>
        <p:txBody>
          <a:bodyPr wrap="square" lIns="0" tIns="0" rIns="0" bIns="0" rtlCol="0">
            <a:spAutoFit/>
          </a:bodyPr>
          <a:lstStyle/>
          <a:p>
            <a:pPr algn="ctr">
              <a:lnSpc>
                <a:spcPct val="114000"/>
              </a:lnSpc>
            </a:pPr>
            <a:r>
              <a:rPr lang="en-US" sz="1400">
                <a:solidFill>
                  <a:schemeClr val="tx1">
                    <a:lumMod val="50000"/>
                    <a:lumOff val="50000"/>
                  </a:schemeClr>
                </a:solidFill>
              </a:rPr>
              <a:t>Refined mesh on specific edges using edge sizing</a:t>
            </a:r>
          </a:p>
          <a:p>
            <a:pPr algn="ctr">
              <a:lnSpc>
                <a:spcPct val="114000"/>
              </a:lnSpc>
            </a:pPr>
            <a:endParaRPr lang="en-US" sz="1400">
              <a:solidFill>
                <a:schemeClr val="tx1">
                  <a:lumMod val="50000"/>
                  <a:lumOff val="50000"/>
                </a:schemeClr>
              </a:solidFill>
            </a:endParaRPr>
          </a:p>
          <a:p>
            <a:pPr algn="ctr">
              <a:lnSpc>
                <a:spcPct val="114000"/>
              </a:lnSpc>
            </a:pPr>
            <a:r>
              <a:rPr lang="en-US" sz="1400">
                <a:solidFill>
                  <a:schemeClr val="tx1">
                    <a:lumMod val="50000"/>
                    <a:lumOff val="50000"/>
                  </a:schemeClr>
                </a:solidFill>
                <a:latin typeface="+mn-lt"/>
              </a:rPr>
              <a:t>10 divisions used</a:t>
            </a:r>
          </a:p>
        </p:txBody>
      </p:sp>
      <p:sp>
        <p:nvSpPr>
          <p:cNvPr id="16" name="TextBox 15">
            <a:extLst>
              <a:ext uri="{FF2B5EF4-FFF2-40B4-BE49-F238E27FC236}">
                <a16:creationId xmlns:a16="http://schemas.microsoft.com/office/drawing/2014/main" id="{3F2CE7EA-DC3B-01DE-8C3F-11608438F998}"/>
              </a:ext>
            </a:extLst>
          </p:cNvPr>
          <p:cNvSpPr txBox="1"/>
          <p:nvPr/>
        </p:nvSpPr>
        <p:spPr>
          <a:xfrm>
            <a:off x="4378326" y="2202987"/>
            <a:ext cx="1547446" cy="1452962"/>
          </a:xfrm>
          <a:prstGeom prst="rect">
            <a:avLst/>
          </a:prstGeom>
          <a:noFill/>
        </p:spPr>
        <p:txBody>
          <a:bodyPr wrap="square" lIns="0" tIns="0" rIns="0" bIns="0" rtlCol="0">
            <a:spAutoFit/>
          </a:bodyPr>
          <a:lstStyle/>
          <a:p>
            <a:pPr algn="ctr">
              <a:lnSpc>
                <a:spcPct val="114000"/>
              </a:lnSpc>
            </a:pPr>
            <a:r>
              <a:rPr lang="en-US" sz="1400">
                <a:solidFill>
                  <a:schemeClr val="tx1">
                    <a:lumMod val="50000"/>
                    <a:lumOff val="50000"/>
                  </a:schemeClr>
                </a:solidFill>
                <a:latin typeface="+mn-lt"/>
              </a:rPr>
              <a:t>If we merge the edges in geometry setup, it could lead to some non-structured meshes in center</a:t>
            </a:r>
          </a:p>
        </p:txBody>
      </p:sp>
      <p:sp>
        <p:nvSpPr>
          <p:cNvPr id="17" name="Oval 16">
            <a:extLst>
              <a:ext uri="{FF2B5EF4-FFF2-40B4-BE49-F238E27FC236}">
                <a16:creationId xmlns:a16="http://schemas.microsoft.com/office/drawing/2014/main" id="{AF171B8B-6E07-ABBB-27D1-C086EDE85EF1}"/>
              </a:ext>
            </a:extLst>
          </p:cNvPr>
          <p:cNvSpPr/>
          <p:nvPr/>
        </p:nvSpPr>
        <p:spPr>
          <a:xfrm>
            <a:off x="6646985" y="900332"/>
            <a:ext cx="1371600" cy="344658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grpSp>
        <p:nvGrpSpPr>
          <p:cNvPr id="11" name="Group 10">
            <a:extLst>
              <a:ext uri="{FF2B5EF4-FFF2-40B4-BE49-F238E27FC236}">
                <a16:creationId xmlns:a16="http://schemas.microsoft.com/office/drawing/2014/main" id="{85565A87-3292-6EB5-9EF2-DC525C6655FF}"/>
              </a:ext>
            </a:extLst>
          </p:cNvPr>
          <p:cNvGrpSpPr/>
          <p:nvPr/>
        </p:nvGrpSpPr>
        <p:grpSpPr>
          <a:xfrm>
            <a:off x="6084466" y="1051769"/>
            <a:ext cx="2496637" cy="3597000"/>
            <a:chOff x="6103415" y="1130969"/>
            <a:chExt cx="2566044" cy="3597000"/>
          </a:xfrm>
        </p:grpSpPr>
        <p:pic>
          <p:nvPicPr>
            <p:cNvPr id="19" name="Picture 18">
              <a:extLst>
                <a:ext uri="{FF2B5EF4-FFF2-40B4-BE49-F238E27FC236}">
                  <a16:creationId xmlns:a16="http://schemas.microsoft.com/office/drawing/2014/main" id="{CA68F1D1-0E86-EE39-73B6-C7E5C3BB4ACC}"/>
                </a:ext>
              </a:extLst>
            </p:cNvPr>
            <p:cNvPicPr>
              <a:picLocks noChangeAspect="1"/>
            </p:cNvPicPr>
            <p:nvPr/>
          </p:nvPicPr>
          <p:blipFill>
            <a:blip r:embed="rId4"/>
            <a:srcRect l="10409" t="19872" r="65654" b="17772"/>
            <a:stretch>
              <a:fillRect/>
            </a:stretch>
          </p:blipFill>
          <p:spPr>
            <a:xfrm>
              <a:off x="6103415" y="1130969"/>
              <a:ext cx="2566044" cy="3597000"/>
            </a:xfrm>
            <a:prstGeom prst="rect">
              <a:avLst/>
            </a:prstGeom>
          </p:spPr>
        </p:pic>
        <p:sp>
          <p:nvSpPr>
            <p:cNvPr id="20" name="Oval 19">
              <a:extLst>
                <a:ext uri="{FF2B5EF4-FFF2-40B4-BE49-F238E27FC236}">
                  <a16:creationId xmlns:a16="http://schemas.microsoft.com/office/drawing/2014/main" id="{74534C50-573F-3725-B4A7-74A7EF0718DB}"/>
                </a:ext>
              </a:extLst>
            </p:cNvPr>
            <p:cNvSpPr/>
            <p:nvPr/>
          </p:nvSpPr>
          <p:spPr>
            <a:xfrm>
              <a:off x="6576646" y="2475785"/>
              <a:ext cx="2018714" cy="9073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grpSp>
      <p:pic>
        <p:nvPicPr>
          <p:cNvPr id="2" name="Picture 1" descr="A black background with a black square&#10;&#10;AI-generated content may be incorrect.">
            <a:extLst>
              <a:ext uri="{FF2B5EF4-FFF2-40B4-BE49-F238E27FC236}">
                <a16:creationId xmlns:a16="http://schemas.microsoft.com/office/drawing/2014/main" id="{6CC33D25-E2AC-16B9-0ABD-D7D280733912}"/>
              </a:ext>
            </a:extLst>
          </p:cNvPr>
          <p:cNvPicPr>
            <a:picLocks noChangeAspect="1"/>
          </p:cNvPicPr>
          <p:nvPr/>
        </p:nvPicPr>
        <p:blipFill>
          <a:blip r:embed="rId5">
            <a:duotone>
              <a:prstClr val="black"/>
              <a:srgbClr val="003359">
                <a:lumMod val="50000"/>
                <a:lumOff val="50000"/>
                <a:tint val="45000"/>
                <a:satMod val="400000"/>
              </a:srgbClr>
            </a:duotone>
            <a:extLst>
              <a:ext uri="{BEBA8EAE-BF5A-486C-A8C5-ECC9F3942E4B}">
                <a14:imgProps xmlns:a14="http://schemas.microsoft.com/office/drawing/2010/main">
                  <a14:imgLayer r:embed="rId6">
                    <a14:imgEffect>
                      <a14:backgroundRemoval t="10000" b="90000" l="10000" r="90000"/>
                    </a14:imgEffect>
                    <a14:imgEffect>
                      <a14:colorTemperature colorTemp="7200"/>
                    </a14:imgEffect>
                  </a14:imgLayer>
                </a14:imgProps>
              </a:ext>
            </a:extLst>
          </a:blip>
          <a:stretch>
            <a:fillRect/>
          </a:stretch>
        </p:blipFill>
        <p:spPr>
          <a:xfrm flipH="1">
            <a:off x="321657" y="160026"/>
            <a:ext cx="662371" cy="662371"/>
          </a:xfrm>
          <a:prstGeom prst="rect">
            <a:avLst/>
          </a:prstGeom>
        </p:spPr>
      </p:pic>
      <p:pic>
        <p:nvPicPr>
          <p:cNvPr id="21" name="Picture 20" descr="A black and white logo&#10;&#10;AI-generated content may be incorrect.">
            <a:extLst>
              <a:ext uri="{FF2B5EF4-FFF2-40B4-BE49-F238E27FC236}">
                <a16:creationId xmlns:a16="http://schemas.microsoft.com/office/drawing/2014/main" id="{C2073CC7-DF6F-BCA1-611A-5E34B1131870}"/>
              </a:ext>
            </a:extLst>
          </p:cNvPr>
          <p:cNvPicPr>
            <a:picLocks noChangeAspect="1"/>
          </p:cNvPicPr>
          <p:nvPr/>
        </p:nvPicPr>
        <p:blipFill>
          <a:blip r:embed="rId7">
            <a:duotone>
              <a:schemeClr val="bg2">
                <a:shade val="45000"/>
                <a:satMod val="135000"/>
              </a:schemeClr>
              <a:prstClr val="white"/>
            </a:duotone>
          </a:blip>
          <a:stretch>
            <a:fillRect/>
          </a:stretch>
        </p:blipFill>
        <p:spPr>
          <a:xfrm>
            <a:off x="352804" y="222322"/>
            <a:ext cx="631224" cy="631224"/>
          </a:xfrm>
          <a:prstGeom prst="rect">
            <a:avLst/>
          </a:prstGeom>
        </p:spPr>
      </p:pic>
    </p:spTree>
    <p:extLst>
      <p:ext uri="{BB962C8B-B14F-4D97-AF65-F5344CB8AC3E}">
        <p14:creationId xmlns:p14="http://schemas.microsoft.com/office/powerpoint/2010/main" val="758381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03B34D-F14D-51FB-41B9-93BA10896653}"/>
              </a:ext>
            </a:extLst>
          </p:cNvPr>
          <p:cNvSpPr>
            <a:spLocks noGrp="1"/>
          </p:cNvSpPr>
          <p:nvPr>
            <p:ph type="sldNum" sz="quarter" idx="11"/>
          </p:nvPr>
        </p:nvSpPr>
        <p:spPr/>
        <p:txBody>
          <a:bodyPr/>
          <a:lstStyle/>
          <a:p>
            <a:fld id="{CE58CB1E-F828-4F11-99E0-327109AF9DA4}" type="slidenum">
              <a:rPr lang="de-DE" smtClean="0"/>
              <a:pPr/>
              <a:t>10</a:t>
            </a:fld>
            <a:endParaRPr lang="de-DE"/>
          </a:p>
        </p:txBody>
      </p:sp>
      <p:sp>
        <p:nvSpPr>
          <p:cNvPr id="4" name="Footer Placeholder 3">
            <a:extLst>
              <a:ext uri="{FF2B5EF4-FFF2-40B4-BE49-F238E27FC236}">
                <a16:creationId xmlns:a16="http://schemas.microsoft.com/office/drawing/2014/main" id="{44751BA6-92A7-7F8E-4E98-71CEB9BED653}"/>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18405238-5118-6E79-67B2-D03E17097056}"/>
              </a:ext>
            </a:extLst>
          </p:cNvPr>
          <p:cNvSpPr>
            <a:spLocks noGrp="1"/>
          </p:cNvSpPr>
          <p:nvPr>
            <p:ph type="title"/>
          </p:nvPr>
        </p:nvSpPr>
        <p:spPr>
          <a:xfrm>
            <a:off x="653429" y="225378"/>
            <a:ext cx="8508999" cy="380810"/>
          </a:xfrm>
          <a:noFill/>
          <a:ln w="9525">
            <a:noFill/>
            <a:miter lim="800000"/>
            <a:headEnd/>
            <a:tailEnd/>
          </a:ln>
        </p:spPr>
        <p:txBody>
          <a:bodyPr vert="horz" wrap="square" lIns="0" tIns="0" rIns="0" bIns="0" numCol="1" anchor="t" anchorCtr="0" compatLnSpc="1">
            <a:prstTxWarp prst="textNoShape">
              <a:avLst/>
            </a:prstTxWarp>
            <a:spAutoFit/>
          </a:bodyPr>
          <a:lstStyle/>
          <a:p>
            <a:r>
              <a:rPr lang="de-DE" sz="3200" b="1">
                <a:solidFill>
                  <a:schemeClr val="bg2"/>
                </a:solidFill>
              </a:rPr>
              <a:t>Solver Setting</a:t>
            </a:r>
            <a:endParaRPr lang="en-GB" sz="3200" b="1">
              <a:solidFill>
                <a:schemeClr val="bg2"/>
              </a:solidFill>
            </a:endParaRPr>
          </a:p>
        </p:txBody>
      </p:sp>
      <p:sp>
        <p:nvSpPr>
          <p:cNvPr id="7" name="Text Placeholder 6">
            <a:extLst>
              <a:ext uri="{FF2B5EF4-FFF2-40B4-BE49-F238E27FC236}">
                <a16:creationId xmlns:a16="http://schemas.microsoft.com/office/drawing/2014/main" id="{2019AD97-A21F-F80F-90FD-2428E7390726}"/>
              </a:ext>
            </a:extLst>
          </p:cNvPr>
          <p:cNvSpPr>
            <a:spLocks noGrp="1"/>
          </p:cNvSpPr>
          <p:nvPr>
            <p:ph type="body" sz="quarter" idx="14"/>
          </p:nvPr>
        </p:nvSpPr>
        <p:spPr/>
        <p:txBody>
          <a:bodyPr lIns="0" tIns="93600" rIns="0" bIns="0"/>
          <a:lstStyle/>
          <a:p>
            <a:r>
              <a:rPr lang="en-GB" b="1"/>
              <a:t>Solver Configuration &amp; Global Settings (General)</a:t>
            </a:r>
          </a:p>
        </p:txBody>
      </p:sp>
      <p:pic>
        <p:nvPicPr>
          <p:cNvPr id="11" name="Content Placeholder 10" descr="A screenshot of a computer&#10;&#10;AI-generated content may be incorrect.">
            <a:extLst>
              <a:ext uri="{FF2B5EF4-FFF2-40B4-BE49-F238E27FC236}">
                <a16:creationId xmlns:a16="http://schemas.microsoft.com/office/drawing/2014/main" id="{35DAD3C7-F3D5-45BF-24F8-0818D48A753E}"/>
              </a:ext>
            </a:extLst>
          </p:cNvPr>
          <p:cNvPicPr>
            <a:picLocks noGrp="1" noChangeAspect="1"/>
          </p:cNvPicPr>
          <p:nvPr>
            <p:ph idx="1"/>
          </p:nvPr>
        </p:nvPicPr>
        <p:blipFill>
          <a:blip r:embed="rId3"/>
          <a:stretch>
            <a:fillRect/>
          </a:stretch>
        </p:blipFill>
        <p:spPr>
          <a:xfrm>
            <a:off x="6156563" y="684430"/>
            <a:ext cx="2566653" cy="4086782"/>
          </a:xfrm>
          <a:prstGeom prst="rect">
            <a:avLst/>
          </a:prstGeom>
          <a:ln w="9525">
            <a:noFill/>
            <a:miter lim="800000"/>
            <a:headEnd/>
            <a:tailEnd/>
          </a:ln>
        </p:spPr>
      </p:pic>
      <p:pic>
        <p:nvPicPr>
          <p:cNvPr id="5" name="Picture 4" descr="A blue and white gears&#10;&#10;AI-generated content may be incorrect.">
            <a:extLst>
              <a:ext uri="{FF2B5EF4-FFF2-40B4-BE49-F238E27FC236}">
                <a16:creationId xmlns:a16="http://schemas.microsoft.com/office/drawing/2014/main" id="{0B24A30E-7D29-03FC-5576-BC58F87E9C4D}"/>
              </a:ext>
            </a:extLst>
          </p:cNvPr>
          <p:cNvPicPr>
            <a:picLocks noChangeAspect="1"/>
          </p:cNvPicPr>
          <p:nvPr/>
        </p:nvPicPr>
        <p:blipFill>
          <a:blip r:embed="rId4"/>
          <a:stretch>
            <a:fillRect/>
          </a:stretch>
        </p:blipFill>
        <p:spPr>
          <a:xfrm>
            <a:off x="238926" y="208532"/>
            <a:ext cx="414503" cy="414503"/>
          </a:xfrm>
          <a:prstGeom prst="rect">
            <a:avLst/>
          </a:prstGeom>
        </p:spPr>
      </p:pic>
      <p:sp>
        <p:nvSpPr>
          <p:cNvPr id="12" name="TextBox 11">
            <a:extLst>
              <a:ext uri="{FF2B5EF4-FFF2-40B4-BE49-F238E27FC236}">
                <a16:creationId xmlns:a16="http://schemas.microsoft.com/office/drawing/2014/main" id="{14E9E0F2-063D-25EF-35D8-BA9698DD62D3}"/>
              </a:ext>
            </a:extLst>
          </p:cNvPr>
          <p:cNvSpPr txBox="1"/>
          <p:nvPr/>
        </p:nvSpPr>
        <p:spPr>
          <a:xfrm>
            <a:off x="446177" y="1294471"/>
            <a:ext cx="4229732" cy="3417602"/>
          </a:xfrm>
          <a:prstGeom prst="rect">
            <a:avLst/>
          </a:prstGeom>
          <a:noFill/>
        </p:spPr>
        <p:txBody>
          <a:bodyPr wrap="square" lIns="0" tIns="0" rIns="0" bIns="0" rtlCol="0">
            <a:spAutoFit/>
          </a:bodyPr>
          <a:lstStyle/>
          <a:p>
            <a:pPr>
              <a:lnSpc>
                <a:spcPct val="114000"/>
              </a:lnSpc>
            </a:pPr>
            <a:r>
              <a:rPr lang="en-US" sz="1400">
                <a:solidFill>
                  <a:schemeClr val="tx1">
                    <a:lumMod val="50000"/>
                    <a:lumOff val="50000"/>
                  </a:schemeClr>
                </a:solidFill>
              </a:rPr>
              <a:t>Solver type: Pressure-based</a:t>
            </a:r>
          </a:p>
          <a:p>
            <a:pPr>
              <a:lnSpc>
                <a:spcPct val="114000"/>
              </a:lnSpc>
            </a:pPr>
            <a:r>
              <a:rPr lang="en-GB" sz="1400"/>
              <a:t>suitable for incompressible, appropriate for water–gas sloshing simulations</a:t>
            </a:r>
          </a:p>
          <a:p>
            <a:pPr>
              <a:lnSpc>
                <a:spcPct val="114000"/>
              </a:lnSpc>
            </a:pPr>
            <a:endParaRPr lang="en-GB" sz="1400"/>
          </a:p>
          <a:p>
            <a:pPr>
              <a:lnSpc>
                <a:spcPct val="114000"/>
              </a:lnSpc>
            </a:pPr>
            <a:r>
              <a:rPr lang="en-US" sz="1400">
                <a:solidFill>
                  <a:schemeClr val="tx1">
                    <a:lumMod val="50000"/>
                    <a:lumOff val="50000"/>
                  </a:schemeClr>
                </a:solidFill>
              </a:rPr>
              <a:t>Why transient simulation?</a:t>
            </a:r>
          </a:p>
          <a:p>
            <a:pPr>
              <a:lnSpc>
                <a:spcPct val="114000"/>
              </a:lnSpc>
            </a:pPr>
            <a:r>
              <a:rPr lang="en-GB" sz="1400"/>
              <a:t>To capture:</a:t>
            </a:r>
          </a:p>
          <a:p>
            <a:pPr marL="285750" indent="-285750">
              <a:lnSpc>
                <a:spcPct val="114000"/>
              </a:lnSpc>
              <a:buFont typeface="Arial" panose="020B0604020202020204" pitchFamily="34" charset="0"/>
              <a:buChar char="•"/>
            </a:pPr>
            <a:r>
              <a:rPr lang="en-GB" sz="1400"/>
              <a:t>time-dependent sloshing motion</a:t>
            </a:r>
          </a:p>
          <a:p>
            <a:pPr marL="285750" indent="-285750">
              <a:lnSpc>
                <a:spcPct val="114000"/>
              </a:lnSpc>
              <a:buFont typeface="Arial" panose="020B0604020202020204" pitchFamily="34" charset="0"/>
              <a:buChar char="•"/>
            </a:pPr>
            <a:r>
              <a:rPr lang="en-GB" sz="1400"/>
              <a:t>interface deformation under dynamic excitation</a:t>
            </a:r>
          </a:p>
          <a:p>
            <a:pPr marL="285750" indent="-285750">
              <a:lnSpc>
                <a:spcPct val="114000"/>
              </a:lnSpc>
              <a:buFont typeface="Arial" panose="020B0604020202020204" pitchFamily="34" charset="0"/>
              <a:buChar char="•"/>
            </a:pPr>
            <a:endParaRPr lang="en-GB" sz="1400">
              <a:solidFill>
                <a:schemeClr val="tx1">
                  <a:lumMod val="50000"/>
                  <a:lumOff val="50000"/>
                </a:schemeClr>
              </a:solidFill>
            </a:endParaRPr>
          </a:p>
          <a:p>
            <a:pPr>
              <a:lnSpc>
                <a:spcPct val="114000"/>
              </a:lnSpc>
            </a:pPr>
            <a:r>
              <a:rPr lang="en-GB" sz="1400">
                <a:solidFill>
                  <a:schemeClr val="tx1">
                    <a:lumMod val="50000"/>
                    <a:lumOff val="50000"/>
                  </a:schemeClr>
                </a:solidFill>
              </a:rPr>
              <a:t>Equations solved for:</a:t>
            </a:r>
            <a:br>
              <a:rPr lang="en-GB" sz="1400"/>
            </a:br>
            <a:r>
              <a:rPr lang="en-GB" sz="1400"/>
              <a:t>• Flow</a:t>
            </a:r>
            <a:br>
              <a:rPr lang="en-GB" sz="1400"/>
            </a:br>
            <a:r>
              <a:rPr lang="en-GB" sz="1400"/>
              <a:t>• Volume Fraction</a:t>
            </a:r>
            <a:br>
              <a:rPr lang="en-GB" sz="1400"/>
            </a:br>
            <a:r>
              <a:rPr lang="en-GB" sz="1400"/>
              <a:t>• Turbulence</a:t>
            </a:r>
            <a:br>
              <a:rPr lang="en-GB" sz="1400"/>
            </a:br>
            <a:r>
              <a:rPr lang="en-GB" sz="1400"/>
              <a:t>• Energy</a:t>
            </a:r>
            <a:endParaRPr lang="en-GB" sz="1400">
              <a:solidFill>
                <a:schemeClr val="tx1">
                  <a:lumMod val="50000"/>
                  <a:lumOff val="50000"/>
                </a:schemeClr>
              </a:solidFill>
              <a:latin typeface="+mn-lt"/>
            </a:endParaRPr>
          </a:p>
        </p:txBody>
      </p:sp>
    </p:spTree>
    <p:extLst>
      <p:ext uri="{BB962C8B-B14F-4D97-AF65-F5344CB8AC3E}">
        <p14:creationId xmlns:p14="http://schemas.microsoft.com/office/powerpoint/2010/main" val="24838343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01E55-2E5D-AB22-44F3-F8996B657B2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BEB0793-A33C-33B7-5873-6DAB29FB2C33}"/>
              </a:ext>
            </a:extLst>
          </p:cNvPr>
          <p:cNvSpPr>
            <a:spLocks noGrp="1"/>
          </p:cNvSpPr>
          <p:nvPr>
            <p:ph type="sldNum" sz="quarter" idx="11"/>
          </p:nvPr>
        </p:nvSpPr>
        <p:spPr/>
        <p:txBody>
          <a:bodyPr/>
          <a:lstStyle/>
          <a:p>
            <a:fld id="{CE58CB1E-F828-4F11-99E0-327109AF9DA4}" type="slidenum">
              <a:rPr lang="de-DE" smtClean="0"/>
              <a:pPr/>
              <a:t>11</a:t>
            </a:fld>
            <a:endParaRPr lang="de-DE"/>
          </a:p>
        </p:txBody>
      </p:sp>
      <p:sp>
        <p:nvSpPr>
          <p:cNvPr id="4" name="Footer Placeholder 3">
            <a:extLst>
              <a:ext uri="{FF2B5EF4-FFF2-40B4-BE49-F238E27FC236}">
                <a16:creationId xmlns:a16="http://schemas.microsoft.com/office/drawing/2014/main" id="{6A92D207-487F-F063-B490-292A94857C86}"/>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509C8498-E582-1EC3-1DCC-C8984AEAE504}"/>
              </a:ext>
            </a:extLst>
          </p:cNvPr>
          <p:cNvSpPr>
            <a:spLocks noGrp="1"/>
          </p:cNvSpPr>
          <p:nvPr>
            <p:ph type="title"/>
          </p:nvPr>
        </p:nvSpPr>
        <p:spPr>
          <a:xfrm>
            <a:off x="653429" y="225378"/>
            <a:ext cx="8508999" cy="380810"/>
          </a:xfrm>
          <a:noFill/>
          <a:ln w="9525">
            <a:noFill/>
            <a:miter lim="800000"/>
            <a:headEnd/>
            <a:tailEnd/>
          </a:ln>
        </p:spPr>
        <p:txBody>
          <a:bodyPr vert="horz" wrap="square" lIns="0" tIns="0" rIns="0" bIns="0" numCol="1" anchor="t" anchorCtr="0" compatLnSpc="1">
            <a:prstTxWarp prst="textNoShape">
              <a:avLst/>
            </a:prstTxWarp>
            <a:spAutoFit/>
          </a:bodyPr>
          <a:lstStyle/>
          <a:p>
            <a:r>
              <a:rPr lang="de-DE" sz="3200" b="1">
                <a:solidFill>
                  <a:schemeClr val="bg2"/>
                </a:solidFill>
              </a:rPr>
              <a:t>Solver Setting</a:t>
            </a:r>
            <a:endParaRPr lang="en-GB" sz="3200" b="1">
              <a:solidFill>
                <a:schemeClr val="bg2"/>
              </a:solidFill>
            </a:endParaRPr>
          </a:p>
        </p:txBody>
      </p:sp>
      <p:sp>
        <p:nvSpPr>
          <p:cNvPr id="7" name="Text Placeholder 6">
            <a:extLst>
              <a:ext uri="{FF2B5EF4-FFF2-40B4-BE49-F238E27FC236}">
                <a16:creationId xmlns:a16="http://schemas.microsoft.com/office/drawing/2014/main" id="{A4B4A88F-77C9-E06C-0313-E50FB2120CA5}"/>
              </a:ext>
            </a:extLst>
          </p:cNvPr>
          <p:cNvSpPr>
            <a:spLocks noGrp="1"/>
          </p:cNvSpPr>
          <p:nvPr>
            <p:ph type="body" sz="quarter" idx="14"/>
          </p:nvPr>
        </p:nvSpPr>
        <p:spPr/>
        <p:txBody>
          <a:bodyPr lIns="0" tIns="93600" rIns="0" bIns="0" anchor="t"/>
          <a:lstStyle/>
          <a:p>
            <a:r>
              <a:rPr lang="en-US" b="1"/>
              <a:t>T</a:t>
            </a:r>
            <a:r>
              <a:rPr lang="en-GB" b="1"/>
              <a:t>thermophysical properties (Materials)</a:t>
            </a:r>
          </a:p>
        </p:txBody>
      </p:sp>
      <p:pic>
        <p:nvPicPr>
          <p:cNvPr id="15" name="Picture 14" descr="A screenshot of a computer&#10;&#10;AI-generated content may be incorrect.">
            <a:extLst>
              <a:ext uri="{FF2B5EF4-FFF2-40B4-BE49-F238E27FC236}">
                <a16:creationId xmlns:a16="http://schemas.microsoft.com/office/drawing/2014/main" id="{44346CD6-DA02-CD08-B836-D3F6C2975CFC}"/>
              </a:ext>
            </a:extLst>
          </p:cNvPr>
          <p:cNvPicPr>
            <a:picLocks noChangeAspect="1"/>
          </p:cNvPicPr>
          <p:nvPr/>
        </p:nvPicPr>
        <p:blipFill>
          <a:blip r:embed="rId3"/>
          <a:srcRect r="4587"/>
          <a:stretch>
            <a:fillRect/>
          </a:stretch>
        </p:blipFill>
        <p:spPr>
          <a:xfrm>
            <a:off x="5716368" y="1910090"/>
            <a:ext cx="3072972" cy="1645873"/>
          </a:xfrm>
          <a:prstGeom prst="rect">
            <a:avLst/>
          </a:prstGeom>
        </p:spPr>
      </p:pic>
      <p:graphicFrame>
        <p:nvGraphicFramePr>
          <p:cNvPr id="16" name="Table 15">
            <a:extLst>
              <a:ext uri="{FF2B5EF4-FFF2-40B4-BE49-F238E27FC236}">
                <a16:creationId xmlns:a16="http://schemas.microsoft.com/office/drawing/2014/main" id="{73DBE798-8089-EB97-7D6E-37920C7FDCB6}"/>
              </a:ext>
            </a:extLst>
          </p:cNvPr>
          <p:cNvGraphicFramePr>
            <a:graphicFrameLocks noGrp="1"/>
          </p:cNvGraphicFramePr>
          <p:nvPr>
            <p:extLst>
              <p:ext uri="{D42A27DB-BD31-4B8C-83A1-F6EECF244321}">
                <p14:modId xmlns:p14="http://schemas.microsoft.com/office/powerpoint/2010/main" val="965153453"/>
              </p:ext>
            </p:extLst>
          </p:nvPr>
        </p:nvGraphicFramePr>
        <p:xfrm>
          <a:off x="238926" y="1805927"/>
          <a:ext cx="5240547" cy="1854200"/>
        </p:xfrm>
        <a:graphic>
          <a:graphicData uri="http://schemas.openxmlformats.org/drawingml/2006/table">
            <a:tbl>
              <a:tblPr firstRow="1" bandRow="1">
                <a:tableStyleId>{0E3FDE45-AF77-4B5C-9715-49D594BDF05E}</a:tableStyleId>
              </a:tblPr>
              <a:tblGrid>
                <a:gridCol w="2178692">
                  <a:extLst>
                    <a:ext uri="{9D8B030D-6E8A-4147-A177-3AD203B41FA5}">
                      <a16:colId xmlns:a16="http://schemas.microsoft.com/office/drawing/2014/main" val="219172722"/>
                    </a:ext>
                  </a:extLst>
                </a:gridCol>
                <a:gridCol w="1510146">
                  <a:extLst>
                    <a:ext uri="{9D8B030D-6E8A-4147-A177-3AD203B41FA5}">
                      <a16:colId xmlns:a16="http://schemas.microsoft.com/office/drawing/2014/main" val="457691938"/>
                    </a:ext>
                  </a:extLst>
                </a:gridCol>
                <a:gridCol w="1551709">
                  <a:extLst>
                    <a:ext uri="{9D8B030D-6E8A-4147-A177-3AD203B41FA5}">
                      <a16:colId xmlns:a16="http://schemas.microsoft.com/office/drawing/2014/main" val="1372608456"/>
                    </a:ext>
                  </a:extLst>
                </a:gridCol>
              </a:tblGrid>
              <a:tr h="370840">
                <a:tc>
                  <a:txBody>
                    <a:bodyPr/>
                    <a:lstStyle/>
                    <a:p>
                      <a:endParaRPr lang="en-US" sz="1600">
                        <a:latin typeface="+mj-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en-US" sz="1600">
                          <a:latin typeface="+mj-lt"/>
                        </a:rPr>
                        <a:t>Gas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r>
                        <a:rPr lang="en-US" sz="1600">
                          <a:latin typeface="+mj-lt"/>
                        </a:rPr>
                        <a:t>Gas 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27444782"/>
                  </a:ext>
                </a:extLst>
              </a:tr>
              <a:tr h="370840">
                <a:tc>
                  <a:txBody>
                    <a:bodyPr/>
                    <a:lstStyle/>
                    <a:p>
                      <a:r>
                        <a:rPr lang="en-US" sz="1600">
                          <a:latin typeface="+mj-lt"/>
                        </a:rPr>
                        <a:t>Density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latin typeface="+mj-lt"/>
                        </a:rPr>
                        <a:t>3.99 kg/m3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latin typeface="+mj-lt"/>
                        </a:rPr>
                        <a:t>6 kg/m3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6000404"/>
                  </a:ext>
                </a:extLst>
              </a:tr>
              <a:tr h="370840">
                <a:tc>
                  <a:txBody>
                    <a:bodyPr/>
                    <a:lstStyle/>
                    <a:p>
                      <a:r>
                        <a:rPr lang="en-US" sz="1600">
                          <a:latin typeface="+mj-lt"/>
                        </a:rPr>
                        <a:t>Cp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a:latin typeface="+mj-lt"/>
                        </a:rPr>
                        <a:t>710 J/(kg.K)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a:latin typeface="+mj-lt"/>
                        </a:rPr>
                        <a:t>670 J/(kg.K)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3539394308"/>
                  </a:ext>
                </a:extLst>
              </a:tr>
              <a:tr h="370840">
                <a:tc>
                  <a:txBody>
                    <a:bodyPr/>
                    <a:lstStyle/>
                    <a:p>
                      <a:r>
                        <a:rPr lang="en-US" sz="1600">
                          <a:latin typeface="+mj-lt"/>
                        </a:rPr>
                        <a:t>Thermal Conductivity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a:latin typeface="+mj-lt"/>
                        </a:rPr>
                        <a:t>0.015 W/(m.K)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a:latin typeface="+mj-lt"/>
                        </a:rPr>
                        <a:t>0.013 W/(m.K)</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423576097"/>
                  </a:ext>
                </a:extLst>
              </a:tr>
              <a:tr h="370840">
                <a:tc>
                  <a:txBody>
                    <a:bodyPr/>
                    <a:lstStyle/>
                    <a:p>
                      <a:r>
                        <a:rPr lang="en-US" sz="1600">
                          <a:latin typeface="+mj-lt"/>
                        </a:rPr>
                        <a:t>Dynamic Viscosity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kern="1200">
                          <a:solidFill>
                            <a:schemeClr val="tx1"/>
                          </a:solidFill>
                          <a:latin typeface="+mn-lt"/>
                          <a:ea typeface="+mn-ea"/>
                          <a:cs typeface="+mn-cs"/>
                        </a:rPr>
                        <a:t>1.55e-5 (Pa.s)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600">
                          <a:latin typeface="+mj-lt"/>
                        </a:rPr>
                        <a:t>1.5e-5 (Pa.s)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3052143832"/>
                  </a:ext>
                </a:extLst>
              </a:tr>
            </a:tbl>
          </a:graphicData>
        </a:graphic>
      </p:graphicFrame>
      <p:pic>
        <p:nvPicPr>
          <p:cNvPr id="5" name="Picture 4" descr="A blue and white gears&#10;&#10;AI-generated content may be incorrect.">
            <a:extLst>
              <a:ext uri="{FF2B5EF4-FFF2-40B4-BE49-F238E27FC236}">
                <a16:creationId xmlns:a16="http://schemas.microsoft.com/office/drawing/2014/main" id="{493CB9ED-6B77-8D06-50BF-E7A1AE8FFE45}"/>
              </a:ext>
            </a:extLst>
          </p:cNvPr>
          <p:cNvPicPr>
            <a:picLocks noChangeAspect="1"/>
          </p:cNvPicPr>
          <p:nvPr/>
        </p:nvPicPr>
        <p:blipFill>
          <a:blip r:embed="rId4"/>
          <a:stretch>
            <a:fillRect/>
          </a:stretch>
        </p:blipFill>
        <p:spPr>
          <a:xfrm>
            <a:off x="238926" y="208532"/>
            <a:ext cx="414503" cy="414503"/>
          </a:xfrm>
          <a:prstGeom prst="rect">
            <a:avLst/>
          </a:prstGeom>
        </p:spPr>
      </p:pic>
      <p:sp>
        <p:nvSpPr>
          <p:cNvPr id="10" name="TextBox 9">
            <a:extLst>
              <a:ext uri="{FF2B5EF4-FFF2-40B4-BE49-F238E27FC236}">
                <a16:creationId xmlns:a16="http://schemas.microsoft.com/office/drawing/2014/main" id="{3F7703CB-2F4A-6FAD-7D33-2C1294546B96}"/>
              </a:ext>
            </a:extLst>
          </p:cNvPr>
          <p:cNvSpPr txBox="1"/>
          <p:nvPr/>
        </p:nvSpPr>
        <p:spPr>
          <a:xfrm>
            <a:off x="486935" y="3823702"/>
            <a:ext cx="5565699" cy="381771"/>
          </a:xfrm>
          <a:prstGeom prst="rect">
            <a:avLst/>
          </a:prstGeom>
          <a:noFill/>
        </p:spPr>
        <p:txBody>
          <a:bodyPr wrap="square">
            <a:spAutoFit/>
          </a:bodyPr>
          <a:lstStyle/>
          <a:p>
            <a:pPr>
              <a:lnSpc>
                <a:spcPct val="114000"/>
              </a:lnSpc>
            </a:pPr>
            <a:r>
              <a:rPr lang="en-US" sz="1800">
                <a:solidFill>
                  <a:schemeClr val="tx1">
                    <a:lumMod val="50000"/>
                    <a:lumOff val="50000"/>
                  </a:schemeClr>
                </a:solidFill>
              </a:rPr>
              <a:t>Water was also selected from FLUENT database</a:t>
            </a:r>
          </a:p>
        </p:txBody>
      </p:sp>
    </p:spTree>
    <p:extLst>
      <p:ext uri="{BB962C8B-B14F-4D97-AF65-F5344CB8AC3E}">
        <p14:creationId xmlns:p14="http://schemas.microsoft.com/office/powerpoint/2010/main" val="36727986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DC4A3-2B74-7E52-177F-1367770B96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8E7768-CB34-55DD-0BF4-AF214357E5F7}"/>
              </a:ext>
            </a:extLst>
          </p:cNvPr>
          <p:cNvSpPr>
            <a:spLocks noGrp="1"/>
          </p:cNvSpPr>
          <p:nvPr>
            <p:ph type="sldNum" sz="quarter" idx="11"/>
          </p:nvPr>
        </p:nvSpPr>
        <p:spPr/>
        <p:txBody>
          <a:bodyPr/>
          <a:lstStyle/>
          <a:p>
            <a:fld id="{CE58CB1E-F828-4F11-99E0-327109AF9DA4}" type="slidenum">
              <a:rPr lang="de-DE" smtClean="0"/>
              <a:pPr/>
              <a:t>12</a:t>
            </a:fld>
            <a:endParaRPr lang="de-DE"/>
          </a:p>
        </p:txBody>
      </p:sp>
      <p:sp>
        <p:nvSpPr>
          <p:cNvPr id="4" name="Footer Placeholder 3">
            <a:extLst>
              <a:ext uri="{FF2B5EF4-FFF2-40B4-BE49-F238E27FC236}">
                <a16:creationId xmlns:a16="http://schemas.microsoft.com/office/drawing/2014/main" id="{7663755B-0052-0B28-6C0E-5BE89341033A}"/>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E71C3D0D-F610-C297-CEB3-302FBDA50F0D}"/>
              </a:ext>
            </a:extLst>
          </p:cNvPr>
          <p:cNvSpPr>
            <a:spLocks noGrp="1"/>
          </p:cNvSpPr>
          <p:nvPr>
            <p:ph type="title"/>
          </p:nvPr>
        </p:nvSpPr>
        <p:spPr>
          <a:xfrm>
            <a:off x="653429" y="225378"/>
            <a:ext cx="8508999" cy="380810"/>
          </a:xfrm>
          <a:noFill/>
          <a:ln w="9525">
            <a:noFill/>
            <a:miter lim="800000"/>
            <a:headEnd/>
            <a:tailEnd/>
          </a:ln>
        </p:spPr>
        <p:txBody>
          <a:bodyPr vert="horz" wrap="square" lIns="0" tIns="0" rIns="0" bIns="0" numCol="1" anchor="t" anchorCtr="0" compatLnSpc="1">
            <a:prstTxWarp prst="textNoShape">
              <a:avLst/>
            </a:prstTxWarp>
            <a:spAutoFit/>
          </a:bodyPr>
          <a:lstStyle/>
          <a:p>
            <a:r>
              <a:rPr lang="de-DE" sz="3200" b="1">
                <a:solidFill>
                  <a:schemeClr val="bg2"/>
                </a:solidFill>
              </a:rPr>
              <a:t>Solver Setting</a:t>
            </a:r>
            <a:endParaRPr lang="en-GB" sz="3200" b="1">
              <a:solidFill>
                <a:schemeClr val="bg2"/>
              </a:solidFill>
            </a:endParaRPr>
          </a:p>
        </p:txBody>
      </p:sp>
      <p:sp>
        <p:nvSpPr>
          <p:cNvPr id="7" name="Text Placeholder 6">
            <a:extLst>
              <a:ext uri="{FF2B5EF4-FFF2-40B4-BE49-F238E27FC236}">
                <a16:creationId xmlns:a16="http://schemas.microsoft.com/office/drawing/2014/main" id="{A34FF403-F651-918B-C398-CCDB2F130775}"/>
              </a:ext>
            </a:extLst>
          </p:cNvPr>
          <p:cNvSpPr>
            <a:spLocks noGrp="1"/>
          </p:cNvSpPr>
          <p:nvPr>
            <p:ph type="body" sz="quarter" idx="14"/>
          </p:nvPr>
        </p:nvSpPr>
        <p:spPr/>
        <p:txBody>
          <a:bodyPr/>
          <a:lstStyle/>
          <a:p>
            <a:r>
              <a:rPr lang="en-US" b="1"/>
              <a:t>Physics Models: Turbulence &amp; Multiphase Model</a:t>
            </a:r>
            <a:endParaRPr lang="en-GB"/>
          </a:p>
        </p:txBody>
      </p:sp>
      <p:pic>
        <p:nvPicPr>
          <p:cNvPr id="5" name="Picture 4" descr="A blue and white gears&#10;&#10;AI-generated content may be incorrect.">
            <a:extLst>
              <a:ext uri="{FF2B5EF4-FFF2-40B4-BE49-F238E27FC236}">
                <a16:creationId xmlns:a16="http://schemas.microsoft.com/office/drawing/2014/main" id="{0D1B68BD-8CE0-CF86-AD00-2F11C1570C7F}"/>
              </a:ext>
            </a:extLst>
          </p:cNvPr>
          <p:cNvPicPr>
            <a:picLocks noChangeAspect="1"/>
          </p:cNvPicPr>
          <p:nvPr/>
        </p:nvPicPr>
        <p:blipFill>
          <a:blip r:embed="rId3"/>
          <a:stretch>
            <a:fillRect/>
          </a:stretch>
        </p:blipFill>
        <p:spPr>
          <a:xfrm>
            <a:off x="238926" y="208532"/>
            <a:ext cx="414503" cy="41450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984A32B-6F24-16AD-602E-9FD6E540CB36}"/>
              </a:ext>
            </a:extLst>
          </p:cNvPr>
          <p:cNvPicPr>
            <a:picLocks noChangeAspect="1"/>
          </p:cNvPicPr>
          <p:nvPr/>
        </p:nvPicPr>
        <p:blipFill>
          <a:blip r:embed="rId4"/>
          <a:srcRect r="28521"/>
          <a:stretch>
            <a:fillRect/>
          </a:stretch>
        </p:blipFill>
        <p:spPr>
          <a:xfrm>
            <a:off x="412706" y="1160585"/>
            <a:ext cx="3395774" cy="3689455"/>
          </a:xfrm>
          <a:prstGeom prst="rect">
            <a:avLst/>
          </a:prstGeom>
        </p:spPr>
      </p:pic>
      <p:sp>
        <p:nvSpPr>
          <p:cNvPr id="9" name="TextBox 8">
            <a:extLst>
              <a:ext uri="{FF2B5EF4-FFF2-40B4-BE49-F238E27FC236}">
                <a16:creationId xmlns:a16="http://schemas.microsoft.com/office/drawing/2014/main" id="{43224F0C-BFCB-D107-1F0C-49040CFDB4DA}"/>
              </a:ext>
            </a:extLst>
          </p:cNvPr>
          <p:cNvSpPr txBox="1"/>
          <p:nvPr/>
        </p:nvSpPr>
        <p:spPr>
          <a:xfrm>
            <a:off x="5692929" y="667445"/>
            <a:ext cx="3299828" cy="562911"/>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rtlCol="0" anchor="t">
            <a:spAutoFit/>
          </a:bodyPr>
          <a:lstStyle/>
          <a:p>
            <a:pPr>
              <a:lnSpc>
                <a:spcPct val="114000"/>
              </a:lnSpc>
            </a:pPr>
            <a:endParaRPr lang="en-US" sz="1100">
              <a:latin typeface="+mn-lt"/>
            </a:endParaRPr>
          </a:p>
          <a:p>
            <a:pPr>
              <a:lnSpc>
                <a:spcPct val="114000"/>
              </a:lnSpc>
            </a:pPr>
            <a:r>
              <a:rPr lang="en-US" sz="1100"/>
              <a:t>  </a:t>
            </a:r>
            <a:r>
              <a:rPr lang="en-US" sz="1100">
                <a:latin typeface="+mn-lt"/>
              </a:rPr>
              <a:t>K-omega SST Model is used for Turbulent Regime</a:t>
            </a:r>
            <a:endParaRPr lang="en-US">
              <a:cs typeface="Arial"/>
            </a:endParaRPr>
          </a:p>
          <a:p>
            <a:pPr>
              <a:lnSpc>
                <a:spcPct val="114000"/>
              </a:lnSpc>
            </a:pPr>
            <a:endParaRPr lang="en-US" sz="1100">
              <a:latin typeface="+mn-lt"/>
            </a:endParaRPr>
          </a:p>
        </p:txBody>
      </p:sp>
      <p:pic>
        <p:nvPicPr>
          <p:cNvPr id="11" name="Picture 10" descr="A screenshot of a computer&#10;&#10;AI-generated content may be incorrect.">
            <a:extLst>
              <a:ext uri="{FF2B5EF4-FFF2-40B4-BE49-F238E27FC236}">
                <a16:creationId xmlns:a16="http://schemas.microsoft.com/office/drawing/2014/main" id="{539E50A8-6AC5-F3FE-317D-CFE8A2581375}"/>
              </a:ext>
            </a:extLst>
          </p:cNvPr>
          <p:cNvPicPr>
            <a:picLocks noChangeAspect="1"/>
          </p:cNvPicPr>
          <p:nvPr/>
        </p:nvPicPr>
        <p:blipFill>
          <a:blip r:embed="rId5"/>
          <a:srcRect l="1" r="29379"/>
          <a:stretch>
            <a:fillRect/>
          </a:stretch>
        </p:blipFill>
        <p:spPr>
          <a:xfrm>
            <a:off x="3985970" y="1328624"/>
            <a:ext cx="4539840" cy="144359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EFFBB47D-D9C7-681F-5CAB-9DEA1BDDFBEB}"/>
              </a:ext>
            </a:extLst>
          </p:cNvPr>
          <p:cNvPicPr>
            <a:picLocks noChangeAspect="1"/>
          </p:cNvPicPr>
          <p:nvPr/>
        </p:nvPicPr>
        <p:blipFill>
          <a:blip r:embed="rId6"/>
          <a:srcRect l="-20896" r="24107" b="66193"/>
          <a:stretch>
            <a:fillRect/>
          </a:stretch>
        </p:blipFill>
        <p:spPr>
          <a:xfrm>
            <a:off x="2722560" y="2926966"/>
            <a:ext cx="5803250" cy="1579718"/>
          </a:xfrm>
          <a:prstGeom prst="rect">
            <a:avLst/>
          </a:prstGeom>
        </p:spPr>
      </p:pic>
    </p:spTree>
    <p:extLst>
      <p:ext uri="{BB962C8B-B14F-4D97-AF65-F5344CB8AC3E}">
        <p14:creationId xmlns:p14="http://schemas.microsoft.com/office/powerpoint/2010/main" val="7334261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31210-FC5E-2854-8798-D5229812585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ADD063-DD3B-2349-D153-C2944A6F5BC5}"/>
              </a:ext>
            </a:extLst>
          </p:cNvPr>
          <p:cNvSpPr>
            <a:spLocks noGrp="1"/>
          </p:cNvSpPr>
          <p:nvPr>
            <p:ph type="sldNum" sz="quarter" idx="11"/>
          </p:nvPr>
        </p:nvSpPr>
        <p:spPr/>
        <p:txBody>
          <a:bodyPr/>
          <a:lstStyle/>
          <a:p>
            <a:fld id="{CE58CB1E-F828-4F11-99E0-327109AF9DA4}" type="slidenum">
              <a:rPr lang="de-DE" smtClean="0"/>
              <a:pPr/>
              <a:t>13</a:t>
            </a:fld>
            <a:endParaRPr lang="de-DE"/>
          </a:p>
        </p:txBody>
      </p:sp>
      <p:sp>
        <p:nvSpPr>
          <p:cNvPr id="4" name="Footer Placeholder 3">
            <a:extLst>
              <a:ext uri="{FF2B5EF4-FFF2-40B4-BE49-F238E27FC236}">
                <a16:creationId xmlns:a16="http://schemas.microsoft.com/office/drawing/2014/main" id="{3ADEBB3C-1EEF-2CFC-196B-316680BA40C7}"/>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82225A59-DD50-9384-654A-667AEA9B55BD}"/>
              </a:ext>
            </a:extLst>
          </p:cNvPr>
          <p:cNvSpPr>
            <a:spLocks noGrp="1"/>
          </p:cNvSpPr>
          <p:nvPr>
            <p:ph type="title"/>
          </p:nvPr>
        </p:nvSpPr>
        <p:spPr>
          <a:xfrm>
            <a:off x="653429" y="225378"/>
            <a:ext cx="8508999" cy="380810"/>
          </a:xfrm>
          <a:noFill/>
          <a:ln w="9525">
            <a:noFill/>
            <a:miter lim="800000"/>
            <a:headEnd/>
            <a:tailEnd/>
          </a:ln>
        </p:spPr>
        <p:txBody>
          <a:bodyPr vert="horz" wrap="square" lIns="0" tIns="0" rIns="0" bIns="0" numCol="1" anchor="t" anchorCtr="0" compatLnSpc="1">
            <a:prstTxWarp prst="textNoShape">
              <a:avLst/>
            </a:prstTxWarp>
            <a:spAutoFit/>
          </a:bodyPr>
          <a:lstStyle/>
          <a:p>
            <a:r>
              <a:rPr lang="de-DE" sz="3200" b="1">
                <a:solidFill>
                  <a:schemeClr val="bg2"/>
                </a:solidFill>
              </a:rPr>
              <a:t>Solver Setting</a:t>
            </a:r>
            <a:endParaRPr lang="en-GB" sz="3200" b="1">
              <a:solidFill>
                <a:schemeClr val="bg2"/>
              </a:solidFill>
            </a:endParaRPr>
          </a:p>
        </p:txBody>
      </p:sp>
      <p:sp>
        <p:nvSpPr>
          <p:cNvPr id="7" name="Text Placeholder 6">
            <a:extLst>
              <a:ext uri="{FF2B5EF4-FFF2-40B4-BE49-F238E27FC236}">
                <a16:creationId xmlns:a16="http://schemas.microsoft.com/office/drawing/2014/main" id="{9EE3E5AE-E000-BD29-9B9E-C91C06ADF194}"/>
              </a:ext>
            </a:extLst>
          </p:cNvPr>
          <p:cNvSpPr>
            <a:spLocks noGrp="1"/>
          </p:cNvSpPr>
          <p:nvPr>
            <p:ph type="body" sz="quarter" idx="14"/>
          </p:nvPr>
        </p:nvSpPr>
        <p:spPr/>
        <p:txBody>
          <a:bodyPr/>
          <a:lstStyle/>
          <a:p>
            <a:r>
              <a:rPr lang="en-GB" b="1"/>
              <a:t>Boundary Conditions</a:t>
            </a:r>
          </a:p>
        </p:txBody>
      </p:sp>
      <p:pic>
        <p:nvPicPr>
          <p:cNvPr id="5" name="Picture 4" descr="A blue and white gears&#10;&#10;AI-generated content may be incorrect.">
            <a:extLst>
              <a:ext uri="{FF2B5EF4-FFF2-40B4-BE49-F238E27FC236}">
                <a16:creationId xmlns:a16="http://schemas.microsoft.com/office/drawing/2014/main" id="{DC8F8AD1-5BB6-5283-1EC0-B4BDF7B820A2}"/>
              </a:ext>
            </a:extLst>
          </p:cNvPr>
          <p:cNvPicPr>
            <a:picLocks noChangeAspect="1"/>
          </p:cNvPicPr>
          <p:nvPr/>
        </p:nvPicPr>
        <p:blipFill>
          <a:blip r:embed="rId3"/>
          <a:stretch>
            <a:fillRect/>
          </a:stretch>
        </p:blipFill>
        <p:spPr>
          <a:xfrm>
            <a:off x="238926" y="208532"/>
            <a:ext cx="414503" cy="414503"/>
          </a:xfrm>
          <a:prstGeom prst="rect">
            <a:avLst/>
          </a:prstGeom>
        </p:spPr>
      </p:pic>
      <p:sp>
        <p:nvSpPr>
          <p:cNvPr id="2" name="Text Placeholder 4">
            <a:extLst>
              <a:ext uri="{FF2B5EF4-FFF2-40B4-BE49-F238E27FC236}">
                <a16:creationId xmlns:a16="http://schemas.microsoft.com/office/drawing/2014/main" id="{432BB91B-7F9F-8611-CB4A-E97C1B6B55D1}"/>
              </a:ext>
            </a:extLst>
          </p:cNvPr>
          <p:cNvSpPr>
            <a:spLocks noGrp="1"/>
          </p:cNvSpPr>
          <p:nvPr>
            <p:ph type="body" sz="quarter" idx="13"/>
          </p:nvPr>
        </p:nvSpPr>
        <p:spPr>
          <a:xfrm>
            <a:off x="321943" y="1126098"/>
            <a:ext cx="8508999" cy="497688"/>
          </a:xfrm>
          <a:noFill/>
        </p:spPr>
        <p:txBody>
          <a:bodyPr/>
          <a:lstStyle/>
          <a:p>
            <a:r>
              <a:rPr lang="en-US"/>
              <a:t>For all the tank walls, </a:t>
            </a:r>
            <a:r>
              <a:rPr lang="en-GB"/>
              <a:t>convection boundary condition was applied to model external heat exchange with the environment.</a:t>
            </a:r>
          </a:p>
        </p:txBody>
      </p:sp>
      <p:pic>
        <p:nvPicPr>
          <p:cNvPr id="8" name="Content Placeholder 7" descr="A screenshot of a computer&#10;&#10;AI-generated content may be incorrect.">
            <a:extLst>
              <a:ext uri="{FF2B5EF4-FFF2-40B4-BE49-F238E27FC236}">
                <a16:creationId xmlns:a16="http://schemas.microsoft.com/office/drawing/2014/main" id="{E4941ADC-CB84-5767-150B-414BC50D0214}"/>
              </a:ext>
            </a:extLst>
          </p:cNvPr>
          <p:cNvPicPr>
            <a:picLocks noGrp="1" noChangeAspect="1"/>
          </p:cNvPicPr>
          <p:nvPr>
            <p:ph idx="1"/>
          </p:nvPr>
        </p:nvPicPr>
        <p:blipFill>
          <a:blip r:embed="rId4"/>
          <a:stretch>
            <a:fillRect/>
          </a:stretch>
        </p:blipFill>
        <p:spPr>
          <a:xfrm>
            <a:off x="2411468" y="1506538"/>
            <a:ext cx="4546913" cy="3343502"/>
          </a:xfrm>
          <a:prstGeom prst="rect">
            <a:avLst/>
          </a:prstGeom>
          <a:ln w="9525">
            <a:noFill/>
            <a:miter lim="800000"/>
            <a:headEnd/>
            <a:tailEnd/>
          </a:ln>
        </p:spPr>
      </p:pic>
    </p:spTree>
    <p:extLst>
      <p:ext uri="{BB962C8B-B14F-4D97-AF65-F5344CB8AC3E}">
        <p14:creationId xmlns:p14="http://schemas.microsoft.com/office/powerpoint/2010/main" val="12765270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2757-EB58-A12C-7C72-60943A20C18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C6B058-F63F-929D-23A8-E6A0FE231579}"/>
              </a:ext>
            </a:extLst>
          </p:cNvPr>
          <p:cNvSpPr>
            <a:spLocks noGrp="1"/>
          </p:cNvSpPr>
          <p:nvPr>
            <p:ph type="sldNum" sz="quarter" idx="11"/>
          </p:nvPr>
        </p:nvSpPr>
        <p:spPr/>
        <p:txBody>
          <a:bodyPr/>
          <a:lstStyle/>
          <a:p>
            <a:fld id="{CE58CB1E-F828-4F11-99E0-327109AF9DA4}" type="slidenum">
              <a:rPr lang="de-DE" smtClean="0"/>
              <a:pPr/>
              <a:t>14</a:t>
            </a:fld>
            <a:endParaRPr lang="de-DE"/>
          </a:p>
        </p:txBody>
      </p:sp>
      <p:sp>
        <p:nvSpPr>
          <p:cNvPr id="4" name="Footer Placeholder 3">
            <a:extLst>
              <a:ext uri="{FF2B5EF4-FFF2-40B4-BE49-F238E27FC236}">
                <a16:creationId xmlns:a16="http://schemas.microsoft.com/office/drawing/2014/main" id="{6E6794A9-DB6E-02C2-5E44-6A39850B927D}"/>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DB26299B-C09C-5C86-E595-FB92C58B547E}"/>
              </a:ext>
            </a:extLst>
          </p:cNvPr>
          <p:cNvSpPr>
            <a:spLocks noGrp="1"/>
          </p:cNvSpPr>
          <p:nvPr>
            <p:ph type="title"/>
          </p:nvPr>
        </p:nvSpPr>
        <p:spPr>
          <a:xfrm>
            <a:off x="653429" y="225378"/>
            <a:ext cx="8508999" cy="380810"/>
          </a:xfrm>
          <a:noFill/>
          <a:ln w="9525">
            <a:noFill/>
            <a:miter lim="800000"/>
            <a:headEnd/>
            <a:tailEnd/>
          </a:ln>
        </p:spPr>
        <p:txBody>
          <a:bodyPr vert="horz" wrap="square" lIns="0" tIns="0" rIns="0" bIns="0" numCol="1" anchor="t" anchorCtr="0" compatLnSpc="1">
            <a:prstTxWarp prst="textNoShape">
              <a:avLst/>
            </a:prstTxWarp>
            <a:spAutoFit/>
          </a:bodyPr>
          <a:lstStyle/>
          <a:p>
            <a:r>
              <a:rPr lang="de-DE" sz="3200" b="1">
                <a:solidFill>
                  <a:schemeClr val="bg2"/>
                </a:solidFill>
              </a:rPr>
              <a:t>Solver Setting</a:t>
            </a:r>
            <a:endParaRPr lang="en-GB" sz="3200" b="1">
              <a:solidFill>
                <a:schemeClr val="bg2"/>
              </a:solidFill>
            </a:endParaRPr>
          </a:p>
        </p:txBody>
      </p:sp>
      <p:sp>
        <p:nvSpPr>
          <p:cNvPr id="7" name="Text Placeholder 6">
            <a:extLst>
              <a:ext uri="{FF2B5EF4-FFF2-40B4-BE49-F238E27FC236}">
                <a16:creationId xmlns:a16="http://schemas.microsoft.com/office/drawing/2014/main" id="{5D536596-78F2-6277-A0EE-F8141B9330BA}"/>
              </a:ext>
            </a:extLst>
          </p:cNvPr>
          <p:cNvSpPr>
            <a:spLocks noGrp="1"/>
          </p:cNvSpPr>
          <p:nvPr>
            <p:ph type="body" sz="quarter" idx="14"/>
          </p:nvPr>
        </p:nvSpPr>
        <p:spPr/>
        <p:txBody>
          <a:bodyPr/>
          <a:lstStyle/>
          <a:p>
            <a:r>
              <a:rPr lang="en-GB" b="1"/>
              <a:t>Solution Methods</a:t>
            </a:r>
          </a:p>
        </p:txBody>
      </p:sp>
      <p:pic>
        <p:nvPicPr>
          <p:cNvPr id="5" name="Picture 4" descr="A blue and white gears&#10;&#10;AI-generated content may be incorrect.">
            <a:extLst>
              <a:ext uri="{FF2B5EF4-FFF2-40B4-BE49-F238E27FC236}">
                <a16:creationId xmlns:a16="http://schemas.microsoft.com/office/drawing/2014/main" id="{4787D0A1-76FC-47F5-34E1-35A4DA48407F}"/>
              </a:ext>
            </a:extLst>
          </p:cNvPr>
          <p:cNvPicPr>
            <a:picLocks noChangeAspect="1"/>
          </p:cNvPicPr>
          <p:nvPr/>
        </p:nvPicPr>
        <p:blipFill>
          <a:blip r:embed="rId3"/>
          <a:stretch>
            <a:fillRect/>
          </a:stretch>
        </p:blipFill>
        <p:spPr>
          <a:xfrm>
            <a:off x="238926" y="208532"/>
            <a:ext cx="414503" cy="414503"/>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26C9853-135E-C2DE-A93A-5A9C6AB0EE93}"/>
              </a:ext>
            </a:extLst>
          </p:cNvPr>
          <p:cNvPicPr>
            <a:picLocks noChangeAspect="1"/>
          </p:cNvPicPr>
          <p:nvPr/>
        </p:nvPicPr>
        <p:blipFill>
          <a:blip r:embed="rId4"/>
          <a:srcRect b="41348"/>
          <a:stretch>
            <a:fillRect/>
          </a:stretch>
        </p:blipFill>
        <p:spPr>
          <a:xfrm>
            <a:off x="5497857" y="293460"/>
            <a:ext cx="2554154" cy="4525541"/>
          </a:xfrm>
          <a:prstGeom prst="rect">
            <a:avLst/>
          </a:prstGeom>
        </p:spPr>
      </p:pic>
      <p:sp>
        <p:nvSpPr>
          <p:cNvPr id="14" name="TextBox 13">
            <a:extLst>
              <a:ext uri="{FF2B5EF4-FFF2-40B4-BE49-F238E27FC236}">
                <a16:creationId xmlns:a16="http://schemas.microsoft.com/office/drawing/2014/main" id="{C40C8546-A03D-0EE7-E654-5D6F6305D81D}"/>
              </a:ext>
            </a:extLst>
          </p:cNvPr>
          <p:cNvSpPr txBox="1"/>
          <p:nvPr/>
        </p:nvSpPr>
        <p:spPr>
          <a:xfrm>
            <a:off x="446177" y="1294471"/>
            <a:ext cx="4229732" cy="3231654"/>
          </a:xfrm>
          <a:prstGeom prst="rect">
            <a:avLst/>
          </a:prstGeom>
          <a:noFill/>
        </p:spPr>
        <p:txBody>
          <a:bodyPr wrap="square" lIns="0" tIns="0" rIns="0" bIns="0" rtlCol="0" anchor="t">
            <a:spAutoFit/>
          </a:bodyPr>
          <a:lstStyle/>
          <a:p>
            <a:r>
              <a:rPr lang="en-GB" sz="1400" b="1">
                <a:latin typeface="Arial"/>
                <a:cs typeface="Arial"/>
              </a:rPr>
              <a:t>Numerical Strategy</a:t>
            </a:r>
          </a:p>
          <a:p>
            <a:endParaRPr lang="en-GB" sz="1400" b="1"/>
          </a:p>
          <a:p>
            <a:pPr marL="285750" indent="-285750">
              <a:buFont typeface="Arial" panose="020B0604020202020204" pitchFamily="34" charset="0"/>
              <a:buChar char="•"/>
            </a:pPr>
            <a:r>
              <a:rPr lang="en-GB" sz="1400">
                <a:latin typeface="Arial"/>
                <a:cs typeface="Arial"/>
              </a:rPr>
              <a:t>PISO for transient pressure-velocity coupling</a:t>
            </a:r>
          </a:p>
          <a:p>
            <a:pPr marL="285750" indent="-285750">
              <a:buFont typeface="Arial" panose="020B0604020202020204" pitchFamily="34" charset="0"/>
              <a:buChar char="•"/>
            </a:pPr>
            <a:r>
              <a:rPr lang="en-GB" sz="1400">
                <a:latin typeface="Arial"/>
                <a:cs typeface="Arial"/>
              </a:rPr>
              <a:t>PRESTO for gravity-driven pressure field</a:t>
            </a:r>
          </a:p>
          <a:p>
            <a:pPr marL="285750" indent="-285750">
              <a:buFont typeface="Arial" panose="020B0604020202020204" pitchFamily="34" charset="0"/>
              <a:buChar char="•"/>
            </a:pPr>
            <a:r>
              <a:rPr lang="en-GB" sz="1400">
                <a:latin typeface="Arial"/>
                <a:cs typeface="Arial"/>
              </a:rPr>
              <a:t>Second-order schemes for improved accuracy</a:t>
            </a:r>
          </a:p>
          <a:p>
            <a:pPr marL="285750" indent="-285750">
              <a:buFont typeface="Arial" panose="020B0604020202020204" pitchFamily="34" charset="0"/>
              <a:buChar char="•"/>
            </a:pPr>
            <a:r>
              <a:rPr lang="en-GB" sz="1400">
                <a:latin typeface="Arial"/>
                <a:cs typeface="Arial"/>
              </a:rPr>
              <a:t>Geo-Reconstruct for sharp interface tracking</a:t>
            </a:r>
          </a:p>
          <a:p>
            <a:pPr marL="285750" indent="-285750">
              <a:buFont typeface="Arial" panose="020B0604020202020204" pitchFamily="34" charset="0"/>
              <a:buChar char="•"/>
            </a:pPr>
            <a:endParaRPr lang="en-GB" sz="1400"/>
          </a:p>
          <a:p>
            <a:pPr marL="285750" indent="-285750">
              <a:buFont typeface="Arial" panose="020B0604020202020204" pitchFamily="34" charset="0"/>
              <a:buChar char="•"/>
            </a:pPr>
            <a:endParaRPr lang="en-GB" sz="1400"/>
          </a:p>
          <a:p>
            <a:pPr marL="285750" indent="-285750">
              <a:buFont typeface="Arial" panose="020B0604020202020204" pitchFamily="34" charset="0"/>
              <a:buChar char="•"/>
            </a:pPr>
            <a:endParaRPr lang="en-GB" sz="1400"/>
          </a:p>
          <a:p>
            <a:r>
              <a:rPr lang="en-GB" sz="1400" b="1">
                <a:latin typeface="Arial"/>
                <a:cs typeface="Arial"/>
              </a:rPr>
              <a:t>Under-Relaxation Factors</a:t>
            </a:r>
          </a:p>
          <a:p>
            <a:pPr marL="285750" indent="-285750">
              <a:buFont typeface="Arial" panose="020B0604020202020204" pitchFamily="34" charset="0"/>
              <a:buChar char="•"/>
            </a:pPr>
            <a:r>
              <a:rPr lang="en-GB" sz="1400">
                <a:latin typeface="Arial"/>
                <a:cs typeface="Arial"/>
              </a:rPr>
              <a:t>Pressure = 0.3</a:t>
            </a:r>
          </a:p>
          <a:p>
            <a:pPr marL="285750" indent="-285750">
              <a:buFont typeface="Arial" panose="020B0604020202020204" pitchFamily="34" charset="0"/>
              <a:buChar char="•"/>
            </a:pPr>
            <a:r>
              <a:rPr lang="en-GB" sz="1400">
                <a:latin typeface="Arial"/>
                <a:cs typeface="Arial"/>
              </a:rPr>
              <a:t>Momentum = 0.7</a:t>
            </a:r>
          </a:p>
          <a:p>
            <a:pPr marL="285750" indent="-285750">
              <a:buFont typeface="Arial" panose="020B0604020202020204" pitchFamily="34" charset="0"/>
              <a:buChar char="•"/>
            </a:pPr>
            <a:r>
              <a:rPr lang="en-GB" sz="1400">
                <a:latin typeface="Arial"/>
                <a:cs typeface="Arial"/>
              </a:rPr>
              <a:t>k, </a:t>
            </a:r>
            <a:r>
              <a:rPr lang="el-GR" sz="1400">
                <a:latin typeface="Arial"/>
                <a:cs typeface="Arial"/>
              </a:rPr>
              <a:t>ω = 0.8</a:t>
            </a:r>
            <a:endParaRPr lang="en-US" sz="1400">
              <a:latin typeface="Arial"/>
              <a:cs typeface="Arial"/>
            </a:endParaRPr>
          </a:p>
          <a:p>
            <a:pPr marL="285750" indent="-285750">
              <a:buFont typeface="Arial" panose="020B0604020202020204" pitchFamily="34" charset="0"/>
              <a:buChar char="•"/>
            </a:pPr>
            <a:r>
              <a:rPr lang="en-GB" sz="1400">
                <a:latin typeface="Arial"/>
                <a:cs typeface="Arial"/>
              </a:rPr>
              <a:t>Energy = 1</a:t>
            </a:r>
          </a:p>
          <a:p>
            <a:pPr marL="285750" indent="-285750">
              <a:buFont typeface="Arial" panose="020B0604020202020204" pitchFamily="34" charset="0"/>
              <a:buChar char="•"/>
            </a:pPr>
            <a:endParaRPr lang="en-GB" sz="1400"/>
          </a:p>
        </p:txBody>
      </p:sp>
    </p:spTree>
    <p:extLst>
      <p:ext uri="{BB962C8B-B14F-4D97-AF65-F5344CB8AC3E}">
        <p14:creationId xmlns:p14="http://schemas.microsoft.com/office/powerpoint/2010/main" val="21708805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85D57-D716-FE98-6632-F2FA433F36D0}"/>
            </a:ext>
          </a:extLst>
        </p:cNvPr>
        <p:cNvGrpSpPr/>
        <p:nvPr/>
      </p:nvGrpSpPr>
      <p:grpSpPr>
        <a:xfrm>
          <a:off x="0" y="0"/>
          <a:ext cx="0" cy="0"/>
          <a:chOff x="0" y="0"/>
          <a:chExt cx="0" cy="0"/>
        </a:xfrm>
      </p:grpSpPr>
      <p:pic>
        <p:nvPicPr>
          <p:cNvPr id="8" name="Content Placeholder 7" descr="A screenshot of a computer&#10;&#10;AI-generated content may be incorrect.">
            <a:extLst>
              <a:ext uri="{FF2B5EF4-FFF2-40B4-BE49-F238E27FC236}">
                <a16:creationId xmlns:a16="http://schemas.microsoft.com/office/drawing/2014/main" id="{70313CA1-F02A-6D48-DD5F-522ED25E8E24}"/>
              </a:ext>
            </a:extLst>
          </p:cNvPr>
          <p:cNvPicPr>
            <a:picLocks noGrp="1" noChangeAspect="1"/>
          </p:cNvPicPr>
          <p:nvPr>
            <p:ph idx="1"/>
          </p:nvPr>
        </p:nvPicPr>
        <p:blipFill>
          <a:blip r:embed="rId3"/>
          <a:stretch>
            <a:fillRect/>
          </a:stretch>
        </p:blipFill>
        <p:spPr>
          <a:xfrm>
            <a:off x="4572000" y="483865"/>
            <a:ext cx="3554398" cy="4353271"/>
          </a:xfrm>
          <a:prstGeom prst="rect">
            <a:avLst/>
          </a:prstGeom>
          <a:ln w="9525">
            <a:noFill/>
            <a:miter lim="800000"/>
            <a:headEnd/>
            <a:tailEnd/>
          </a:ln>
        </p:spPr>
      </p:pic>
      <p:sp>
        <p:nvSpPr>
          <p:cNvPr id="3" name="Slide Number Placeholder 2">
            <a:extLst>
              <a:ext uri="{FF2B5EF4-FFF2-40B4-BE49-F238E27FC236}">
                <a16:creationId xmlns:a16="http://schemas.microsoft.com/office/drawing/2014/main" id="{29A9A50F-344C-9D58-D55B-5DDB9627C921}"/>
              </a:ext>
            </a:extLst>
          </p:cNvPr>
          <p:cNvSpPr>
            <a:spLocks noGrp="1"/>
          </p:cNvSpPr>
          <p:nvPr>
            <p:ph type="sldNum" sz="quarter" idx="11"/>
          </p:nvPr>
        </p:nvSpPr>
        <p:spPr/>
        <p:txBody>
          <a:bodyPr/>
          <a:lstStyle/>
          <a:p>
            <a:fld id="{CE58CB1E-F828-4F11-99E0-327109AF9DA4}" type="slidenum">
              <a:rPr lang="de-DE" smtClean="0"/>
              <a:pPr/>
              <a:t>15</a:t>
            </a:fld>
            <a:endParaRPr lang="de-DE"/>
          </a:p>
        </p:txBody>
      </p:sp>
      <p:sp>
        <p:nvSpPr>
          <p:cNvPr id="4" name="Footer Placeholder 3">
            <a:extLst>
              <a:ext uri="{FF2B5EF4-FFF2-40B4-BE49-F238E27FC236}">
                <a16:creationId xmlns:a16="http://schemas.microsoft.com/office/drawing/2014/main" id="{B3C078CF-A952-4671-A2B6-D712D3140743}"/>
              </a:ext>
            </a:extLst>
          </p:cNvPr>
          <p:cNvSpPr>
            <a:spLocks noGrp="1"/>
          </p:cNvSpPr>
          <p:nvPr>
            <p:ph type="ftr" sz="quarter" idx="12"/>
          </p:nvPr>
        </p:nvSpPr>
        <p:spPr/>
        <p:txBody>
          <a:bodyPr/>
          <a:lstStyle/>
          <a:p>
            <a:r>
              <a:rPr lang="en-US"/>
              <a:t>Technical University of Munich, TUM | Chair of Thermodynamics | Multiphase Flows | Project Presentation  </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BF33209-1D65-58E5-26AC-3C52F3777DCB}"/>
                  </a:ext>
                </a:extLst>
              </p:cNvPr>
              <p:cNvSpPr>
                <a:spLocks noGrp="1"/>
              </p:cNvSpPr>
              <p:nvPr>
                <p:ph type="body" sz="quarter" idx="13"/>
              </p:nvPr>
            </p:nvSpPr>
            <p:spPr>
              <a:xfrm>
                <a:off x="311161" y="1415141"/>
                <a:ext cx="4260839" cy="497688"/>
              </a:xfrm>
              <a:noFill/>
            </p:spPr>
            <p:txBody>
              <a:bodyPr/>
              <a:lstStyle/>
              <a:p>
                <a:pPr algn="ctr"/>
                <a:r>
                  <a:rPr lang="en-US" sz="1600">
                    <a:solidFill>
                      <a:srgbClr val="005293"/>
                    </a:solidFill>
                  </a:rPr>
                  <a:t>a(𝑡) = 𝐴𝜔</a:t>
                </a:r>
                <a:r>
                  <a:rPr lang="en-US" sz="1600" baseline="30000">
                    <a:solidFill>
                      <a:srgbClr val="005293"/>
                    </a:solidFill>
                  </a:rPr>
                  <a:t>2</a:t>
                </a:r>
                <a:r>
                  <a:rPr lang="en-US" sz="1600">
                    <a:solidFill>
                      <a:srgbClr val="005293"/>
                    </a:solidFill>
                  </a:rPr>
                  <a:t>sin(𝜔𝑡)</a:t>
                </a:r>
              </a:p>
              <a:p>
                <a:r>
                  <a:rPr lang="en-US" sz="1600"/>
                  <a:t> </a:t>
                </a:r>
              </a:p>
              <a:p>
                <a:r>
                  <a:rPr lang="en-US"/>
                  <a:t>A is the amplitude of displacement (meters), </a:t>
                </a:r>
              </a:p>
              <a:p>
                <a:r>
                  <a:rPr lang="en-US"/>
                  <a:t>𝜔 the angular frequency (rad/s) </a:t>
                </a:r>
              </a:p>
              <a:p>
                <a:r>
                  <a:rPr lang="en-US"/>
                  <a:t>Frequency f of 0.89 Hz. </a:t>
                </a:r>
              </a:p>
              <a:p>
                <a:r>
                  <a:rPr lang="en-US"/>
                  <a:t>We found angular velocity through 𝑓 = 𝜔/2</a:t>
                </a:r>
                <a:r>
                  <a:rPr lang="el-GR"/>
                  <a:t>π</a:t>
                </a:r>
                <a:endParaRPr lang="en-US"/>
              </a:p>
              <a:p>
                <a:endParaRPr lang="en-US"/>
              </a:p>
              <a:p>
                <a:r>
                  <a:rPr lang="en-US"/>
                  <a:t>Also, T is time for one oscillation, </a:t>
                </a: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𝑇</m:t>
                      </m:r>
                      <m:r>
                        <a:rPr lang="en-US" dirty="0">
                          <a:latin typeface="Cambria Math" panose="02040503050406030204" pitchFamily="18" charset="0"/>
                        </a:rPr>
                        <m:t>=</m:t>
                      </m:r>
                      <m:f>
                        <m:fPr>
                          <m:ctrlPr>
                            <a:rPr lang="ar-AE" i="1" dirty="0">
                              <a:latin typeface="Cambria Math" panose="02040503050406030204" pitchFamily="18" charset="0"/>
                            </a:rPr>
                          </m:ctrlPr>
                        </m:fPr>
                        <m:num>
                          <m:r>
                            <a:rPr lang="ar-AE" dirty="0">
                              <a:latin typeface="Cambria Math" panose="02040503050406030204" pitchFamily="18" charset="0"/>
                            </a:rPr>
                            <m:t>1</m:t>
                          </m:r>
                        </m:num>
                        <m:den>
                          <m:r>
                            <a:rPr lang="ar-AE" i="1" dirty="0">
                              <a:latin typeface="Cambria Math" panose="02040503050406030204" pitchFamily="18" charset="0"/>
                            </a:rPr>
                            <m:t>𝑓</m:t>
                          </m:r>
                        </m:den>
                      </m:f>
                      <m:r>
                        <a:rPr lang="ar-AE" dirty="0">
                          <a:latin typeface="Cambria Math" panose="02040503050406030204" pitchFamily="18" charset="0"/>
                        </a:rPr>
                        <m:t>=</m:t>
                      </m:r>
                      <m:f>
                        <m:fPr>
                          <m:ctrlPr>
                            <a:rPr lang="ar-AE" i="1" dirty="0">
                              <a:latin typeface="Cambria Math" panose="02040503050406030204" pitchFamily="18" charset="0"/>
                            </a:rPr>
                          </m:ctrlPr>
                        </m:fPr>
                        <m:num>
                          <m:r>
                            <a:rPr lang="en-US" b="0" i="0" dirty="0" smtClean="0">
                              <a:latin typeface="Cambria Math" panose="02040503050406030204" pitchFamily="18" charset="0"/>
                            </a:rPr>
                            <m:t>1</m:t>
                          </m:r>
                        </m:num>
                        <m:den>
                          <m:r>
                            <a:rPr lang="en-US" b="0" i="1" dirty="0" smtClean="0">
                              <a:latin typeface="Cambria Math" panose="02040503050406030204" pitchFamily="18" charset="0"/>
                            </a:rPr>
                            <m:t>0</m:t>
                          </m:r>
                          <m:r>
                            <a:rPr lang="en-US" b="0" i="1" dirty="0" smtClean="0">
                              <a:latin typeface="Cambria Math" panose="02040503050406030204" pitchFamily="18" charset="0"/>
                            </a:rPr>
                            <m:t>.</m:t>
                          </m:r>
                          <m:r>
                            <a:rPr lang="en-US" b="0" i="1" dirty="0" smtClean="0">
                              <a:latin typeface="Cambria Math" panose="02040503050406030204" pitchFamily="18" charset="0"/>
                            </a:rPr>
                            <m:t>89</m:t>
                          </m:r>
                        </m:den>
                      </m:f>
                      <m:r>
                        <a:rPr lang="en-US" b="0" i="1" dirty="0" smtClean="0">
                          <a:latin typeface="Cambria Math" panose="02040503050406030204" pitchFamily="18" charset="0"/>
                        </a:rPr>
                        <m:t>=</m:t>
                      </m:r>
                      <m:r>
                        <a:rPr lang="en-US" b="0" i="1" dirty="0" smtClean="0">
                          <a:latin typeface="Cambria Math" panose="02040503050406030204" pitchFamily="18" charset="0"/>
                        </a:rPr>
                        <m:t>1</m:t>
                      </m:r>
                      <m:r>
                        <a:rPr lang="en-US" b="0" i="1" dirty="0" smtClean="0">
                          <a:latin typeface="Cambria Math" panose="02040503050406030204" pitchFamily="18" charset="0"/>
                        </a:rPr>
                        <m:t>.</m:t>
                      </m:r>
                      <m:r>
                        <a:rPr lang="en-US" b="0" i="1" dirty="0" smtClean="0">
                          <a:latin typeface="Cambria Math" panose="02040503050406030204" pitchFamily="18" charset="0"/>
                        </a:rPr>
                        <m:t>12</m:t>
                      </m:r>
                      <m:r>
                        <a:rPr lang="en-US" b="0" i="1" dirty="0" smtClean="0">
                          <a:latin typeface="Cambria Math" panose="02040503050406030204" pitchFamily="18" charset="0"/>
                        </a:rPr>
                        <m:t>𝑠</m:t>
                      </m:r>
                    </m:oMath>
                  </m:oMathPara>
                </a14:m>
                <a:endParaRPr lang="en-US"/>
              </a:p>
              <a:p>
                <a:endParaRPr lang="en-US" b="1">
                  <a:solidFill>
                    <a:srgbClr val="005293"/>
                  </a:solidFill>
                </a:endParaRPr>
              </a:p>
            </p:txBody>
          </p:sp>
        </mc:Choice>
        <mc:Fallback xmlns="">
          <p:sp>
            <p:nvSpPr>
              <p:cNvPr id="5" name="Text Placeholder 4">
                <a:extLst>
                  <a:ext uri="{FF2B5EF4-FFF2-40B4-BE49-F238E27FC236}">
                    <a16:creationId xmlns:a16="http://schemas.microsoft.com/office/drawing/2014/main" id="{4BF33209-1D65-58E5-26AC-3C52F3777DCB}"/>
                  </a:ext>
                </a:extLst>
              </p:cNvPr>
              <p:cNvSpPr>
                <a:spLocks noGrp="1" noRot="1" noChangeAspect="1" noMove="1" noResize="1" noEditPoints="1" noAdjustHandles="1" noChangeArrowheads="1" noChangeShapeType="1" noTextEdit="1"/>
              </p:cNvSpPr>
              <p:nvPr>
                <p:ph type="body" sz="quarter" idx="13"/>
              </p:nvPr>
            </p:nvSpPr>
            <p:spPr>
              <a:xfrm>
                <a:off x="311161" y="1415141"/>
                <a:ext cx="4260839" cy="497688"/>
              </a:xfrm>
              <a:blipFill>
                <a:blip r:embed="rId4"/>
                <a:stretch>
                  <a:fillRect l="-2575" t="-10976" b="-403659"/>
                </a:stretch>
              </a:blipFill>
            </p:spPr>
            <p:txBody>
              <a:bodyPr/>
              <a:lstStyle/>
              <a:p>
                <a:r>
                  <a:rPr lang="en-US">
                    <a:noFill/>
                  </a:rPr>
                  <a:t> </a:t>
                </a:r>
              </a:p>
            </p:txBody>
          </p:sp>
        </mc:Fallback>
      </mc:AlternateContent>
      <p:pic>
        <p:nvPicPr>
          <p:cNvPr id="7" name="Picture 6" descr="A screenshot of a computer&#10;&#10;AI-generated content may be incorrect.">
            <a:extLst>
              <a:ext uri="{FF2B5EF4-FFF2-40B4-BE49-F238E27FC236}">
                <a16:creationId xmlns:a16="http://schemas.microsoft.com/office/drawing/2014/main" id="{7612E1D5-AD72-8BEF-AA6E-492ED897EDAE}"/>
              </a:ext>
            </a:extLst>
          </p:cNvPr>
          <p:cNvPicPr>
            <a:picLocks noChangeAspect="1"/>
          </p:cNvPicPr>
          <p:nvPr/>
        </p:nvPicPr>
        <p:blipFill>
          <a:blip r:embed="rId5"/>
          <a:stretch>
            <a:fillRect/>
          </a:stretch>
        </p:blipFill>
        <p:spPr>
          <a:xfrm>
            <a:off x="6028006" y="3449607"/>
            <a:ext cx="1921500" cy="594577"/>
          </a:xfrm>
          <a:prstGeom prst="rect">
            <a:avLst/>
          </a:prstGeom>
        </p:spPr>
      </p:pic>
      <p:sp>
        <p:nvSpPr>
          <p:cNvPr id="9" name="Rectangle 8">
            <a:extLst>
              <a:ext uri="{FF2B5EF4-FFF2-40B4-BE49-F238E27FC236}">
                <a16:creationId xmlns:a16="http://schemas.microsoft.com/office/drawing/2014/main" id="{E55A93F2-2862-E441-9FD6-03375870E8EA}"/>
              </a:ext>
            </a:extLst>
          </p:cNvPr>
          <p:cNvSpPr/>
          <p:nvPr/>
        </p:nvSpPr>
        <p:spPr>
          <a:xfrm>
            <a:off x="4621237" y="2989385"/>
            <a:ext cx="1343465" cy="147710"/>
          </a:xfrm>
          <a:prstGeom prst="rect">
            <a:avLst/>
          </a:prstGeom>
          <a:noFill/>
          <a:ln>
            <a:solidFill>
              <a:srgbClr val="00529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sp>
        <p:nvSpPr>
          <p:cNvPr id="10" name="Rectangle 9">
            <a:extLst>
              <a:ext uri="{FF2B5EF4-FFF2-40B4-BE49-F238E27FC236}">
                <a16:creationId xmlns:a16="http://schemas.microsoft.com/office/drawing/2014/main" id="{AA8D581E-6C0D-8B7C-4150-5B1E00CF5A31}"/>
              </a:ext>
            </a:extLst>
          </p:cNvPr>
          <p:cNvSpPr/>
          <p:nvPr/>
        </p:nvSpPr>
        <p:spPr>
          <a:xfrm>
            <a:off x="6098345" y="3383280"/>
            <a:ext cx="1921500" cy="660904"/>
          </a:xfrm>
          <a:prstGeom prst="rect">
            <a:avLst/>
          </a:prstGeom>
          <a:noFill/>
          <a:ln>
            <a:solidFill>
              <a:srgbClr val="00529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sp>
        <p:nvSpPr>
          <p:cNvPr id="2" name="TextBox 1">
            <a:extLst>
              <a:ext uri="{FF2B5EF4-FFF2-40B4-BE49-F238E27FC236}">
                <a16:creationId xmlns:a16="http://schemas.microsoft.com/office/drawing/2014/main" id="{1E1D136A-B2E0-23F5-763E-EC7521CB78EE}"/>
              </a:ext>
            </a:extLst>
          </p:cNvPr>
          <p:cNvSpPr txBox="1"/>
          <p:nvPr/>
        </p:nvSpPr>
        <p:spPr>
          <a:xfrm>
            <a:off x="421281" y="4103074"/>
            <a:ext cx="3477891" cy="888833"/>
          </a:xfrm>
          <a:prstGeom prst="rect">
            <a:avLst/>
          </a:prstGeom>
          <a:noFill/>
        </p:spPr>
        <p:txBody>
          <a:bodyPr wrap="square" lIns="0" tIns="0" rIns="0" bIns="0" rtlCol="0">
            <a:spAutoFit/>
          </a:bodyPr>
          <a:lstStyle/>
          <a:p>
            <a:pPr algn="ctr">
              <a:lnSpc>
                <a:spcPct val="114000"/>
              </a:lnSpc>
            </a:pPr>
            <a:r>
              <a:rPr lang="en-US" b="1">
                <a:solidFill>
                  <a:srgbClr val="005293"/>
                </a:solidFill>
              </a:rPr>
              <a:t>No reference frame or mesh motion was activated</a:t>
            </a:r>
          </a:p>
          <a:p>
            <a:pPr>
              <a:lnSpc>
                <a:spcPct val="114000"/>
              </a:lnSpc>
            </a:pPr>
            <a:endParaRPr lang="en-US" sz="1600" err="1">
              <a:latin typeface="+mn-lt"/>
            </a:endParaRPr>
          </a:p>
        </p:txBody>
      </p:sp>
      <p:sp>
        <p:nvSpPr>
          <p:cNvPr id="11" name="Title 5">
            <a:extLst>
              <a:ext uri="{FF2B5EF4-FFF2-40B4-BE49-F238E27FC236}">
                <a16:creationId xmlns:a16="http://schemas.microsoft.com/office/drawing/2014/main" id="{9D543103-2C96-7877-BAEE-A93C79053A1F}"/>
              </a:ext>
            </a:extLst>
          </p:cNvPr>
          <p:cNvSpPr txBox="1">
            <a:spLocks/>
          </p:cNvSpPr>
          <p:nvPr/>
        </p:nvSpPr>
        <p:spPr>
          <a:xfrm>
            <a:off x="653429" y="225378"/>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GB" sz="3200" b="1">
                <a:solidFill>
                  <a:schemeClr val="bg2"/>
                </a:solidFill>
              </a:rPr>
              <a:t>Solver Setting</a:t>
            </a:r>
          </a:p>
        </p:txBody>
      </p:sp>
      <p:sp>
        <p:nvSpPr>
          <p:cNvPr id="12" name="Text Placeholder 6">
            <a:extLst>
              <a:ext uri="{FF2B5EF4-FFF2-40B4-BE49-F238E27FC236}">
                <a16:creationId xmlns:a16="http://schemas.microsoft.com/office/drawing/2014/main" id="{9D80E2FD-40E2-A5EA-7834-A1A667A9D62A}"/>
              </a:ext>
            </a:extLst>
          </p:cNvPr>
          <p:cNvSpPr txBox="1">
            <a:spLocks/>
          </p:cNvSpPr>
          <p:nvPr/>
        </p:nvSpPr>
        <p:spPr>
          <a:xfrm>
            <a:off x="311161" y="684430"/>
            <a:ext cx="8508999" cy="321410"/>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b="1">
                <a:solidFill>
                  <a:schemeClr val="bg2"/>
                </a:solidFill>
              </a:rPr>
              <a:t>Harmonic Motion (</a:t>
            </a:r>
            <a:r>
              <a:rPr lang="en-US" b="1">
                <a:solidFill>
                  <a:schemeClr val="bg2"/>
                </a:solidFill>
              </a:rPr>
              <a:t>Sinusoidal Acceleration)</a:t>
            </a:r>
            <a:endParaRPr lang="en-GB" b="1"/>
          </a:p>
        </p:txBody>
      </p:sp>
      <p:pic>
        <p:nvPicPr>
          <p:cNvPr id="13" name="Picture 12" descr="A blue and white gears&#10;&#10;AI-generated content may be incorrect.">
            <a:extLst>
              <a:ext uri="{FF2B5EF4-FFF2-40B4-BE49-F238E27FC236}">
                <a16:creationId xmlns:a16="http://schemas.microsoft.com/office/drawing/2014/main" id="{D553BC27-72BE-0581-8A68-ED0BDCDF4609}"/>
              </a:ext>
            </a:extLst>
          </p:cNvPr>
          <p:cNvPicPr>
            <a:picLocks noChangeAspect="1"/>
          </p:cNvPicPr>
          <p:nvPr/>
        </p:nvPicPr>
        <p:blipFill>
          <a:blip r:embed="rId6"/>
          <a:stretch>
            <a:fillRect/>
          </a:stretch>
        </p:blipFill>
        <p:spPr>
          <a:xfrm>
            <a:off x="238926" y="208532"/>
            <a:ext cx="414503" cy="414503"/>
          </a:xfrm>
          <a:prstGeom prst="rect">
            <a:avLst/>
          </a:prstGeom>
        </p:spPr>
      </p:pic>
    </p:spTree>
    <p:extLst>
      <p:ext uri="{BB962C8B-B14F-4D97-AF65-F5344CB8AC3E}">
        <p14:creationId xmlns:p14="http://schemas.microsoft.com/office/powerpoint/2010/main" val="23052023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F2A85FF1-78BE-40AA-B019-E2747DBE29E1}"/>
                  </a:ext>
                </a:extLst>
              </p:cNvPr>
              <p:cNvSpPr>
                <a:spLocks noGrp="1"/>
              </p:cNvSpPr>
              <p:nvPr>
                <p:ph type="body" sz="quarter" idx="13"/>
              </p:nvPr>
            </p:nvSpPr>
            <p:spPr>
              <a:xfrm>
                <a:off x="5874510" y="1557306"/>
                <a:ext cx="2277717" cy="495780"/>
              </a:xfrm>
            </p:spPr>
            <p:txBody>
              <a:bodyPr/>
              <a:lstStyle/>
              <a:p>
                <a:pPr algn="ctr"/>
                <a:r>
                  <a:rPr lang="en-US">
                    <a:solidFill>
                      <a:srgbClr val="005293"/>
                    </a:solidFill>
                  </a:rPr>
                  <a:t>For Number of Time Steps</a:t>
                </a:r>
              </a:p>
              <a:p>
                <a:pPr algn="ctr"/>
                <a:r>
                  <a:rPr lang="en-US"/>
                  <a:t>N = </a:t>
                </a:r>
                <a14:m>
                  <m:oMath xmlns:m="http://schemas.openxmlformats.org/officeDocument/2006/math">
                    <m:f>
                      <m:fPr>
                        <m:ctrlPr>
                          <a:rPr lang="en-US" i="1" smtClean="0">
                            <a:latin typeface="Cambria Math" panose="02040503050406030204" pitchFamily="18" charset="0"/>
                          </a:rPr>
                        </m:ctrlPr>
                      </m:fPr>
                      <m:num>
                        <m:r>
                          <m:rPr>
                            <m:nor/>
                          </m:rPr>
                          <a:rPr lang="el-GR" dirty="0"/>
                          <m:t>Δ</m:t>
                        </m:r>
                        <m:r>
                          <m:rPr>
                            <m:nor/>
                          </m:rPr>
                          <a:rPr lang="en-US" dirty="0"/>
                          <m:t>t</m:t>
                        </m:r>
                      </m:num>
                      <m:den>
                        <m:r>
                          <m:rPr>
                            <m:nor/>
                          </m:rPr>
                          <a:rPr lang="en-US" dirty="0"/>
                          <m:t>Tsim</m:t>
                        </m:r>
                      </m:den>
                    </m:f>
                  </m:oMath>
                </a14:m>
                <a:r>
                  <a:rPr lang="en-US"/>
                  <a:t>​​​ , Tsim is required simulation time = 1.16s to at least have one oscillation cycle.</a:t>
                </a:r>
              </a:p>
            </p:txBody>
          </p:sp>
        </mc:Choice>
        <mc:Fallback xmlns="">
          <p:sp>
            <p:nvSpPr>
              <p:cNvPr id="2" name="Text Placeholder 1">
                <a:extLst>
                  <a:ext uri="{FF2B5EF4-FFF2-40B4-BE49-F238E27FC236}">
                    <a16:creationId xmlns:a16="http://schemas.microsoft.com/office/drawing/2014/main" id="{F2A85FF1-78BE-40AA-B019-E2747DBE29E1}"/>
                  </a:ext>
                </a:extLst>
              </p:cNvPr>
              <p:cNvSpPr>
                <a:spLocks noGrp="1" noRot="1" noChangeAspect="1" noMove="1" noResize="1" noEditPoints="1" noAdjustHandles="1" noChangeArrowheads="1" noChangeShapeType="1" noTextEdit="1"/>
              </p:cNvSpPr>
              <p:nvPr>
                <p:ph type="body" sz="quarter" idx="13"/>
              </p:nvPr>
            </p:nvSpPr>
            <p:spPr>
              <a:xfrm>
                <a:off x="5874510" y="1557306"/>
                <a:ext cx="2277717" cy="495780"/>
              </a:xfrm>
              <a:blipFill>
                <a:blip r:embed="rId3"/>
                <a:stretch>
                  <a:fillRect l="-3485" t="-8537" r="-5630" b="-19390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961E094-9498-4B6A-8E9E-38F2D8748827}"/>
              </a:ext>
            </a:extLst>
          </p:cNvPr>
          <p:cNvSpPr>
            <a:spLocks noGrp="1"/>
          </p:cNvSpPr>
          <p:nvPr>
            <p:ph type="sldNum" sz="quarter" idx="15"/>
          </p:nvPr>
        </p:nvSpPr>
        <p:spPr/>
        <p:txBody>
          <a:bodyPr/>
          <a:lstStyle/>
          <a:p>
            <a:fld id="{CE58CB1E-F828-4F11-99E0-327109AF9DA4}" type="slidenum">
              <a:rPr lang="de-DE" smtClean="0"/>
              <a:pPr/>
              <a:t>16</a:t>
            </a:fld>
            <a:endParaRPr lang="de-DE"/>
          </a:p>
        </p:txBody>
      </p:sp>
      <p:sp>
        <p:nvSpPr>
          <p:cNvPr id="4" name="Footer Placeholder 3">
            <a:extLst>
              <a:ext uri="{FF2B5EF4-FFF2-40B4-BE49-F238E27FC236}">
                <a16:creationId xmlns:a16="http://schemas.microsoft.com/office/drawing/2014/main" id="{40C39931-4DC1-4B88-847F-31E7A9102F25}"/>
              </a:ext>
            </a:extLst>
          </p:cNvPr>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1B5466E-F450-4C9E-95CB-C94D61329A00}"/>
                  </a:ext>
                </a:extLst>
              </p:cNvPr>
              <p:cNvSpPr>
                <a:spLocks noGrp="1"/>
              </p:cNvSpPr>
              <p:nvPr>
                <p:ph sz="quarter" idx="18"/>
              </p:nvPr>
            </p:nvSpPr>
            <p:spPr>
              <a:xfrm>
                <a:off x="518124" y="1016547"/>
                <a:ext cx="5601322" cy="2924750"/>
              </a:xfrm>
            </p:spPr>
            <p:txBody>
              <a:bodyPr/>
              <a:lstStyle/>
              <a:p>
                <a:r>
                  <a:rPr lang="en-US"/>
                  <a:t> x(t) = 𝐴sin(𝜔𝑡), where x is displacement, using this.</a:t>
                </a:r>
              </a:p>
              <a:p>
                <a:r>
                  <a:rPr lang="en-US"/>
                  <a:t>We got:</a:t>
                </a:r>
              </a:p>
              <a:p>
                <a:pPr/>
                <a14:m>
                  <m:oMathPara xmlns:m="http://schemas.openxmlformats.org/officeDocument/2006/math">
                    <m:oMathParaPr>
                      <m:jc m:val="centerGroup"/>
                    </m:oMathParaPr>
                    <m:oMath xmlns:m="http://schemas.openxmlformats.org/officeDocument/2006/math">
                      <m:sSub>
                        <m:sSubPr>
                          <m:ctrlPr>
                            <a:rPr lang="ar-AE" i="1" dirty="0">
                              <a:latin typeface="Cambria Math" panose="02040503050406030204" pitchFamily="18" charset="0"/>
                            </a:rPr>
                          </m:ctrlPr>
                        </m:sSubPr>
                        <m:e>
                          <m:r>
                            <a:rPr lang="ar-AE" i="1" dirty="0">
                              <a:latin typeface="Cambria Math" panose="02040503050406030204" pitchFamily="18" charset="0"/>
                            </a:rPr>
                            <m:t>𝑉</m:t>
                          </m:r>
                        </m:e>
                        <m:sub>
                          <m:r>
                            <m:rPr>
                              <m:nor/>
                            </m:rPr>
                            <a:rPr lang="en-US" i="1" dirty="0"/>
                            <m:t>max</m:t>
                          </m:r>
                        </m:sub>
                      </m:sSub>
                      <m:r>
                        <a:rPr lang="ar-AE" dirty="0">
                          <a:latin typeface="Cambria Math" panose="02040503050406030204" pitchFamily="18" charset="0"/>
                        </a:rPr>
                        <m:t>=</m:t>
                      </m:r>
                      <m:r>
                        <a:rPr lang="ar-AE" i="1" dirty="0">
                          <a:latin typeface="Cambria Math" panose="02040503050406030204" pitchFamily="18" charset="0"/>
                        </a:rPr>
                        <m:t>𝐴</m:t>
                      </m:r>
                      <m:r>
                        <a:rPr lang="ar-AE" i="1" dirty="0">
                          <a:latin typeface="Cambria Math" panose="02040503050406030204" pitchFamily="18" charset="0"/>
                        </a:rPr>
                        <m:t>𝜔</m:t>
                      </m:r>
                    </m:oMath>
                  </m:oMathPara>
                </a14:m>
                <a:endParaRPr lang="en-US"/>
              </a:p>
              <a:p>
                <a:endParaRPr lang="en-US"/>
              </a:p>
              <a:p>
                <a:r>
                  <a:rPr lang="en-US"/>
                  <a:t>Velocity is the first derivative of displacement:</a:t>
                </a: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𝑣</m:t>
                      </m:r>
                      <m:d>
                        <m:dPr>
                          <m:ctrlPr>
                            <a:rPr lang="ar-AE" i="1" dirty="0">
                              <a:latin typeface="Cambria Math" panose="02040503050406030204" pitchFamily="18" charset="0"/>
                            </a:rPr>
                          </m:ctrlPr>
                        </m:dPr>
                        <m:e>
                          <m:r>
                            <a:rPr lang="ar-AE" i="1" dirty="0">
                              <a:latin typeface="Cambria Math" panose="02040503050406030204" pitchFamily="18" charset="0"/>
                            </a:rPr>
                            <m:t>𝑡</m:t>
                          </m:r>
                        </m:e>
                      </m:d>
                      <m:r>
                        <a:rPr lang="ar-AE" dirty="0">
                          <a:latin typeface="Cambria Math" panose="02040503050406030204" pitchFamily="18" charset="0"/>
                        </a:rPr>
                        <m:t>=</m:t>
                      </m:r>
                      <m:f>
                        <m:fPr>
                          <m:ctrlPr>
                            <a:rPr lang="ar-AE" i="1" dirty="0">
                              <a:latin typeface="Cambria Math" panose="02040503050406030204" pitchFamily="18" charset="0"/>
                            </a:rPr>
                          </m:ctrlPr>
                        </m:fPr>
                        <m:num>
                          <m:r>
                            <a:rPr lang="ar-AE" i="1" dirty="0">
                              <a:latin typeface="Cambria Math" panose="02040503050406030204" pitchFamily="18" charset="0"/>
                            </a:rPr>
                            <m:t>𝑑𝑥</m:t>
                          </m:r>
                        </m:num>
                        <m:den>
                          <m:r>
                            <a:rPr lang="ar-AE" i="1" dirty="0">
                              <a:latin typeface="Cambria Math" panose="02040503050406030204" pitchFamily="18" charset="0"/>
                            </a:rPr>
                            <m:t>𝑑𝑡</m:t>
                          </m:r>
                        </m:den>
                      </m:f>
                    </m:oMath>
                  </m:oMathPara>
                </a14:m>
                <a:endParaRPr lang="ar-AE"/>
              </a:p>
              <a:p>
                <a:r>
                  <a:rPr lang="en-US"/>
                  <a:t>Differentiate:</a:t>
                </a: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𝑣</m:t>
                      </m:r>
                      <m:d>
                        <m:dPr>
                          <m:ctrlPr>
                            <a:rPr lang="ar-AE" i="1" dirty="0">
                              <a:latin typeface="Cambria Math" panose="02040503050406030204" pitchFamily="18" charset="0"/>
                            </a:rPr>
                          </m:ctrlPr>
                        </m:dPr>
                        <m:e>
                          <m:r>
                            <a:rPr lang="ar-AE" i="1" dirty="0">
                              <a:latin typeface="Cambria Math" panose="02040503050406030204" pitchFamily="18" charset="0"/>
                            </a:rPr>
                            <m:t>𝑡</m:t>
                          </m:r>
                        </m:e>
                      </m:d>
                      <m:r>
                        <a:rPr lang="ar-AE" dirty="0">
                          <a:latin typeface="Cambria Math" panose="02040503050406030204" pitchFamily="18" charset="0"/>
                        </a:rPr>
                        <m:t>=</m:t>
                      </m:r>
                      <m:r>
                        <a:rPr lang="ar-AE" i="1" dirty="0">
                          <a:latin typeface="Cambria Math" panose="02040503050406030204" pitchFamily="18" charset="0"/>
                        </a:rPr>
                        <m:t>𝐴</m:t>
                      </m:r>
                      <m:r>
                        <a:rPr lang="ar-AE" i="1" dirty="0">
                          <a:latin typeface="Cambria Math" panose="02040503050406030204" pitchFamily="18" charset="0"/>
                        </a:rPr>
                        <m:t>𝜔</m:t>
                      </m:r>
                      <m:r>
                        <m:rPr>
                          <m:sty m:val="p"/>
                        </m:rPr>
                        <a:rPr lang="en-US" dirty="0">
                          <a:latin typeface="Cambria Math" panose="02040503050406030204" pitchFamily="18" charset="0"/>
                        </a:rPr>
                        <m:t>cos</m:t>
                      </m:r>
                      <m:r>
                        <a:rPr lang="en-US" dirty="0">
                          <a:latin typeface="Cambria Math" panose="02040503050406030204" pitchFamily="18" charset="0"/>
                        </a:rPr>
                        <m:t>⁡</m:t>
                      </m:r>
                      <m:d>
                        <m:dPr>
                          <m:ctrlPr>
                            <a:rPr lang="ar-AE" i="1" dirty="0">
                              <a:latin typeface="Cambria Math" panose="02040503050406030204" pitchFamily="18" charset="0"/>
                            </a:rPr>
                          </m:ctrlPr>
                        </m:dPr>
                        <m:e>
                          <m:r>
                            <a:rPr lang="ar-AE" i="1" dirty="0">
                              <a:latin typeface="Cambria Math" panose="02040503050406030204" pitchFamily="18" charset="0"/>
                            </a:rPr>
                            <m:t>𝜔</m:t>
                          </m:r>
                          <m:r>
                            <a:rPr lang="ar-AE" i="1" dirty="0">
                              <a:latin typeface="Cambria Math" panose="02040503050406030204" pitchFamily="18" charset="0"/>
                            </a:rPr>
                            <m:t>𝑡</m:t>
                          </m:r>
                        </m:e>
                      </m:d>
                    </m:oMath>
                  </m:oMathPara>
                </a14:m>
                <a:endParaRPr lang="en-US"/>
              </a:p>
              <a:p>
                <a:endParaRPr lang="en-US"/>
              </a:p>
              <a:p>
                <a:r>
                  <a:rPr lang="en-US"/>
                  <a:t>Timestep was calculated using:</a:t>
                </a:r>
              </a:p>
              <a:p>
                <a:endParaRPr lang="en-US"/>
              </a:p>
              <a:p>
                <a:r>
                  <a:rPr lang="pt-BR"/>
                  <a:t>Co </a:t>
                </a:r>
                <a14:m>
                  <m:oMath xmlns:m="http://schemas.openxmlformats.org/officeDocument/2006/math">
                    <m:r>
                      <a:rPr lang="pt-BR" i="1" smtClean="0">
                        <a:latin typeface="Cambria Math" panose="02040503050406030204" pitchFamily="18" charset="0"/>
                      </a:rPr>
                      <m:t>=</m:t>
                    </m:r>
                    <m:f>
                      <m:fPr>
                        <m:ctrlPr>
                          <a:rPr lang="pt-BR" i="1" smtClean="0">
                            <a:latin typeface="Cambria Math" panose="02040503050406030204" pitchFamily="18" charset="0"/>
                          </a:rPr>
                        </m:ctrlPr>
                      </m:fPr>
                      <m:num>
                        <m:r>
                          <a:rPr lang="en-US" b="0" i="1" smtClean="0">
                            <a:latin typeface="Cambria Math" panose="02040503050406030204" pitchFamily="18" charset="0"/>
                          </a:rPr>
                          <m:t>𝑢</m:t>
                        </m:r>
                        <m:r>
                          <m:rPr>
                            <m:nor/>
                          </m:rPr>
                          <a:rPr lang="en-US" dirty="0"/>
                          <m:t>Δ</m:t>
                        </m:r>
                        <m:r>
                          <m:rPr>
                            <m:nor/>
                          </m:rPr>
                          <a:rPr lang="en-US" dirty="0"/>
                          <m:t>t</m:t>
                        </m:r>
                      </m:num>
                      <m:den>
                        <m:r>
                          <m:rPr>
                            <m:nor/>
                          </m:rPr>
                          <a:rPr lang="en-US" dirty="0"/>
                          <m:t>Δ</m:t>
                        </m:r>
                        <m:r>
                          <a:rPr lang="en-US" b="0" i="1" dirty="0" smtClean="0">
                            <a:latin typeface="Cambria Math" panose="02040503050406030204" pitchFamily="18" charset="0"/>
                          </a:rPr>
                          <m:t>𝑥</m:t>
                        </m:r>
                      </m:den>
                    </m:f>
                  </m:oMath>
                </a14:m>
                <a:r>
                  <a:rPr lang="en-US"/>
                  <a:t> </a:t>
                </a:r>
                <a14:m>
                  <m:oMath xmlns:m="http://schemas.openxmlformats.org/officeDocument/2006/math">
                    <m:r>
                      <a:rPr lang="en-US" dirty="0">
                        <a:latin typeface="Cambria Math" panose="02040503050406030204" pitchFamily="18" charset="0"/>
                      </a:rPr>
                      <m:t> </m:t>
                    </m:r>
                    <m:r>
                      <m:rPr>
                        <m:sty m:val="p"/>
                      </m:rPr>
                      <a:rPr lang="en-US" b="0" i="0" dirty="0" smtClean="0">
                        <a:latin typeface="Cambria Math" panose="02040503050406030204" pitchFamily="18" charset="0"/>
                      </a:rPr>
                      <m:t>and</m:t>
                    </m:r>
                    <m:r>
                      <a:rPr lang="en-US" b="0" i="0" dirty="0" smtClean="0">
                        <a:latin typeface="Cambria Math" panose="02040503050406030204" pitchFamily="18" charset="0"/>
                      </a:rPr>
                      <m:t> </m:t>
                    </m:r>
                    <m:r>
                      <m:rPr>
                        <m:nor/>
                      </m:rPr>
                      <a:rPr lang="en-US" dirty="0"/>
                      <m:t>Δ</m:t>
                    </m:r>
                    <m:r>
                      <a:rPr lang="en-US" b="0" i="1" dirty="0" smtClean="0">
                        <a:latin typeface="Cambria Math" panose="02040503050406030204" pitchFamily="18" charset="0"/>
                      </a:rPr>
                      <m:t>𝑡</m:t>
                    </m:r>
                    <m:r>
                      <a:rPr lang="en-US" i="1" dirty="0">
                        <a:latin typeface="Cambria Math" panose="02040503050406030204" pitchFamily="18" charset="0"/>
                      </a:rPr>
                      <m:t> </m:t>
                    </m:r>
                  </m:oMath>
                </a14:m>
                <a:r>
                  <a:rPr lang="en-US"/>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𝐶𝑜</m:t>
                        </m:r>
                        <m:r>
                          <m:rPr>
                            <m:nor/>
                          </m:rPr>
                          <a:rPr lang="en-US" dirty="0"/>
                          <m:t>Δ</m:t>
                        </m:r>
                        <m:r>
                          <a:rPr lang="en-US" b="0" i="1" dirty="0" smtClean="0">
                            <a:latin typeface="Cambria Math" panose="02040503050406030204" pitchFamily="18" charset="0"/>
                          </a:rPr>
                          <m:t>𝑥</m:t>
                        </m:r>
                      </m:num>
                      <m:den>
                        <m:r>
                          <m:rPr>
                            <m:nor/>
                          </m:rPr>
                          <a:rPr lang="en-US" dirty="0"/>
                          <m:t>𝐴</m:t>
                        </m:r>
                        <m:r>
                          <m:rPr>
                            <m:nor/>
                          </m:rPr>
                          <a:rPr lang="en-US" dirty="0"/>
                          <m:t>𝜔</m:t>
                        </m:r>
                      </m:den>
                    </m:f>
                  </m:oMath>
                </a14:m>
                <a:endParaRPr lang="en-US"/>
              </a:p>
              <a:p>
                <a:endParaRPr lang="en-US"/>
              </a:p>
              <a:p>
                <a:r>
                  <a:rPr lang="en-US"/>
                  <a:t>Co was set as 0.25</a:t>
                </a:r>
              </a:p>
              <a:p>
                <a:endParaRPr lang="ar-AE"/>
              </a:p>
              <a:p>
                <a:endParaRPr lang="en-US"/>
              </a:p>
            </p:txBody>
          </p:sp>
        </mc:Choice>
        <mc:Fallback xmlns="">
          <p:sp>
            <p:nvSpPr>
              <p:cNvPr id="5" name="Content Placeholder 4">
                <a:extLst>
                  <a:ext uri="{FF2B5EF4-FFF2-40B4-BE49-F238E27FC236}">
                    <a16:creationId xmlns:a16="http://schemas.microsoft.com/office/drawing/2014/main" id="{61B5466E-F450-4C9E-95CB-C94D61329A00}"/>
                  </a:ext>
                </a:extLst>
              </p:cNvPr>
              <p:cNvSpPr>
                <a:spLocks noGrp="1" noRot="1" noChangeAspect="1" noMove="1" noResize="1" noEditPoints="1" noAdjustHandles="1" noChangeArrowheads="1" noChangeShapeType="1" noTextEdit="1"/>
              </p:cNvSpPr>
              <p:nvPr>
                <p:ph sz="quarter" idx="18"/>
              </p:nvPr>
            </p:nvSpPr>
            <p:spPr>
              <a:xfrm>
                <a:off x="518124" y="1016547"/>
                <a:ext cx="5601322" cy="2924750"/>
              </a:xfrm>
              <a:blipFill>
                <a:blip r:embed="rId4"/>
                <a:stretch>
                  <a:fillRect l="-1959" t="-625" b="-18750"/>
                </a:stretch>
              </a:blipFill>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3488B81A-3D48-449D-9897-BAE5DA31A0E2}"/>
              </a:ext>
            </a:extLst>
          </p:cNvPr>
          <p:cNvGraphicFramePr>
            <a:graphicFrameLocks noGrp="1"/>
          </p:cNvGraphicFramePr>
          <p:nvPr>
            <p:extLst>
              <p:ext uri="{D42A27DB-BD31-4B8C-83A1-F6EECF244321}">
                <p14:modId xmlns:p14="http://schemas.microsoft.com/office/powerpoint/2010/main" val="299133929"/>
              </p:ext>
            </p:extLst>
          </p:nvPr>
        </p:nvGraphicFramePr>
        <p:xfrm>
          <a:off x="2867540" y="3621493"/>
          <a:ext cx="6013940" cy="1010920"/>
        </p:xfrm>
        <a:graphic>
          <a:graphicData uri="http://schemas.openxmlformats.org/drawingml/2006/table">
            <a:tbl>
              <a:tblPr firstRow="1" bandRow="1">
                <a:tableStyleId>{284E427A-3D55-4303-BF80-6455036E1DE7}</a:tableStyleId>
              </a:tblPr>
              <a:tblGrid>
                <a:gridCol w="1503485">
                  <a:extLst>
                    <a:ext uri="{9D8B030D-6E8A-4147-A177-3AD203B41FA5}">
                      <a16:colId xmlns:a16="http://schemas.microsoft.com/office/drawing/2014/main" val="3904104895"/>
                    </a:ext>
                  </a:extLst>
                </a:gridCol>
                <a:gridCol w="1503485">
                  <a:extLst>
                    <a:ext uri="{9D8B030D-6E8A-4147-A177-3AD203B41FA5}">
                      <a16:colId xmlns:a16="http://schemas.microsoft.com/office/drawing/2014/main" val="3241848743"/>
                    </a:ext>
                  </a:extLst>
                </a:gridCol>
                <a:gridCol w="1503485">
                  <a:extLst>
                    <a:ext uri="{9D8B030D-6E8A-4147-A177-3AD203B41FA5}">
                      <a16:colId xmlns:a16="http://schemas.microsoft.com/office/drawing/2014/main" val="3471264863"/>
                    </a:ext>
                  </a:extLst>
                </a:gridCol>
                <a:gridCol w="1503485">
                  <a:extLst>
                    <a:ext uri="{9D8B030D-6E8A-4147-A177-3AD203B41FA5}">
                      <a16:colId xmlns:a16="http://schemas.microsoft.com/office/drawing/2014/main" val="2068862844"/>
                    </a:ext>
                  </a:extLst>
                </a:gridCol>
              </a:tblGrid>
              <a:tr h="370840">
                <a:tc>
                  <a:txBody>
                    <a:bodyPr/>
                    <a:lstStyle/>
                    <a:p>
                      <a:r>
                        <a:rPr lang="en-US"/>
                        <a:t>Element Size (m)</a:t>
                      </a:r>
                    </a:p>
                  </a:txBody>
                  <a:tcPr/>
                </a:tc>
                <a:tc>
                  <a:txBody>
                    <a:bodyPr/>
                    <a:lstStyle/>
                    <a:p>
                      <a:r>
                        <a:rPr lang="en-US"/>
                        <a:t>Timestep Size</a:t>
                      </a:r>
                    </a:p>
                  </a:txBody>
                  <a:tcPr/>
                </a:tc>
                <a:tc>
                  <a:txBody>
                    <a:bodyPr/>
                    <a:lstStyle/>
                    <a:p>
                      <a:r>
                        <a:rPr lang="en-US"/>
                        <a:t>Number of Timesteps</a:t>
                      </a:r>
                    </a:p>
                  </a:txBody>
                  <a:tcPr/>
                </a:tc>
                <a:tc>
                  <a:txBody>
                    <a:bodyPr/>
                    <a:lstStyle/>
                    <a:p>
                      <a:r>
                        <a:rPr lang="en-US"/>
                        <a:t>Number of Iterations</a:t>
                      </a:r>
                    </a:p>
                  </a:txBody>
                  <a:tcPr/>
                </a:tc>
                <a:extLst>
                  <a:ext uri="{0D108BD9-81ED-4DB2-BD59-A6C34878D82A}">
                    <a16:rowId xmlns:a16="http://schemas.microsoft.com/office/drawing/2014/main" val="3409920133"/>
                  </a:ext>
                </a:extLst>
              </a:tr>
              <a:tr h="370840">
                <a:tc>
                  <a:txBody>
                    <a:bodyPr/>
                    <a:lstStyle/>
                    <a:p>
                      <a:r>
                        <a:rPr lang="en-US"/>
                        <a:t>0.005 m</a:t>
                      </a:r>
                    </a:p>
                  </a:txBody>
                  <a:tcPr/>
                </a:tc>
                <a:tc>
                  <a:txBody>
                    <a:bodyPr/>
                    <a:lstStyle/>
                    <a:p>
                      <a:r>
                        <a:rPr lang="en-US"/>
                        <a:t>0.005</a:t>
                      </a:r>
                    </a:p>
                  </a:txBody>
                  <a:tcPr/>
                </a:tc>
                <a:tc>
                  <a:txBody>
                    <a:bodyPr/>
                    <a:lstStyle/>
                    <a:p>
                      <a:r>
                        <a:rPr lang="en-US"/>
                        <a:t>~230</a:t>
                      </a:r>
                    </a:p>
                  </a:txBody>
                  <a:tcPr/>
                </a:tc>
                <a:tc>
                  <a:txBody>
                    <a:bodyPr/>
                    <a:lstStyle/>
                    <a:p>
                      <a:r>
                        <a:rPr lang="en-US"/>
                        <a:t>~400</a:t>
                      </a:r>
                    </a:p>
                  </a:txBody>
                  <a:tcPr/>
                </a:tc>
                <a:extLst>
                  <a:ext uri="{0D108BD9-81ED-4DB2-BD59-A6C34878D82A}">
                    <a16:rowId xmlns:a16="http://schemas.microsoft.com/office/drawing/2014/main" val="3469485131"/>
                  </a:ext>
                </a:extLst>
              </a:tr>
            </a:tbl>
          </a:graphicData>
        </a:graphic>
      </p:graphicFrame>
      <p:pic>
        <p:nvPicPr>
          <p:cNvPr id="10" name="Picture 9" descr="A black background with a black square&#10;&#10;AI-generated content may be incorrect.">
            <a:extLst>
              <a:ext uri="{FF2B5EF4-FFF2-40B4-BE49-F238E27FC236}">
                <a16:creationId xmlns:a16="http://schemas.microsoft.com/office/drawing/2014/main" id="{9A58BB11-1FB6-14AC-CAEE-0660F66D0415}"/>
              </a:ext>
            </a:extLst>
          </p:cNvPr>
          <p:cNvPicPr>
            <a:picLocks noChangeAspect="1"/>
          </p:cNvPicPr>
          <p:nvPr/>
        </p:nvPicPr>
        <p:blipFill>
          <a:blip r:embed="rId5">
            <a:duotone>
              <a:schemeClr val="bg2">
                <a:shade val="45000"/>
                <a:satMod val="135000"/>
              </a:schemeClr>
              <a:prstClr val="white"/>
            </a:duotone>
          </a:blip>
          <a:stretch>
            <a:fillRect/>
          </a:stretch>
        </p:blipFill>
        <p:spPr>
          <a:xfrm>
            <a:off x="8152227" y="1219096"/>
            <a:ext cx="495780" cy="495780"/>
          </a:xfrm>
          <a:prstGeom prst="rect">
            <a:avLst/>
          </a:prstGeom>
        </p:spPr>
      </p:pic>
      <p:sp>
        <p:nvSpPr>
          <p:cNvPr id="6" name="Title 5">
            <a:extLst>
              <a:ext uri="{FF2B5EF4-FFF2-40B4-BE49-F238E27FC236}">
                <a16:creationId xmlns:a16="http://schemas.microsoft.com/office/drawing/2014/main" id="{5D6999DD-E151-E1E8-42D7-838F909ED7A3}"/>
              </a:ext>
            </a:extLst>
          </p:cNvPr>
          <p:cNvSpPr txBox="1">
            <a:spLocks/>
          </p:cNvSpPr>
          <p:nvPr/>
        </p:nvSpPr>
        <p:spPr>
          <a:xfrm>
            <a:off x="653429" y="225378"/>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GB" sz="3200" b="1">
                <a:solidFill>
                  <a:schemeClr val="bg2"/>
                </a:solidFill>
              </a:rPr>
              <a:t>Solver Setting</a:t>
            </a:r>
          </a:p>
        </p:txBody>
      </p:sp>
      <p:sp>
        <p:nvSpPr>
          <p:cNvPr id="9" name="Text Placeholder 6">
            <a:extLst>
              <a:ext uri="{FF2B5EF4-FFF2-40B4-BE49-F238E27FC236}">
                <a16:creationId xmlns:a16="http://schemas.microsoft.com/office/drawing/2014/main" id="{00FA4CAF-E6EB-1C93-2B98-F26890AE52D7}"/>
              </a:ext>
            </a:extLst>
          </p:cNvPr>
          <p:cNvSpPr txBox="1">
            <a:spLocks/>
          </p:cNvSpPr>
          <p:nvPr/>
        </p:nvSpPr>
        <p:spPr>
          <a:xfrm>
            <a:off x="311161" y="684430"/>
            <a:ext cx="8508999" cy="321410"/>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err="1">
                <a:solidFill>
                  <a:schemeClr val="bg2"/>
                </a:solidFill>
              </a:rPr>
              <a:t>Timesteps</a:t>
            </a:r>
            <a:r>
              <a:rPr lang="de-DE">
                <a:solidFill>
                  <a:schemeClr val="bg2"/>
                </a:solidFill>
              </a:rPr>
              <a:t> </a:t>
            </a:r>
            <a:r>
              <a:rPr lang="de-DE" err="1">
                <a:solidFill>
                  <a:schemeClr val="bg2"/>
                </a:solidFill>
              </a:rPr>
              <a:t>calculation</a:t>
            </a:r>
            <a:r>
              <a:rPr lang="de-DE">
                <a:solidFill>
                  <a:schemeClr val="bg2"/>
                </a:solidFill>
              </a:rPr>
              <a:t> </a:t>
            </a:r>
            <a:r>
              <a:rPr lang="de-DE" err="1">
                <a:solidFill>
                  <a:schemeClr val="bg2"/>
                </a:solidFill>
              </a:rPr>
              <a:t>to</a:t>
            </a:r>
            <a:r>
              <a:rPr lang="de-DE">
                <a:solidFill>
                  <a:schemeClr val="bg2"/>
                </a:solidFill>
              </a:rPr>
              <a:t> </a:t>
            </a:r>
            <a:r>
              <a:rPr lang="de-DE" err="1">
                <a:solidFill>
                  <a:schemeClr val="bg2"/>
                </a:solidFill>
              </a:rPr>
              <a:t>get</a:t>
            </a:r>
            <a:r>
              <a:rPr lang="de-DE">
                <a:solidFill>
                  <a:schemeClr val="bg2"/>
                </a:solidFill>
              </a:rPr>
              <a:t> </a:t>
            </a:r>
            <a:r>
              <a:rPr lang="de-DE" err="1">
                <a:solidFill>
                  <a:schemeClr val="bg2"/>
                </a:solidFill>
              </a:rPr>
              <a:t>desired</a:t>
            </a:r>
            <a:r>
              <a:rPr lang="de-DE">
                <a:solidFill>
                  <a:schemeClr val="bg2"/>
                </a:solidFill>
              </a:rPr>
              <a:t> </a:t>
            </a:r>
            <a:r>
              <a:rPr lang="de-DE" err="1">
                <a:solidFill>
                  <a:schemeClr val="bg2"/>
                </a:solidFill>
              </a:rPr>
              <a:t>simulation</a:t>
            </a:r>
            <a:r>
              <a:rPr lang="de-DE">
                <a:solidFill>
                  <a:schemeClr val="bg2"/>
                </a:solidFill>
              </a:rPr>
              <a:t> time </a:t>
            </a:r>
            <a:endParaRPr lang="en-GB" b="1"/>
          </a:p>
        </p:txBody>
      </p:sp>
      <p:pic>
        <p:nvPicPr>
          <p:cNvPr id="11" name="Picture 10" descr="A blue and white gears&#10;&#10;AI-generated content may be incorrect.">
            <a:extLst>
              <a:ext uri="{FF2B5EF4-FFF2-40B4-BE49-F238E27FC236}">
                <a16:creationId xmlns:a16="http://schemas.microsoft.com/office/drawing/2014/main" id="{313AB490-CCC2-476E-F524-130AD8C87BBA}"/>
              </a:ext>
            </a:extLst>
          </p:cNvPr>
          <p:cNvPicPr>
            <a:picLocks noChangeAspect="1"/>
          </p:cNvPicPr>
          <p:nvPr/>
        </p:nvPicPr>
        <p:blipFill>
          <a:blip r:embed="rId6"/>
          <a:stretch>
            <a:fillRect/>
          </a:stretch>
        </p:blipFill>
        <p:spPr>
          <a:xfrm>
            <a:off x="238926" y="208532"/>
            <a:ext cx="414503" cy="414503"/>
          </a:xfrm>
          <a:prstGeom prst="rect">
            <a:avLst/>
          </a:prstGeom>
        </p:spPr>
      </p:pic>
    </p:spTree>
    <p:extLst>
      <p:ext uri="{BB962C8B-B14F-4D97-AF65-F5344CB8AC3E}">
        <p14:creationId xmlns:p14="http://schemas.microsoft.com/office/powerpoint/2010/main" val="17179181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23CA3EA-E7D2-4B95-8A60-B0208474879F}"/>
              </a:ext>
            </a:extLst>
          </p:cNvPr>
          <p:cNvSpPr>
            <a:spLocks noGrp="1"/>
          </p:cNvSpPr>
          <p:nvPr>
            <p:ph type="sldNum" sz="quarter" idx="11"/>
          </p:nvPr>
        </p:nvSpPr>
        <p:spPr/>
        <p:txBody>
          <a:bodyPr/>
          <a:lstStyle/>
          <a:p>
            <a:fld id="{CE58CB1E-F828-4F11-99E0-327109AF9DA4}" type="slidenum">
              <a:rPr lang="de-DE" smtClean="0"/>
              <a:pPr/>
              <a:t>17</a:t>
            </a:fld>
            <a:endParaRPr lang="de-DE"/>
          </a:p>
        </p:txBody>
      </p:sp>
      <p:sp>
        <p:nvSpPr>
          <p:cNvPr id="4" name="Footer Placeholder 3">
            <a:extLst>
              <a:ext uri="{FF2B5EF4-FFF2-40B4-BE49-F238E27FC236}">
                <a16:creationId xmlns:a16="http://schemas.microsoft.com/office/drawing/2014/main" id="{89834F68-4BE3-4CFA-9D7D-122B49444E8B}"/>
              </a:ext>
            </a:extLst>
          </p:cNvPr>
          <p:cNvSpPr>
            <a:spLocks noGrp="1"/>
          </p:cNvSpPr>
          <p:nvPr>
            <p:ph type="ftr" sz="quarter" idx="12"/>
          </p:nvPr>
        </p:nvSpPr>
        <p:spPr/>
        <p:txBody>
          <a:bodyPr/>
          <a:lstStyle/>
          <a:p>
            <a:r>
              <a:rPr lang="en-US"/>
              <a:t>Technical University of Munich, TUM | Chair of Thermodynamics | Multiphase Flows | Project Presentation  </a:t>
            </a:r>
          </a:p>
        </p:txBody>
      </p:sp>
      <p:pic>
        <p:nvPicPr>
          <p:cNvPr id="7" name="Picture 6" descr="A screenshot of a computer&#10;&#10;AI-generated content may be incorrect.">
            <a:extLst>
              <a:ext uri="{FF2B5EF4-FFF2-40B4-BE49-F238E27FC236}">
                <a16:creationId xmlns:a16="http://schemas.microsoft.com/office/drawing/2014/main" id="{6B45FA5D-91E9-D939-A929-4765C75411A7}"/>
              </a:ext>
            </a:extLst>
          </p:cNvPr>
          <p:cNvPicPr>
            <a:picLocks noChangeAspect="1"/>
          </p:cNvPicPr>
          <p:nvPr/>
        </p:nvPicPr>
        <p:blipFill>
          <a:blip r:embed="rId2"/>
          <a:stretch>
            <a:fillRect/>
          </a:stretch>
        </p:blipFill>
        <p:spPr>
          <a:xfrm>
            <a:off x="298734" y="2115561"/>
            <a:ext cx="3395232" cy="2722592"/>
          </a:xfrm>
          <a:prstGeom prst="rect">
            <a:avLst/>
          </a:prstGeom>
        </p:spPr>
      </p:pic>
      <p:pic>
        <p:nvPicPr>
          <p:cNvPr id="11" name="Picture 10" descr="A red and blue rectangle&#10;&#10;AI-generated content may be incorrect.">
            <a:extLst>
              <a:ext uri="{FF2B5EF4-FFF2-40B4-BE49-F238E27FC236}">
                <a16:creationId xmlns:a16="http://schemas.microsoft.com/office/drawing/2014/main" id="{128EACA9-F189-6C38-6678-D643E74F8EF1}"/>
              </a:ext>
            </a:extLst>
          </p:cNvPr>
          <p:cNvPicPr>
            <a:picLocks noChangeAspect="1"/>
          </p:cNvPicPr>
          <p:nvPr/>
        </p:nvPicPr>
        <p:blipFill>
          <a:blip r:embed="rId3"/>
          <a:stretch>
            <a:fillRect/>
          </a:stretch>
        </p:blipFill>
        <p:spPr>
          <a:xfrm>
            <a:off x="4933975" y="3068782"/>
            <a:ext cx="3742781" cy="1605482"/>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3C1A31AC-4D70-801A-13F6-7B4C36B2F290}"/>
              </a:ext>
            </a:extLst>
          </p:cNvPr>
          <p:cNvPicPr>
            <a:picLocks noChangeAspect="1"/>
          </p:cNvPicPr>
          <p:nvPr/>
        </p:nvPicPr>
        <p:blipFill>
          <a:blip r:embed="rId4"/>
          <a:srcRect t="69652" b="11883"/>
          <a:stretch>
            <a:fillRect/>
          </a:stretch>
        </p:blipFill>
        <p:spPr>
          <a:xfrm>
            <a:off x="1680119" y="1371616"/>
            <a:ext cx="2013847" cy="797170"/>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58790CCA-AE94-29A0-C6C4-243918BB5387}"/>
              </a:ext>
            </a:extLst>
          </p:cNvPr>
          <p:cNvPicPr>
            <a:picLocks noChangeAspect="1"/>
          </p:cNvPicPr>
          <p:nvPr/>
        </p:nvPicPr>
        <p:blipFill>
          <a:blip r:embed="rId4"/>
          <a:srcRect t="3647" r="42426" b="80855"/>
          <a:stretch>
            <a:fillRect/>
          </a:stretch>
        </p:blipFill>
        <p:spPr>
          <a:xfrm>
            <a:off x="298734" y="1371617"/>
            <a:ext cx="1381385" cy="79716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DB2C99A-0456-B671-555D-A4118B7AA1F7}"/>
              </a:ext>
            </a:extLst>
          </p:cNvPr>
          <p:cNvPicPr>
            <a:picLocks noChangeAspect="1"/>
          </p:cNvPicPr>
          <p:nvPr/>
        </p:nvPicPr>
        <p:blipFill>
          <a:blip r:embed="rId5"/>
          <a:stretch>
            <a:fillRect/>
          </a:stretch>
        </p:blipFill>
        <p:spPr>
          <a:xfrm>
            <a:off x="4933975" y="1258493"/>
            <a:ext cx="3643435" cy="1801873"/>
          </a:xfrm>
          <a:prstGeom prst="rect">
            <a:avLst/>
          </a:prstGeom>
        </p:spPr>
      </p:pic>
      <p:sp>
        <p:nvSpPr>
          <p:cNvPr id="9" name="Title 5">
            <a:extLst>
              <a:ext uri="{FF2B5EF4-FFF2-40B4-BE49-F238E27FC236}">
                <a16:creationId xmlns:a16="http://schemas.microsoft.com/office/drawing/2014/main" id="{39C94314-80A2-F7AC-9566-631924AC1F3B}"/>
              </a:ext>
            </a:extLst>
          </p:cNvPr>
          <p:cNvSpPr txBox="1">
            <a:spLocks/>
          </p:cNvSpPr>
          <p:nvPr/>
        </p:nvSpPr>
        <p:spPr>
          <a:xfrm>
            <a:off x="653429" y="225378"/>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GB" sz="3200" b="1">
                <a:solidFill>
                  <a:schemeClr val="bg2"/>
                </a:solidFill>
              </a:rPr>
              <a:t>Solver Setting</a:t>
            </a:r>
          </a:p>
        </p:txBody>
      </p:sp>
      <p:sp>
        <p:nvSpPr>
          <p:cNvPr id="10" name="Text Placeholder 6">
            <a:extLst>
              <a:ext uri="{FF2B5EF4-FFF2-40B4-BE49-F238E27FC236}">
                <a16:creationId xmlns:a16="http://schemas.microsoft.com/office/drawing/2014/main" id="{E2604195-3B5C-F5EE-A187-D16E7114232B}"/>
              </a:ext>
            </a:extLst>
          </p:cNvPr>
          <p:cNvSpPr txBox="1">
            <a:spLocks/>
          </p:cNvSpPr>
          <p:nvPr/>
        </p:nvSpPr>
        <p:spPr>
          <a:xfrm>
            <a:off x="311161" y="684430"/>
            <a:ext cx="8508999" cy="321410"/>
          </a:xfrm>
          <a:prstGeom prst="rect">
            <a:avLst/>
          </a:prstGeom>
        </p:spPr>
        <p:txBody>
          <a:bodyPr/>
          <a:lst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a:solidFill>
                  <a:schemeClr val="bg2"/>
                </a:solidFill>
              </a:rPr>
              <a:t>Initialization and Patching</a:t>
            </a:r>
            <a:endParaRPr lang="en-GB" b="1"/>
          </a:p>
        </p:txBody>
      </p:sp>
      <p:pic>
        <p:nvPicPr>
          <p:cNvPr id="12" name="Picture 11" descr="A blue and white gears&#10;&#10;AI-generated content may be incorrect.">
            <a:extLst>
              <a:ext uri="{FF2B5EF4-FFF2-40B4-BE49-F238E27FC236}">
                <a16:creationId xmlns:a16="http://schemas.microsoft.com/office/drawing/2014/main" id="{11FE3D56-070F-B1A8-D1AF-420ED0EDF48C}"/>
              </a:ext>
            </a:extLst>
          </p:cNvPr>
          <p:cNvPicPr>
            <a:picLocks noChangeAspect="1"/>
          </p:cNvPicPr>
          <p:nvPr/>
        </p:nvPicPr>
        <p:blipFill>
          <a:blip r:embed="rId6"/>
          <a:stretch>
            <a:fillRect/>
          </a:stretch>
        </p:blipFill>
        <p:spPr>
          <a:xfrm>
            <a:off x="238926" y="208532"/>
            <a:ext cx="414503" cy="414503"/>
          </a:xfrm>
          <a:prstGeom prst="rect">
            <a:avLst/>
          </a:prstGeom>
        </p:spPr>
      </p:pic>
      <p:sp>
        <p:nvSpPr>
          <p:cNvPr id="14" name="TextBox 13">
            <a:extLst>
              <a:ext uri="{FF2B5EF4-FFF2-40B4-BE49-F238E27FC236}">
                <a16:creationId xmlns:a16="http://schemas.microsoft.com/office/drawing/2014/main" id="{202F5A30-3C0D-6564-AF6A-C1048AAEC2CF}"/>
              </a:ext>
            </a:extLst>
          </p:cNvPr>
          <p:cNvSpPr txBox="1"/>
          <p:nvPr/>
        </p:nvSpPr>
        <p:spPr>
          <a:xfrm>
            <a:off x="4837291" y="682774"/>
            <a:ext cx="3839465" cy="523220"/>
          </a:xfrm>
          <a:prstGeom prst="rect">
            <a:avLst/>
          </a:prstGeom>
          <a:noFill/>
        </p:spPr>
        <p:txBody>
          <a:bodyPr wrap="square">
            <a:spAutoFit/>
          </a:bodyPr>
          <a:lstStyle/>
          <a:p>
            <a:r>
              <a:rPr lang="en-GB" sz="1400">
                <a:solidFill>
                  <a:schemeClr val="tx1">
                    <a:lumMod val="50000"/>
                    <a:lumOff val="50000"/>
                  </a:schemeClr>
                </a:solidFill>
              </a:rPr>
              <a:t>Standard initialization - Water patched to 70% fill level - Sharp initial interface defined</a:t>
            </a:r>
          </a:p>
        </p:txBody>
      </p:sp>
    </p:spTree>
    <p:extLst>
      <p:ext uri="{BB962C8B-B14F-4D97-AF65-F5344CB8AC3E}">
        <p14:creationId xmlns:p14="http://schemas.microsoft.com/office/powerpoint/2010/main" val="389548404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31A4-ABD3-A84C-8325-25D169E521DD}"/>
            </a:ext>
          </a:extLst>
        </p:cNvPr>
        <p:cNvGrpSpPr/>
        <p:nvPr/>
      </p:nvGrpSpPr>
      <p:grpSpPr>
        <a:xfrm>
          <a:off x="0" y="0"/>
          <a:ext cx="0" cy="0"/>
          <a:chOff x="0" y="0"/>
          <a:chExt cx="0" cy="0"/>
        </a:xfrm>
      </p:grpSpPr>
      <p:pic>
        <p:nvPicPr>
          <p:cNvPr id="20" name="Picture 19" descr="A low poly bird with lines and dots&#10;&#10;AI-generated content may be incorrect.">
            <a:extLst>
              <a:ext uri="{FF2B5EF4-FFF2-40B4-BE49-F238E27FC236}">
                <a16:creationId xmlns:a16="http://schemas.microsoft.com/office/drawing/2014/main" id="{71DAB799-4CCF-25D7-6434-D88FA848F87D}"/>
              </a:ext>
            </a:extLst>
          </p:cNvPr>
          <p:cNvPicPr>
            <a:picLocks noChangeAspect="1"/>
          </p:cNvPicPr>
          <p:nvPr/>
        </p:nvPicPr>
        <p:blipFill>
          <a:blip r:embed="rId2"/>
          <a:srcRect t="17815" b="39304"/>
          <a:stretch>
            <a:fillRect/>
          </a:stretch>
        </p:blipFill>
        <p:spPr>
          <a:xfrm>
            <a:off x="119596" y="929065"/>
            <a:ext cx="9143980" cy="3920975"/>
          </a:xfrm>
          <a:prstGeom prst="rect">
            <a:avLst/>
          </a:prstGeom>
          <a:noFill/>
        </p:spPr>
      </p:pic>
      <p:sp>
        <p:nvSpPr>
          <p:cNvPr id="24" name="Title 7">
            <a:extLst>
              <a:ext uri="{FF2B5EF4-FFF2-40B4-BE49-F238E27FC236}">
                <a16:creationId xmlns:a16="http://schemas.microsoft.com/office/drawing/2014/main" id="{AE840EA5-19CD-82E6-DFE9-51A1EE2C879E}"/>
              </a:ext>
            </a:extLst>
          </p:cNvPr>
          <p:cNvSpPr>
            <a:spLocks noGrp="1"/>
          </p:cNvSpPr>
          <p:nvPr>
            <p:ph type="title"/>
          </p:nvPr>
        </p:nvSpPr>
        <p:spPr>
          <a:xfrm>
            <a:off x="311162" y="293460"/>
            <a:ext cx="8508999" cy="380810"/>
          </a:xfrm>
        </p:spPr>
        <p:txBody>
          <a:bodyPr wrap="square" anchor="t">
            <a:normAutofit/>
          </a:bodyPr>
          <a:lstStyle/>
          <a:p>
            <a:r>
              <a:rPr lang="en-US" b="1">
                <a:solidFill>
                  <a:schemeClr val="bg2"/>
                </a:solidFill>
              </a:rPr>
              <a:t>Post Processing</a:t>
            </a:r>
          </a:p>
        </p:txBody>
      </p:sp>
      <p:sp>
        <p:nvSpPr>
          <p:cNvPr id="2" name="Footer Placeholder 1">
            <a:extLst>
              <a:ext uri="{FF2B5EF4-FFF2-40B4-BE49-F238E27FC236}">
                <a16:creationId xmlns:a16="http://schemas.microsoft.com/office/drawing/2014/main" id="{D9F2BF33-C904-5588-1BB7-EC60FA23F1F7}"/>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9" name="Slide Number Placeholder 8">
            <a:extLst>
              <a:ext uri="{FF2B5EF4-FFF2-40B4-BE49-F238E27FC236}">
                <a16:creationId xmlns:a16="http://schemas.microsoft.com/office/drawing/2014/main" id="{D231738B-BF7E-01F8-241E-122E1D3DD13B}"/>
              </a:ext>
            </a:extLst>
          </p:cNvPr>
          <p:cNvSpPr>
            <a:spLocks noGrp="1"/>
          </p:cNvSpPr>
          <p:nvPr>
            <p:ph type="sldNum" sz="quarter" idx="11"/>
          </p:nvPr>
        </p:nvSpPr>
        <p:spPr/>
        <p:txBody>
          <a:bodyPr/>
          <a:lstStyle/>
          <a:p>
            <a:fld id="{CE58CB1E-F828-4F11-99E0-327109AF9DA4}" type="slidenum">
              <a:rPr lang="de-DE" smtClean="0"/>
              <a:pPr/>
              <a:t>18</a:t>
            </a:fld>
            <a:endParaRPr lang="de-DE"/>
          </a:p>
        </p:txBody>
      </p:sp>
    </p:spTree>
    <p:extLst>
      <p:ext uri="{BB962C8B-B14F-4D97-AF65-F5344CB8AC3E}">
        <p14:creationId xmlns:p14="http://schemas.microsoft.com/office/powerpoint/2010/main" val="339846830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3E8AA-6BBA-EEDF-4BC6-3D69353B31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499C44-2615-1015-8543-6A98B2EEF346}"/>
              </a:ext>
            </a:extLst>
          </p:cNvPr>
          <p:cNvSpPr>
            <a:spLocks noGrp="1"/>
          </p:cNvSpPr>
          <p:nvPr>
            <p:ph type="sldNum" sz="quarter" idx="11"/>
          </p:nvPr>
        </p:nvSpPr>
        <p:spPr/>
        <p:txBody>
          <a:bodyPr/>
          <a:lstStyle/>
          <a:p>
            <a:fld id="{CE58CB1E-F828-4F11-99E0-327109AF9DA4}" type="slidenum">
              <a:rPr lang="de-DE" smtClean="0"/>
              <a:pPr/>
              <a:t>19</a:t>
            </a:fld>
            <a:endParaRPr lang="de-DE"/>
          </a:p>
        </p:txBody>
      </p:sp>
      <p:sp>
        <p:nvSpPr>
          <p:cNvPr id="4" name="Footer Placeholder 3">
            <a:extLst>
              <a:ext uri="{FF2B5EF4-FFF2-40B4-BE49-F238E27FC236}">
                <a16:creationId xmlns:a16="http://schemas.microsoft.com/office/drawing/2014/main" id="{16D14E98-DAC5-BA0D-AB49-E17D7481B3E3}"/>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5B04ED6C-80E0-6DCE-848B-5A32510FF58F}"/>
              </a:ext>
            </a:extLst>
          </p:cNvPr>
          <p:cNvSpPr>
            <a:spLocks noGrp="1"/>
          </p:cNvSpPr>
          <p:nvPr>
            <p:ph type="title"/>
          </p:nvPr>
        </p:nvSpPr>
        <p:spPr>
          <a:xfrm>
            <a:off x="213802" y="68736"/>
            <a:ext cx="8508999" cy="380810"/>
          </a:xfrm>
        </p:spPr>
        <p:txBody>
          <a:bodyPr/>
          <a:lstStyle/>
          <a:p>
            <a:r>
              <a:rPr lang="de-DE" b="1">
                <a:solidFill>
                  <a:schemeClr val="bg2"/>
                </a:solidFill>
              </a:rPr>
              <a:t>Numerical Convergence Analysis A</a:t>
            </a:r>
            <a:endParaRPr lang="en-US" b="1">
              <a:solidFill>
                <a:schemeClr val="bg2"/>
              </a:solidFill>
            </a:endParaRPr>
          </a:p>
        </p:txBody>
      </p:sp>
      <p:pic>
        <p:nvPicPr>
          <p:cNvPr id="9" name="Content Placeholder 8" descr="A graph of different colored lines&#10;&#10;AI-generated content may be incorrect.">
            <a:extLst>
              <a:ext uri="{FF2B5EF4-FFF2-40B4-BE49-F238E27FC236}">
                <a16:creationId xmlns:a16="http://schemas.microsoft.com/office/drawing/2014/main" id="{1105EE93-A556-EED9-1C30-CD46FA0738DE}"/>
              </a:ext>
            </a:extLst>
          </p:cNvPr>
          <p:cNvPicPr>
            <a:picLocks noGrp="1" noChangeAspect="1"/>
          </p:cNvPicPr>
          <p:nvPr>
            <p:ph idx="1"/>
          </p:nvPr>
        </p:nvPicPr>
        <p:blipFill>
          <a:blip r:embed="rId2"/>
          <a:stretch>
            <a:fillRect/>
          </a:stretch>
        </p:blipFill>
        <p:spPr>
          <a:xfrm>
            <a:off x="-85849" y="928422"/>
            <a:ext cx="4764064" cy="2555459"/>
          </a:xfrm>
          <a:prstGeom prst="rect">
            <a:avLst/>
          </a:prstGeom>
          <a:ln w="9525">
            <a:noFill/>
            <a:miter lim="800000"/>
            <a:headEnd/>
            <a:tailEnd/>
          </a:ln>
        </p:spPr>
      </p:pic>
      <p:sp>
        <p:nvSpPr>
          <p:cNvPr id="11" name="TextBox 10">
            <a:extLst>
              <a:ext uri="{FF2B5EF4-FFF2-40B4-BE49-F238E27FC236}">
                <a16:creationId xmlns:a16="http://schemas.microsoft.com/office/drawing/2014/main" id="{B8703007-AB7C-33BC-CAD2-6DB092EC589F}"/>
              </a:ext>
            </a:extLst>
          </p:cNvPr>
          <p:cNvSpPr txBox="1"/>
          <p:nvPr/>
        </p:nvSpPr>
        <p:spPr>
          <a:xfrm>
            <a:off x="539151" y="3811797"/>
            <a:ext cx="4572000" cy="5034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600" baseline="0">
                <a:latin typeface="Arial"/>
              </a:rPr>
              <a:t>Residuals of Surrogate Gas 1</a:t>
            </a:r>
            <a:endParaRPr lang="en-US"/>
          </a:p>
          <a:p>
            <a:pPr algn="ctr">
              <a:lnSpc>
                <a:spcPct val="114000"/>
              </a:lnSpc>
            </a:pPr>
            <a:endParaRPr lang="en-US" sz="1600" err="1">
              <a:latin typeface="+mn-lt"/>
            </a:endParaRPr>
          </a:p>
        </p:txBody>
      </p:sp>
      <p:graphicFrame>
        <p:nvGraphicFramePr>
          <p:cNvPr id="94" name="Diagram 93">
            <a:extLst>
              <a:ext uri="{FF2B5EF4-FFF2-40B4-BE49-F238E27FC236}">
                <a16:creationId xmlns:a16="http://schemas.microsoft.com/office/drawing/2014/main" id="{CA9638B2-3606-DC29-D13B-14A5464D6CBD}"/>
              </a:ext>
            </a:extLst>
          </p:cNvPr>
          <p:cNvGraphicFramePr/>
          <p:nvPr>
            <p:extLst>
              <p:ext uri="{D42A27DB-BD31-4B8C-83A1-F6EECF244321}">
                <p14:modId xmlns:p14="http://schemas.microsoft.com/office/powerpoint/2010/main" val="4183027345"/>
              </p:ext>
            </p:extLst>
          </p:nvPr>
        </p:nvGraphicFramePr>
        <p:xfrm>
          <a:off x="4468301" y="841423"/>
          <a:ext cx="4572000"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687767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B891-FDD5-CA1D-9634-27DE2CFE54B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4FFF42-380C-1AD7-E8B5-8D92A8852B11}"/>
              </a:ext>
            </a:extLst>
          </p:cNvPr>
          <p:cNvSpPr>
            <a:spLocks noGrp="1"/>
          </p:cNvSpPr>
          <p:nvPr>
            <p:ph type="sldNum" sz="quarter" idx="11"/>
          </p:nvPr>
        </p:nvSpPr>
        <p:spPr/>
        <p:txBody>
          <a:bodyPr/>
          <a:lstStyle/>
          <a:p>
            <a:fld id="{CE58CB1E-F828-4F11-99E0-327109AF9DA4}" type="slidenum">
              <a:rPr lang="de-DE" smtClean="0"/>
              <a:pPr/>
              <a:t>20</a:t>
            </a:fld>
            <a:endParaRPr lang="de-DE"/>
          </a:p>
        </p:txBody>
      </p:sp>
      <p:sp>
        <p:nvSpPr>
          <p:cNvPr id="4" name="Footer Placeholder 3">
            <a:extLst>
              <a:ext uri="{FF2B5EF4-FFF2-40B4-BE49-F238E27FC236}">
                <a16:creationId xmlns:a16="http://schemas.microsoft.com/office/drawing/2014/main" id="{96229108-539B-4E63-E1D0-BBB00C3C0E9E}"/>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EB7D5CBC-8D60-1EF9-4C8A-8018C3213628}"/>
              </a:ext>
            </a:extLst>
          </p:cNvPr>
          <p:cNvSpPr>
            <a:spLocks noGrp="1"/>
          </p:cNvSpPr>
          <p:nvPr>
            <p:ph type="title"/>
          </p:nvPr>
        </p:nvSpPr>
        <p:spPr>
          <a:xfrm>
            <a:off x="311162" y="169221"/>
            <a:ext cx="8508999" cy="791179"/>
          </a:xfrm>
        </p:spPr>
        <p:txBody>
          <a:bodyPr/>
          <a:lstStyle/>
          <a:p>
            <a:r>
              <a:rPr lang="de-DE" b="1">
                <a:solidFill>
                  <a:schemeClr val="bg2"/>
                </a:solidFill>
              </a:rPr>
              <a:t>Numerical Convergence Analysis B</a:t>
            </a:r>
          </a:p>
          <a:p>
            <a:endParaRPr lang="de-DE">
              <a:cs typeface="Arial"/>
            </a:endParaRPr>
          </a:p>
        </p:txBody>
      </p:sp>
      <p:pic>
        <p:nvPicPr>
          <p:cNvPr id="7" name="Content Placeholder 6" descr="A graph of different colored lines&#10;&#10;AI-generated content may be incorrect.">
            <a:extLst>
              <a:ext uri="{FF2B5EF4-FFF2-40B4-BE49-F238E27FC236}">
                <a16:creationId xmlns:a16="http://schemas.microsoft.com/office/drawing/2014/main" id="{B4F81EEC-C6A6-0907-6421-88C932B7E8AD}"/>
              </a:ext>
            </a:extLst>
          </p:cNvPr>
          <p:cNvPicPr>
            <a:picLocks noGrp="1" noChangeAspect="1"/>
          </p:cNvPicPr>
          <p:nvPr>
            <p:ph idx="1"/>
          </p:nvPr>
        </p:nvPicPr>
        <p:blipFill>
          <a:blip r:embed="rId2"/>
          <a:stretch>
            <a:fillRect/>
          </a:stretch>
        </p:blipFill>
        <p:spPr>
          <a:xfrm>
            <a:off x="-197668" y="729049"/>
            <a:ext cx="5175656" cy="2932864"/>
          </a:xfrm>
          <a:prstGeom prst="rect">
            <a:avLst/>
          </a:prstGeom>
          <a:ln w="9525">
            <a:noFill/>
            <a:miter lim="800000"/>
            <a:headEnd/>
            <a:tailEnd/>
          </a:ln>
        </p:spPr>
      </p:pic>
      <p:graphicFrame>
        <p:nvGraphicFramePr>
          <p:cNvPr id="5" name="Diagram 4">
            <a:extLst>
              <a:ext uri="{FF2B5EF4-FFF2-40B4-BE49-F238E27FC236}">
                <a16:creationId xmlns:a16="http://schemas.microsoft.com/office/drawing/2014/main" id="{B7EBCB06-4333-DE8D-A255-2740CA24988C}"/>
              </a:ext>
            </a:extLst>
          </p:cNvPr>
          <p:cNvGraphicFramePr/>
          <p:nvPr>
            <p:extLst>
              <p:ext uri="{D42A27DB-BD31-4B8C-83A1-F6EECF244321}">
                <p14:modId xmlns:p14="http://schemas.microsoft.com/office/powerpoint/2010/main" val="2265299999"/>
              </p:ext>
            </p:extLst>
          </p:nvPr>
        </p:nvGraphicFramePr>
        <p:xfrm>
          <a:off x="4627416" y="883129"/>
          <a:ext cx="4472861" cy="3568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9" name="TextBox 48">
            <a:extLst>
              <a:ext uri="{FF2B5EF4-FFF2-40B4-BE49-F238E27FC236}">
                <a16:creationId xmlns:a16="http://schemas.microsoft.com/office/drawing/2014/main" id="{8F0E7ACC-D220-75B0-F5AB-43D92B944659}"/>
              </a:ext>
            </a:extLst>
          </p:cNvPr>
          <p:cNvSpPr txBox="1"/>
          <p:nvPr/>
        </p:nvSpPr>
        <p:spPr>
          <a:xfrm>
            <a:off x="312708" y="4005890"/>
            <a:ext cx="4572000" cy="50347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600" baseline="0">
                <a:latin typeface="Arial"/>
                <a:cs typeface="Arial"/>
              </a:rPr>
              <a:t>Residuals of Surrogate Gas </a:t>
            </a:r>
            <a:r>
              <a:rPr lang="en-US" sz="1600">
                <a:latin typeface="Arial"/>
                <a:cs typeface="Arial"/>
              </a:rPr>
              <a:t>2</a:t>
            </a:r>
            <a:endParaRPr lang="en-US"/>
          </a:p>
          <a:p>
            <a:pPr algn="ctr">
              <a:lnSpc>
                <a:spcPct val="114000"/>
              </a:lnSpc>
            </a:pPr>
            <a:endParaRPr lang="en-US" sz="1600">
              <a:latin typeface="+mn-lt"/>
            </a:endParaRPr>
          </a:p>
        </p:txBody>
      </p:sp>
    </p:spTree>
    <p:extLst>
      <p:ext uri="{BB962C8B-B14F-4D97-AF65-F5344CB8AC3E}">
        <p14:creationId xmlns:p14="http://schemas.microsoft.com/office/powerpoint/2010/main" val="228870891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9C71-02E5-EA63-7E4A-283883C6660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4FCB90-61EE-7C61-E89F-E7EE1B16C71A}"/>
              </a:ext>
            </a:extLst>
          </p:cNvPr>
          <p:cNvSpPr>
            <a:spLocks noGrp="1"/>
          </p:cNvSpPr>
          <p:nvPr>
            <p:ph type="sldNum" sz="quarter" idx="11"/>
          </p:nvPr>
        </p:nvSpPr>
        <p:spPr/>
        <p:txBody>
          <a:bodyPr/>
          <a:lstStyle/>
          <a:p>
            <a:fld id="{CE58CB1E-F828-4F11-99E0-327109AF9DA4}" type="slidenum">
              <a:rPr lang="de-DE" smtClean="0"/>
              <a:pPr/>
              <a:t>21</a:t>
            </a:fld>
            <a:endParaRPr lang="de-DE"/>
          </a:p>
        </p:txBody>
      </p:sp>
      <p:sp>
        <p:nvSpPr>
          <p:cNvPr id="4" name="Footer Placeholder 3">
            <a:extLst>
              <a:ext uri="{FF2B5EF4-FFF2-40B4-BE49-F238E27FC236}">
                <a16:creationId xmlns:a16="http://schemas.microsoft.com/office/drawing/2014/main" id="{8AAF6899-E0CC-1935-6292-EF958518C682}"/>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9DD026F3-1E70-39D7-9641-33D276BA544F}"/>
              </a:ext>
            </a:extLst>
          </p:cNvPr>
          <p:cNvSpPr>
            <a:spLocks noGrp="1"/>
          </p:cNvSpPr>
          <p:nvPr>
            <p:ph type="title"/>
          </p:nvPr>
        </p:nvSpPr>
        <p:spPr/>
        <p:txBody>
          <a:bodyPr/>
          <a:lstStyle/>
          <a:p>
            <a:r>
              <a:rPr lang="de-DE" b="1">
                <a:solidFill>
                  <a:schemeClr val="bg2"/>
                </a:solidFill>
              </a:rPr>
              <a:t>Temporal Stability &amp; CFL Analysis</a:t>
            </a:r>
            <a:endParaRPr lang="en-US" b="1">
              <a:solidFill>
                <a:schemeClr val="bg2"/>
              </a:solidFill>
            </a:endParaRPr>
          </a:p>
        </p:txBody>
      </p:sp>
      <p:pic>
        <p:nvPicPr>
          <p:cNvPr id="8" name="Content Placeholder 7" descr="A graph of a graph&#10;&#10;AI-generated content may be incorrect.">
            <a:extLst>
              <a:ext uri="{FF2B5EF4-FFF2-40B4-BE49-F238E27FC236}">
                <a16:creationId xmlns:a16="http://schemas.microsoft.com/office/drawing/2014/main" id="{C12E15CE-F2B6-B10A-9A7E-9C15366EC0BA}"/>
              </a:ext>
            </a:extLst>
          </p:cNvPr>
          <p:cNvPicPr>
            <a:picLocks noGrp="1" noChangeAspect="1"/>
          </p:cNvPicPr>
          <p:nvPr>
            <p:ph idx="1"/>
          </p:nvPr>
        </p:nvPicPr>
        <p:blipFill>
          <a:blip r:embed="rId2"/>
          <a:stretch>
            <a:fillRect/>
          </a:stretch>
        </p:blipFill>
        <p:spPr>
          <a:xfrm>
            <a:off x="-3131" y="1074106"/>
            <a:ext cx="5260770" cy="2684854"/>
          </a:xfrm>
          <a:prstGeom prst="rect">
            <a:avLst/>
          </a:prstGeom>
          <a:ln w="9525">
            <a:noFill/>
            <a:miter lim="800000"/>
            <a:headEnd/>
            <a:tailEnd/>
          </a:ln>
        </p:spPr>
      </p:pic>
      <p:graphicFrame>
        <p:nvGraphicFramePr>
          <p:cNvPr id="2" name="Diagram 1">
            <a:extLst>
              <a:ext uri="{FF2B5EF4-FFF2-40B4-BE49-F238E27FC236}">
                <a16:creationId xmlns:a16="http://schemas.microsoft.com/office/drawing/2014/main" id="{518A8ED6-3956-BF8E-B127-C2B90043F9EF}"/>
              </a:ext>
            </a:extLst>
          </p:cNvPr>
          <p:cNvGraphicFramePr/>
          <p:nvPr>
            <p:extLst>
              <p:ext uri="{D42A27DB-BD31-4B8C-83A1-F6EECF244321}">
                <p14:modId xmlns:p14="http://schemas.microsoft.com/office/powerpoint/2010/main" val="1483514882"/>
              </p:ext>
            </p:extLst>
          </p:nvPr>
        </p:nvGraphicFramePr>
        <p:xfrm>
          <a:off x="5000510" y="1115715"/>
          <a:ext cx="4143489" cy="3413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3388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CA7F1-AC6B-8664-D35B-BC7615E0BBE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D238BE-66DA-06FB-0981-E4EF01B439C2}"/>
              </a:ext>
            </a:extLst>
          </p:cNvPr>
          <p:cNvSpPr>
            <a:spLocks noGrp="1"/>
          </p:cNvSpPr>
          <p:nvPr>
            <p:ph type="sldNum" sz="quarter" idx="11"/>
          </p:nvPr>
        </p:nvSpPr>
        <p:spPr/>
        <p:txBody>
          <a:bodyPr/>
          <a:lstStyle/>
          <a:p>
            <a:fld id="{CE58CB1E-F828-4F11-99E0-327109AF9DA4}" type="slidenum">
              <a:rPr lang="de-DE" smtClean="0"/>
              <a:pPr/>
              <a:t>22</a:t>
            </a:fld>
            <a:endParaRPr lang="de-DE"/>
          </a:p>
        </p:txBody>
      </p:sp>
      <p:sp>
        <p:nvSpPr>
          <p:cNvPr id="4" name="Footer Placeholder 3">
            <a:extLst>
              <a:ext uri="{FF2B5EF4-FFF2-40B4-BE49-F238E27FC236}">
                <a16:creationId xmlns:a16="http://schemas.microsoft.com/office/drawing/2014/main" id="{96AAB630-A3B6-53BB-7D25-408D7AF4D1AF}"/>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499D03B9-A113-B093-B64E-7D9D63043AD5}"/>
              </a:ext>
            </a:extLst>
          </p:cNvPr>
          <p:cNvSpPr>
            <a:spLocks noGrp="1"/>
          </p:cNvSpPr>
          <p:nvPr>
            <p:ph type="title"/>
          </p:nvPr>
        </p:nvSpPr>
        <p:spPr>
          <a:xfrm>
            <a:off x="319444" y="293460"/>
            <a:ext cx="7299739" cy="791179"/>
          </a:xfrm>
        </p:spPr>
        <p:txBody>
          <a:bodyPr/>
          <a:lstStyle/>
          <a:p>
            <a:r>
              <a:rPr lang="de-DE" b="1">
                <a:solidFill>
                  <a:schemeClr val="bg2"/>
                </a:solidFill>
              </a:rPr>
              <a:t>Quantitative Time Evolution Analysis (Surface Tracking) </a:t>
            </a:r>
          </a:p>
        </p:txBody>
      </p:sp>
      <p:pic>
        <p:nvPicPr>
          <p:cNvPr id="39" name="Picture 38" descr="A red blue and yellow rectangle&#10;&#10;AI-generated content may be incorrect.">
            <a:extLst>
              <a:ext uri="{FF2B5EF4-FFF2-40B4-BE49-F238E27FC236}">
                <a16:creationId xmlns:a16="http://schemas.microsoft.com/office/drawing/2014/main" id="{6F25C51D-63AE-ED7C-3682-F7C2A27556B3}"/>
              </a:ext>
            </a:extLst>
          </p:cNvPr>
          <p:cNvPicPr>
            <a:picLocks noChangeAspect="1"/>
          </p:cNvPicPr>
          <p:nvPr/>
        </p:nvPicPr>
        <p:blipFill>
          <a:blip r:embed="rId2"/>
          <a:stretch>
            <a:fillRect/>
          </a:stretch>
        </p:blipFill>
        <p:spPr>
          <a:xfrm>
            <a:off x="5102088" y="2709884"/>
            <a:ext cx="3561522" cy="1562472"/>
          </a:xfrm>
          <a:prstGeom prst="rect">
            <a:avLst/>
          </a:prstGeom>
        </p:spPr>
      </p:pic>
      <p:cxnSp>
        <p:nvCxnSpPr>
          <p:cNvPr id="46" name="Straight Arrow Connector 45">
            <a:extLst>
              <a:ext uri="{FF2B5EF4-FFF2-40B4-BE49-F238E27FC236}">
                <a16:creationId xmlns:a16="http://schemas.microsoft.com/office/drawing/2014/main" id="{C9537511-696F-2315-17AE-A26459EFE0EF}"/>
              </a:ext>
            </a:extLst>
          </p:cNvPr>
          <p:cNvCxnSpPr/>
          <p:nvPr/>
        </p:nvCxnSpPr>
        <p:spPr>
          <a:xfrm flipH="1">
            <a:off x="7799733" y="2458279"/>
            <a:ext cx="21534" cy="1552160"/>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22FE2BD-F9E4-4EA0-4E95-37EBDAFC518A}"/>
              </a:ext>
            </a:extLst>
          </p:cNvPr>
          <p:cNvCxnSpPr>
            <a:cxnSpLocks/>
          </p:cNvCxnSpPr>
          <p:nvPr/>
        </p:nvCxnSpPr>
        <p:spPr>
          <a:xfrm flipH="1">
            <a:off x="7037732" y="2458279"/>
            <a:ext cx="21534" cy="1552160"/>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3D44BD2-640E-C012-69AC-E977A0FAEBDD}"/>
              </a:ext>
            </a:extLst>
          </p:cNvPr>
          <p:cNvCxnSpPr/>
          <p:nvPr/>
        </p:nvCxnSpPr>
        <p:spPr>
          <a:xfrm>
            <a:off x="6274489" y="2460349"/>
            <a:ext cx="3314" cy="1552160"/>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4E39FBA-BD33-49A3-76DF-CCAD0DDD93CA}"/>
              </a:ext>
            </a:extLst>
          </p:cNvPr>
          <p:cNvSpPr txBox="1"/>
          <p:nvPr/>
        </p:nvSpPr>
        <p:spPr>
          <a:xfrm>
            <a:off x="7615376" y="1997765"/>
            <a:ext cx="600352" cy="36990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100">
                <a:latin typeface="+mn-lt"/>
                <a:cs typeface="Arial"/>
              </a:rPr>
              <a:t>Line1 at </a:t>
            </a:r>
            <a:endParaRPr lang="en-US" sz="1100">
              <a:latin typeface="+mn-lt"/>
            </a:endParaRPr>
          </a:p>
          <a:p>
            <a:pPr>
              <a:lnSpc>
                <a:spcPct val="113999"/>
              </a:lnSpc>
            </a:pPr>
            <a:r>
              <a:rPr lang="en-US" sz="1100">
                <a:latin typeface="+mn-lt"/>
                <a:cs typeface="Arial"/>
              </a:rPr>
              <a:t>0.25x</a:t>
            </a:r>
            <a:endParaRPr lang="en-US" sz="1100">
              <a:latin typeface="+mn-lt"/>
            </a:endParaRPr>
          </a:p>
        </p:txBody>
      </p:sp>
      <p:sp>
        <p:nvSpPr>
          <p:cNvPr id="53" name="TextBox 52">
            <a:extLst>
              <a:ext uri="{FF2B5EF4-FFF2-40B4-BE49-F238E27FC236}">
                <a16:creationId xmlns:a16="http://schemas.microsoft.com/office/drawing/2014/main" id="{C72BB1A7-1EA0-A00D-7686-959D54E02F60}"/>
              </a:ext>
            </a:extLst>
          </p:cNvPr>
          <p:cNvSpPr txBox="1"/>
          <p:nvPr/>
        </p:nvSpPr>
        <p:spPr>
          <a:xfrm>
            <a:off x="6795397" y="1997765"/>
            <a:ext cx="600352" cy="36990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100">
                <a:latin typeface="+mn-lt"/>
                <a:cs typeface="Arial"/>
              </a:rPr>
              <a:t>Line1 at </a:t>
            </a:r>
            <a:endParaRPr lang="en-US" sz="1100">
              <a:latin typeface="+mn-lt"/>
            </a:endParaRPr>
          </a:p>
          <a:p>
            <a:pPr>
              <a:lnSpc>
                <a:spcPct val="113999"/>
              </a:lnSpc>
            </a:pPr>
            <a:r>
              <a:rPr lang="en-US" sz="1100">
                <a:latin typeface="+mn-lt"/>
                <a:cs typeface="Arial"/>
              </a:rPr>
              <a:t>0.5x</a:t>
            </a:r>
            <a:endParaRPr lang="en-US" sz="1100">
              <a:latin typeface="+mn-lt"/>
            </a:endParaRPr>
          </a:p>
        </p:txBody>
      </p:sp>
      <p:sp>
        <p:nvSpPr>
          <p:cNvPr id="54" name="TextBox 53">
            <a:extLst>
              <a:ext uri="{FF2B5EF4-FFF2-40B4-BE49-F238E27FC236}">
                <a16:creationId xmlns:a16="http://schemas.microsoft.com/office/drawing/2014/main" id="{EF1FCAFD-DBF4-4986-1F78-E4819DC677E4}"/>
              </a:ext>
            </a:extLst>
          </p:cNvPr>
          <p:cNvSpPr txBox="1"/>
          <p:nvPr/>
        </p:nvSpPr>
        <p:spPr>
          <a:xfrm>
            <a:off x="5975418" y="1997765"/>
            <a:ext cx="600352" cy="36990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100">
                <a:latin typeface="+mn-lt"/>
                <a:cs typeface="Arial"/>
              </a:rPr>
              <a:t>Line1 at </a:t>
            </a:r>
            <a:endParaRPr lang="en-US" sz="1100">
              <a:latin typeface="+mn-lt"/>
            </a:endParaRPr>
          </a:p>
          <a:p>
            <a:pPr>
              <a:lnSpc>
                <a:spcPct val="113999"/>
              </a:lnSpc>
            </a:pPr>
            <a:r>
              <a:rPr lang="en-US" sz="1100">
                <a:latin typeface="+mn-lt"/>
                <a:cs typeface="Arial"/>
              </a:rPr>
              <a:t>0.75x</a:t>
            </a:r>
            <a:endParaRPr lang="en-US" sz="1100">
              <a:latin typeface="+mn-lt"/>
            </a:endParaRPr>
          </a:p>
        </p:txBody>
      </p:sp>
      <p:cxnSp>
        <p:nvCxnSpPr>
          <p:cNvPr id="55" name="Straight Arrow Connector 54">
            <a:extLst>
              <a:ext uri="{FF2B5EF4-FFF2-40B4-BE49-F238E27FC236}">
                <a16:creationId xmlns:a16="http://schemas.microsoft.com/office/drawing/2014/main" id="{C8073C28-9BE1-0AEC-C5B2-9BD3B74A9FC3}"/>
              </a:ext>
            </a:extLst>
          </p:cNvPr>
          <p:cNvCxnSpPr/>
          <p:nvPr/>
        </p:nvCxnSpPr>
        <p:spPr>
          <a:xfrm flipV="1">
            <a:off x="6154393" y="1299956"/>
            <a:ext cx="715618" cy="667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93EFA76-1318-7010-FCEA-642D3FAD46A7}"/>
              </a:ext>
            </a:extLst>
          </p:cNvPr>
          <p:cNvCxnSpPr>
            <a:cxnSpLocks/>
          </p:cNvCxnSpPr>
          <p:nvPr/>
        </p:nvCxnSpPr>
        <p:spPr>
          <a:xfrm flipH="1" flipV="1">
            <a:off x="7342119" y="1341369"/>
            <a:ext cx="543339" cy="584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EE8C6D8B-6611-B126-CDCA-92277FDF5B2E}"/>
              </a:ext>
            </a:extLst>
          </p:cNvPr>
          <p:cNvCxnSpPr>
            <a:cxnSpLocks/>
          </p:cNvCxnSpPr>
          <p:nvPr/>
        </p:nvCxnSpPr>
        <p:spPr>
          <a:xfrm flipV="1">
            <a:off x="7040631" y="1349650"/>
            <a:ext cx="94423" cy="576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EE36CF2-88CC-58DC-4EFC-F0092C2D377A}"/>
              </a:ext>
            </a:extLst>
          </p:cNvPr>
          <p:cNvSpPr txBox="1"/>
          <p:nvPr/>
        </p:nvSpPr>
        <p:spPr>
          <a:xfrm>
            <a:off x="6612251" y="691406"/>
            <a:ext cx="1656146" cy="56291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100" b="1">
                <a:latin typeface="+mn-lt"/>
                <a:cs typeface="Arial"/>
              </a:rPr>
              <a:t>Iso-surface</a:t>
            </a:r>
            <a:r>
              <a:rPr lang="en-US" sz="1100">
                <a:latin typeface="+mn-lt"/>
                <a:cs typeface="Arial"/>
              </a:rPr>
              <a:t> for </a:t>
            </a:r>
            <a:r>
              <a:rPr lang="en-US" sz="1100" err="1">
                <a:latin typeface="+mn-lt"/>
                <a:cs typeface="Arial"/>
              </a:rPr>
              <a:t>vol_fraction</a:t>
            </a:r>
            <a:r>
              <a:rPr lang="en-US" sz="1100">
                <a:latin typeface="+mn-lt"/>
                <a:cs typeface="Arial"/>
              </a:rPr>
              <a:t> = 0.5 (to track interface)</a:t>
            </a:r>
            <a:endParaRPr lang="en-US" sz="1100">
              <a:latin typeface="+mn-lt"/>
            </a:endParaRPr>
          </a:p>
        </p:txBody>
      </p:sp>
      <p:pic>
        <p:nvPicPr>
          <p:cNvPr id="62" name="Picture 61" descr="A screenshot of a computer&#10;&#10;AI-generated content may be incorrect.">
            <a:extLst>
              <a:ext uri="{FF2B5EF4-FFF2-40B4-BE49-F238E27FC236}">
                <a16:creationId xmlns:a16="http://schemas.microsoft.com/office/drawing/2014/main" id="{6A32C222-C840-1A5E-E0B7-5EA391EB71A0}"/>
              </a:ext>
            </a:extLst>
          </p:cNvPr>
          <p:cNvPicPr>
            <a:picLocks noChangeAspect="1"/>
          </p:cNvPicPr>
          <p:nvPr/>
        </p:nvPicPr>
        <p:blipFill>
          <a:blip r:embed="rId3"/>
          <a:stretch>
            <a:fillRect/>
          </a:stretch>
        </p:blipFill>
        <p:spPr>
          <a:xfrm>
            <a:off x="211621" y="1559408"/>
            <a:ext cx="4678847" cy="2281445"/>
          </a:xfrm>
          <a:prstGeom prst="rect">
            <a:avLst/>
          </a:prstGeom>
        </p:spPr>
      </p:pic>
      <p:sp>
        <p:nvSpPr>
          <p:cNvPr id="63" name="Rectangle 62">
            <a:extLst>
              <a:ext uri="{FF2B5EF4-FFF2-40B4-BE49-F238E27FC236}">
                <a16:creationId xmlns:a16="http://schemas.microsoft.com/office/drawing/2014/main" id="{BF751D37-0C4D-EFD0-9878-3C1C011B7D07}"/>
              </a:ext>
            </a:extLst>
          </p:cNvPr>
          <p:cNvSpPr/>
          <p:nvPr/>
        </p:nvSpPr>
        <p:spPr>
          <a:xfrm>
            <a:off x="213691" y="3067050"/>
            <a:ext cx="1030356" cy="86140"/>
          </a:xfrm>
          <a:prstGeom prst="rect">
            <a:avLst/>
          </a:prstGeom>
          <a:noFill/>
          <a:ln>
            <a:solidFill>
              <a:srgbClr val="4472C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a:p>
        </p:txBody>
      </p:sp>
    </p:spTree>
    <p:extLst>
      <p:ext uri="{BB962C8B-B14F-4D97-AF65-F5344CB8AC3E}">
        <p14:creationId xmlns:p14="http://schemas.microsoft.com/office/powerpoint/2010/main" val="25676472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D0391-B7E2-DD04-6271-DDEB3EE1AA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083758-4499-9125-1402-37FE9A3D21D1}"/>
              </a:ext>
            </a:extLst>
          </p:cNvPr>
          <p:cNvSpPr>
            <a:spLocks noGrp="1"/>
          </p:cNvSpPr>
          <p:nvPr>
            <p:ph type="sldNum" sz="quarter" idx="11"/>
          </p:nvPr>
        </p:nvSpPr>
        <p:spPr/>
        <p:txBody>
          <a:bodyPr/>
          <a:lstStyle/>
          <a:p>
            <a:fld id="{CE58CB1E-F828-4F11-99E0-327109AF9DA4}" type="slidenum">
              <a:rPr lang="de-DE" smtClean="0"/>
              <a:pPr/>
              <a:t>23</a:t>
            </a:fld>
            <a:endParaRPr lang="de-DE"/>
          </a:p>
        </p:txBody>
      </p:sp>
      <p:sp>
        <p:nvSpPr>
          <p:cNvPr id="4" name="Footer Placeholder 3">
            <a:extLst>
              <a:ext uri="{FF2B5EF4-FFF2-40B4-BE49-F238E27FC236}">
                <a16:creationId xmlns:a16="http://schemas.microsoft.com/office/drawing/2014/main" id="{586A018C-4800-4FB2-C060-D1B092A54893}"/>
              </a:ext>
            </a:extLst>
          </p:cNvPr>
          <p:cNvSpPr>
            <a:spLocks noGrp="1"/>
          </p:cNvSpPr>
          <p:nvPr>
            <p:ph type="ftr" sz="quarter" idx="12"/>
          </p:nvPr>
        </p:nvSpPr>
        <p:spPr/>
        <p:txBody>
          <a:bodyPr/>
          <a:lstStyle/>
          <a:p>
            <a:r>
              <a:rPr lang="en-US"/>
              <a:t>Technical University of Munich, TUM | Chair of Thermodynamics | Multiphase Flows | Project Presentation  </a:t>
            </a:r>
          </a:p>
        </p:txBody>
      </p:sp>
      <p:pic>
        <p:nvPicPr>
          <p:cNvPr id="41" name="Picture 40" descr="A graph with colored lines&#10;&#10;AI-generated content may be incorrect.">
            <a:extLst>
              <a:ext uri="{FF2B5EF4-FFF2-40B4-BE49-F238E27FC236}">
                <a16:creationId xmlns:a16="http://schemas.microsoft.com/office/drawing/2014/main" id="{E429E1EA-5C87-7111-4535-8597FEFCEDD4}"/>
              </a:ext>
            </a:extLst>
          </p:cNvPr>
          <p:cNvPicPr>
            <a:picLocks noChangeAspect="1"/>
          </p:cNvPicPr>
          <p:nvPr/>
        </p:nvPicPr>
        <p:blipFill>
          <a:blip r:embed="rId2"/>
          <a:stretch>
            <a:fillRect/>
          </a:stretch>
        </p:blipFill>
        <p:spPr>
          <a:xfrm>
            <a:off x="795130" y="1282968"/>
            <a:ext cx="6833153" cy="2668671"/>
          </a:xfrm>
          <a:prstGeom prst="rect">
            <a:avLst/>
          </a:prstGeom>
        </p:spPr>
      </p:pic>
      <p:sp>
        <p:nvSpPr>
          <p:cNvPr id="42" name="TextBox 41">
            <a:extLst>
              <a:ext uri="{FF2B5EF4-FFF2-40B4-BE49-F238E27FC236}">
                <a16:creationId xmlns:a16="http://schemas.microsoft.com/office/drawing/2014/main" id="{24EF6A74-FD5A-AEA0-9CAE-48767314A60F}"/>
              </a:ext>
            </a:extLst>
          </p:cNvPr>
          <p:cNvSpPr txBox="1"/>
          <p:nvPr/>
        </p:nvSpPr>
        <p:spPr>
          <a:xfrm>
            <a:off x="1577673" y="4075913"/>
            <a:ext cx="5672302" cy="6140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200">
                <a:latin typeface="+mn-lt"/>
                <a:cs typeface="Arial"/>
              </a:rPr>
              <a:t>In one cycle (1.16s), the two surrogate gases 1 and 2 showed almost similar wave behavior in sloshing, the free surface at the three locations is almost identical over simulation time</a:t>
            </a:r>
            <a:endParaRPr lang="en-US" sz="1200">
              <a:latin typeface="+mn-lt"/>
            </a:endParaRPr>
          </a:p>
        </p:txBody>
      </p:sp>
      <p:sp>
        <p:nvSpPr>
          <p:cNvPr id="44" name="Title 5">
            <a:extLst>
              <a:ext uri="{FF2B5EF4-FFF2-40B4-BE49-F238E27FC236}">
                <a16:creationId xmlns:a16="http://schemas.microsoft.com/office/drawing/2014/main" id="{5A95A305-DE58-9BB1-1452-4F7B6723C59B}"/>
              </a:ext>
            </a:extLst>
          </p:cNvPr>
          <p:cNvSpPr>
            <a:spLocks noGrp="1"/>
          </p:cNvSpPr>
          <p:nvPr>
            <p:ph type="title"/>
          </p:nvPr>
        </p:nvSpPr>
        <p:spPr>
          <a:xfrm>
            <a:off x="319444" y="293460"/>
            <a:ext cx="7299739" cy="791179"/>
          </a:xfrm>
        </p:spPr>
        <p:txBody>
          <a:bodyPr/>
          <a:lstStyle/>
          <a:p>
            <a:r>
              <a:rPr lang="de-DE" b="1">
                <a:solidFill>
                  <a:schemeClr val="bg2"/>
                </a:solidFill>
              </a:rPr>
              <a:t>Quantitative Time Evolution Analysis (Surface Tracking) </a:t>
            </a:r>
          </a:p>
        </p:txBody>
      </p:sp>
    </p:spTree>
    <p:extLst>
      <p:ext uri="{BB962C8B-B14F-4D97-AF65-F5344CB8AC3E}">
        <p14:creationId xmlns:p14="http://schemas.microsoft.com/office/powerpoint/2010/main" val="15184173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0D0BA-ACB2-CDEB-F15F-0180CCF5E82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9A43A7-B56D-1BB9-62F1-4FA69AB9B2CE}"/>
              </a:ext>
            </a:extLst>
          </p:cNvPr>
          <p:cNvSpPr>
            <a:spLocks noGrp="1"/>
          </p:cNvSpPr>
          <p:nvPr>
            <p:ph type="sldNum" sz="quarter" idx="11"/>
          </p:nvPr>
        </p:nvSpPr>
        <p:spPr/>
        <p:txBody>
          <a:bodyPr/>
          <a:lstStyle/>
          <a:p>
            <a:fld id="{CE58CB1E-F828-4F11-99E0-327109AF9DA4}" type="slidenum">
              <a:rPr lang="de-DE" smtClean="0"/>
              <a:pPr/>
              <a:t>24</a:t>
            </a:fld>
            <a:endParaRPr lang="de-DE"/>
          </a:p>
        </p:txBody>
      </p:sp>
      <p:sp>
        <p:nvSpPr>
          <p:cNvPr id="4" name="Footer Placeholder 3">
            <a:extLst>
              <a:ext uri="{FF2B5EF4-FFF2-40B4-BE49-F238E27FC236}">
                <a16:creationId xmlns:a16="http://schemas.microsoft.com/office/drawing/2014/main" id="{FC9B5458-E6AD-C41D-6126-C21425FA5C2A}"/>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79D2EEC8-3A4F-9C0D-61DB-C9838589E714}"/>
              </a:ext>
            </a:extLst>
          </p:cNvPr>
          <p:cNvSpPr>
            <a:spLocks noGrp="1"/>
          </p:cNvSpPr>
          <p:nvPr>
            <p:ph type="title"/>
          </p:nvPr>
        </p:nvSpPr>
        <p:spPr>
          <a:xfrm>
            <a:off x="319444" y="293460"/>
            <a:ext cx="7299739" cy="380810"/>
          </a:xfrm>
        </p:spPr>
        <p:txBody>
          <a:bodyPr/>
          <a:lstStyle/>
          <a:p>
            <a:r>
              <a:rPr lang="de-DE" b="1">
                <a:solidFill>
                  <a:schemeClr val="bg2"/>
                </a:solidFill>
              </a:rPr>
              <a:t>Quantitative Time Evolution Analysis (Pressure) </a:t>
            </a:r>
          </a:p>
        </p:txBody>
      </p:sp>
      <p:pic>
        <p:nvPicPr>
          <p:cNvPr id="2" name="Picture 1" descr="A graph of pressure on a gas&#10;&#10;AI-generated content may be incorrect.">
            <a:extLst>
              <a:ext uri="{FF2B5EF4-FFF2-40B4-BE49-F238E27FC236}">
                <a16:creationId xmlns:a16="http://schemas.microsoft.com/office/drawing/2014/main" id="{F97D0516-55CB-155B-2E55-E2BE9BCAAD17}"/>
              </a:ext>
            </a:extLst>
          </p:cNvPr>
          <p:cNvPicPr>
            <a:picLocks noChangeAspect="1"/>
          </p:cNvPicPr>
          <p:nvPr/>
        </p:nvPicPr>
        <p:blipFill>
          <a:blip r:embed="rId2"/>
          <a:stretch>
            <a:fillRect/>
          </a:stretch>
        </p:blipFill>
        <p:spPr>
          <a:xfrm>
            <a:off x="442378" y="934480"/>
            <a:ext cx="4938368" cy="3436724"/>
          </a:xfrm>
          <a:prstGeom prst="rect">
            <a:avLst/>
          </a:prstGeom>
        </p:spPr>
      </p:pic>
      <p:sp>
        <p:nvSpPr>
          <p:cNvPr id="7" name="TextBox 6">
            <a:extLst>
              <a:ext uri="{FF2B5EF4-FFF2-40B4-BE49-F238E27FC236}">
                <a16:creationId xmlns:a16="http://schemas.microsoft.com/office/drawing/2014/main" id="{FB3141C5-AEEF-94F5-F042-06165E3724FC}"/>
              </a:ext>
            </a:extLst>
          </p:cNvPr>
          <p:cNvSpPr txBox="1"/>
          <p:nvPr/>
        </p:nvSpPr>
        <p:spPr>
          <a:xfrm>
            <a:off x="5539558" y="1282091"/>
            <a:ext cx="1965275" cy="16665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nSpc>
                <a:spcPct val="113999"/>
              </a:lnSpc>
              <a:buFont typeface="Arial"/>
              <a:buChar char="•"/>
            </a:pPr>
            <a:r>
              <a:rPr lang="en-US" sz="1200">
                <a:latin typeface="+mn-lt"/>
                <a:cs typeface="Arial"/>
              </a:rPr>
              <a:t>Average pressure on the </a:t>
            </a:r>
            <a:r>
              <a:rPr lang="en-US" sz="1200" b="1">
                <a:latin typeface="+mn-lt"/>
                <a:cs typeface="Arial"/>
              </a:rPr>
              <a:t>upper wall</a:t>
            </a:r>
            <a:r>
              <a:rPr lang="en-US" sz="1200">
                <a:latin typeface="+mn-lt"/>
                <a:cs typeface="Arial"/>
              </a:rPr>
              <a:t> showed almost identical behaviour for the two gases</a:t>
            </a:r>
          </a:p>
          <a:p>
            <a:pPr marL="171450" indent="-171450">
              <a:lnSpc>
                <a:spcPct val="113999"/>
              </a:lnSpc>
              <a:buFont typeface="Arial"/>
              <a:buChar char="•"/>
            </a:pPr>
            <a:r>
              <a:rPr lang="en-US" sz="1200">
                <a:latin typeface="Arial"/>
                <a:cs typeface="Arial"/>
              </a:rPr>
              <a:t>The high </a:t>
            </a:r>
            <a:r>
              <a:rPr lang="en-US" sz="1200" b="1">
                <a:latin typeface="Arial"/>
                <a:cs typeface="Arial"/>
              </a:rPr>
              <a:t>spike</a:t>
            </a:r>
            <a:r>
              <a:rPr lang="en-US" sz="1200">
                <a:latin typeface="Arial"/>
                <a:cs typeface="Arial"/>
              </a:rPr>
              <a:t> is due to impact of the liquid on the upper wall in late </a:t>
            </a:r>
            <a:r>
              <a:rPr lang="en-US" sz="1200" b="1">
                <a:latin typeface="Arial"/>
                <a:cs typeface="Arial"/>
              </a:rPr>
              <a:t>simulation time</a:t>
            </a:r>
            <a:endParaRPr lang="en-US" sz="1200" b="1"/>
          </a:p>
        </p:txBody>
      </p:sp>
    </p:spTree>
    <p:extLst>
      <p:ext uri="{BB962C8B-B14F-4D97-AF65-F5344CB8AC3E}">
        <p14:creationId xmlns:p14="http://schemas.microsoft.com/office/powerpoint/2010/main" val="32525027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A2C3-D482-BD41-02FA-C9A4194045B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009588-C291-3328-6EB9-511302532CBC}"/>
              </a:ext>
            </a:extLst>
          </p:cNvPr>
          <p:cNvSpPr>
            <a:spLocks noGrp="1"/>
          </p:cNvSpPr>
          <p:nvPr>
            <p:ph type="sldNum" sz="quarter" idx="11"/>
          </p:nvPr>
        </p:nvSpPr>
        <p:spPr/>
        <p:txBody>
          <a:bodyPr/>
          <a:lstStyle/>
          <a:p>
            <a:fld id="{CE58CB1E-F828-4F11-99E0-327109AF9DA4}" type="slidenum">
              <a:rPr lang="de-DE" smtClean="0"/>
              <a:pPr/>
              <a:t>25</a:t>
            </a:fld>
            <a:endParaRPr lang="de-DE"/>
          </a:p>
        </p:txBody>
      </p:sp>
      <p:sp>
        <p:nvSpPr>
          <p:cNvPr id="4" name="Footer Placeholder 3">
            <a:extLst>
              <a:ext uri="{FF2B5EF4-FFF2-40B4-BE49-F238E27FC236}">
                <a16:creationId xmlns:a16="http://schemas.microsoft.com/office/drawing/2014/main" id="{72FF9D75-8864-09A1-3F88-57D40C82FCBB}"/>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632116B1-1E24-B264-CF9D-5D0E8D9A895C}"/>
              </a:ext>
            </a:extLst>
          </p:cNvPr>
          <p:cNvSpPr>
            <a:spLocks noGrp="1"/>
          </p:cNvSpPr>
          <p:nvPr>
            <p:ph type="title"/>
          </p:nvPr>
        </p:nvSpPr>
        <p:spPr>
          <a:xfrm>
            <a:off x="319444" y="293460"/>
            <a:ext cx="7299739" cy="380810"/>
          </a:xfrm>
        </p:spPr>
        <p:txBody>
          <a:bodyPr/>
          <a:lstStyle/>
          <a:p>
            <a:r>
              <a:rPr lang="de-DE" b="1">
                <a:solidFill>
                  <a:schemeClr val="bg2"/>
                </a:solidFill>
              </a:rPr>
              <a:t>Quantitative Time Evolution Analysis (Force) </a:t>
            </a:r>
          </a:p>
        </p:txBody>
      </p:sp>
      <p:pic>
        <p:nvPicPr>
          <p:cNvPr id="5" name="Picture 4" descr="A graph of a graph&#10;&#10;AI-generated content may be incorrect.">
            <a:extLst>
              <a:ext uri="{FF2B5EF4-FFF2-40B4-BE49-F238E27FC236}">
                <a16:creationId xmlns:a16="http://schemas.microsoft.com/office/drawing/2014/main" id="{AD2F6D62-1DB8-BA6E-650F-9140686E6D0E}"/>
              </a:ext>
            </a:extLst>
          </p:cNvPr>
          <p:cNvPicPr>
            <a:picLocks noChangeAspect="1"/>
          </p:cNvPicPr>
          <p:nvPr/>
        </p:nvPicPr>
        <p:blipFill>
          <a:blip r:embed="rId2"/>
          <a:stretch>
            <a:fillRect/>
          </a:stretch>
        </p:blipFill>
        <p:spPr>
          <a:xfrm>
            <a:off x="586946" y="897484"/>
            <a:ext cx="7313656" cy="3572496"/>
          </a:xfrm>
          <a:prstGeom prst="rect">
            <a:avLst/>
          </a:prstGeom>
        </p:spPr>
      </p:pic>
    </p:spTree>
    <p:extLst>
      <p:ext uri="{BB962C8B-B14F-4D97-AF65-F5344CB8AC3E}">
        <p14:creationId xmlns:p14="http://schemas.microsoft.com/office/powerpoint/2010/main" val="39799678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8AC0-F014-A973-16A4-1365D65F367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2150E-FB44-5319-300D-BC6E724F1709}"/>
              </a:ext>
            </a:extLst>
          </p:cNvPr>
          <p:cNvSpPr>
            <a:spLocks noGrp="1"/>
          </p:cNvSpPr>
          <p:nvPr>
            <p:ph type="sldNum" sz="quarter" idx="11"/>
          </p:nvPr>
        </p:nvSpPr>
        <p:spPr/>
        <p:txBody>
          <a:bodyPr/>
          <a:lstStyle/>
          <a:p>
            <a:fld id="{CE58CB1E-F828-4F11-99E0-327109AF9DA4}" type="slidenum">
              <a:rPr lang="de-DE" smtClean="0"/>
              <a:pPr/>
              <a:t>26</a:t>
            </a:fld>
            <a:endParaRPr lang="de-DE"/>
          </a:p>
        </p:txBody>
      </p:sp>
      <p:sp>
        <p:nvSpPr>
          <p:cNvPr id="4" name="Footer Placeholder 3">
            <a:extLst>
              <a:ext uri="{FF2B5EF4-FFF2-40B4-BE49-F238E27FC236}">
                <a16:creationId xmlns:a16="http://schemas.microsoft.com/office/drawing/2014/main" id="{31EB3511-7260-4378-8999-85EAED64593D}"/>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F7B3C3D9-6DDF-317D-4226-A81B23CC6B33}"/>
              </a:ext>
            </a:extLst>
          </p:cNvPr>
          <p:cNvSpPr>
            <a:spLocks noGrp="1"/>
          </p:cNvSpPr>
          <p:nvPr>
            <p:ph type="title"/>
          </p:nvPr>
        </p:nvSpPr>
        <p:spPr>
          <a:xfrm>
            <a:off x="319444" y="293460"/>
            <a:ext cx="7754039" cy="791179"/>
          </a:xfrm>
        </p:spPr>
        <p:txBody>
          <a:bodyPr/>
          <a:lstStyle/>
          <a:p>
            <a:r>
              <a:rPr lang="de-DE" b="1">
                <a:solidFill>
                  <a:schemeClr val="bg2"/>
                </a:solidFill>
              </a:rPr>
              <a:t>Quantitative Time Evolution Analysis (Heat Flux) </a:t>
            </a:r>
          </a:p>
        </p:txBody>
      </p:sp>
      <p:pic>
        <p:nvPicPr>
          <p:cNvPr id="5" name="Picture 4" descr="A graph of a heat flux&#10;&#10;AI-generated content may be incorrect.">
            <a:extLst>
              <a:ext uri="{FF2B5EF4-FFF2-40B4-BE49-F238E27FC236}">
                <a16:creationId xmlns:a16="http://schemas.microsoft.com/office/drawing/2014/main" id="{5B72FADE-8F2E-6C34-5F35-F7B49A4511E6}"/>
              </a:ext>
            </a:extLst>
          </p:cNvPr>
          <p:cNvPicPr>
            <a:picLocks noChangeAspect="1"/>
          </p:cNvPicPr>
          <p:nvPr/>
        </p:nvPicPr>
        <p:blipFill>
          <a:blip r:embed="rId2"/>
          <a:stretch>
            <a:fillRect/>
          </a:stretch>
        </p:blipFill>
        <p:spPr>
          <a:xfrm>
            <a:off x="1328351" y="838895"/>
            <a:ext cx="6294223" cy="2901934"/>
          </a:xfrm>
          <a:prstGeom prst="rect">
            <a:avLst/>
          </a:prstGeom>
        </p:spPr>
      </p:pic>
      <p:sp>
        <p:nvSpPr>
          <p:cNvPr id="8" name="TextBox 7">
            <a:extLst>
              <a:ext uri="{FF2B5EF4-FFF2-40B4-BE49-F238E27FC236}">
                <a16:creationId xmlns:a16="http://schemas.microsoft.com/office/drawing/2014/main" id="{B159DD84-98C6-BA3A-47C0-BC51BC96B071}"/>
              </a:ext>
            </a:extLst>
          </p:cNvPr>
          <p:cNvSpPr txBox="1"/>
          <p:nvPr/>
        </p:nvSpPr>
        <p:spPr>
          <a:xfrm>
            <a:off x="1407724" y="3881593"/>
            <a:ext cx="6946215" cy="4035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US" sz="1200" b="1">
                <a:latin typeface="+mn-lt"/>
                <a:cs typeface="Arial"/>
              </a:rPr>
              <a:t>Heat flux  </a:t>
            </a:r>
            <a:r>
              <a:rPr lang="en-US" sz="1200">
                <a:latin typeface="+mn-lt"/>
                <a:cs typeface="Arial"/>
              </a:rPr>
              <a:t>through all tank walls (with </a:t>
            </a:r>
            <a:r>
              <a:rPr lang="en-US" sz="1200" b="1">
                <a:latin typeface="+mn-lt"/>
                <a:cs typeface="Arial"/>
              </a:rPr>
              <a:t>natural convection</a:t>
            </a:r>
            <a:r>
              <a:rPr lang="en-US" sz="1200">
                <a:latin typeface="+mn-lt"/>
                <a:cs typeface="Arial"/>
              </a:rPr>
              <a:t> BC's and </a:t>
            </a:r>
            <a:r>
              <a:rPr lang="en-US" sz="1200" b="1">
                <a:latin typeface="+mn-lt"/>
                <a:cs typeface="Arial"/>
              </a:rPr>
              <a:t>thin wall</a:t>
            </a:r>
            <a:r>
              <a:rPr lang="en-US" sz="1200">
                <a:latin typeface="+mn-lt"/>
                <a:cs typeface="Arial"/>
              </a:rPr>
              <a:t> model for 2D tank)</a:t>
            </a:r>
          </a:p>
          <a:p>
            <a:pPr>
              <a:lnSpc>
                <a:spcPct val="113999"/>
              </a:lnSpc>
            </a:pPr>
            <a:endParaRPr lang="en-US" sz="1200">
              <a:latin typeface="+mn-lt"/>
            </a:endParaRPr>
          </a:p>
        </p:txBody>
      </p:sp>
    </p:spTree>
    <p:extLst>
      <p:ext uri="{BB962C8B-B14F-4D97-AF65-F5344CB8AC3E}">
        <p14:creationId xmlns:p14="http://schemas.microsoft.com/office/powerpoint/2010/main" val="31258660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512E13-B9C8-EFE7-85F4-20C14E03D3AC}"/>
              </a:ext>
            </a:extLst>
          </p:cNvPr>
          <p:cNvSpPr>
            <a:spLocks noGrp="1"/>
          </p:cNvSpPr>
          <p:nvPr>
            <p:ph type="sldNum" sz="quarter" idx="11"/>
          </p:nvPr>
        </p:nvSpPr>
        <p:spPr/>
        <p:txBody>
          <a:bodyPr/>
          <a:lstStyle/>
          <a:p>
            <a:fld id="{CE58CB1E-F828-4F11-99E0-327109AF9DA4}" type="slidenum">
              <a:rPr lang="de-DE" smtClean="0"/>
              <a:pPr/>
              <a:t>27</a:t>
            </a:fld>
            <a:endParaRPr lang="de-DE"/>
          </a:p>
        </p:txBody>
      </p:sp>
      <p:sp>
        <p:nvSpPr>
          <p:cNvPr id="4" name="Footer Placeholder 3">
            <a:extLst>
              <a:ext uri="{FF2B5EF4-FFF2-40B4-BE49-F238E27FC236}">
                <a16:creationId xmlns:a16="http://schemas.microsoft.com/office/drawing/2014/main" id="{650008BB-7EA3-CA73-27FE-05A93E5690C9}"/>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97765A51-9236-FD2B-21A6-28BDCC20BCAC}"/>
              </a:ext>
            </a:extLst>
          </p:cNvPr>
          <p:cNvSpPr>
            <a:spLocks noGrp="1"/>
          </p:cNvSpPr>
          <p:nvPr>
            <p:ph type="title"/>
          </p:nvPr>
        </p:nvSpPr>
        <p:spPr>
          <a:xfrm>
            <a:off x="336090" y="286915"/>
            <a:ext cx="8508999" cy="380810"/>
          </a:xfrm>
        </p:spPr>
        <p:txBody>
          <a:bodyPr/>
          <a:lstStyle/>
          <a:p>
            <a:r>
              <a:rPr lang="en-US" sz="2400" b="1">
                <a:solidFill>
                  <a:schemeClr val="bg2"/>
                </a:solidFill>
                <a:cs typeface="Arial"/>
              </a:rPr>
              <a:t>Volume Fraction Contours Show Wave Formation</a:t>
            </a:r>
            <a:endParaRPr lang="en-US" sz="2400" b="1">
              <a:solidFill>
                <a:schemeClr val="bg2"/>
              </a:solidFill>
            </a:endParaRPr>
          </a:p>
        </p:txBody>
      </p:sp>
      <p:pic>
        <p:nvPicPr>
          <p:cNvPr id="7" name="WhatsApp Video 2026-02-15 at 14.43.22 (1)">
            <a:hlinkClick r:id="" action="ppaction://media"/>
            <a:extLst>
              <a:ext uri="{FF2B5EF4-FFF2-40B4-BE49-F238E27FC236}">
                <a16:creationId xmlns:a16="http://schemas.microsoft.com/office/drawing/2014/main" id="{F337DFCD-54ED-417B-7565-6B0772A9B71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35255" y="822282"/>
            <a:ext cx="6271256" cy="3676389"/>
          </a:xfrm>
          <a:prstGeom prst="rect">
            <a:avLst/>
          </a:prstGeom>
          <a:ln>
            <a:solidFill>
              <a:srgbClr val="4472C4"/>
            </a:solidFill>
          </a:ln>
        </p:spPr>
      </p:pic>
    </p:spTree>
    <p:extLst>
      <p:ext uri="{BB962C8B-B14F-4D97-AF65-F5344CB8AC3E}">
        <p14:creationId xmlns:p14="http://schemas.microsoft.com/office/powerpoint/2010/main" val="34608216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E0E2C5-1A1D-640A-87E2-80A9007085C7}"/>
              </a:ext>
            </a:extLst>
          </p:cNvPr>
          <p:cNvSpPr>
            <a:spLocks noGrp="1"/>
          </p:cNvSpPr>
          <p:nvPr>
            <p:ph type="sldNum" sz="quarter" idx="11"/>
          </p:nvPr>
        </p:nvSpPr>
        <p:spPr/>
        <p:txBody>
          <a:bodyPr/>
          <a:lstStyle/>
          <a:p>
            <a:fld id="{CE58CB1E-F828-4F11-99E0-327109AF9DA4}" type="slidenum">
              <a:rPr lang="de-DE" smtClean="0"/>
              <a:pPr/>
              <a:t>28</a:t>
            </a:fld>
            <a:endParaRPr lang="de-DE"/>
          </a:p>
        </p:txBody>
      </p:sp>
      <p:sp>
        <p:nvSpPr>
          <p:cNvPr id="4" name="Footer Placeholder 3">
            <a:extLst>
              <a:ext uri="{FF2B5EF4-FFF2-40B4-BE49-F238E27FC236}">
                <a16:creationId xmlns:a16="http://schemas.microsoft.com/office/drawing/2014/main" id="{F09313E4-2BA7-777C-B22C-18C6203BBE80}"/>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8C8FE183-6A9C-2580-FE1F-9BD1CD6A7FC7}"/>
              </a:ext>
            </a:extLst>
          </p:cNvPr>
          <p:cNvSpPr>
            <a:spLocks noGrp="1"/>
          </p:cNvSpPr>
          <p:nvPr>
            <p:ph type="title"/>
          </p:nvPr>
        </p:nvSpPr>
        <p:spPr>
          <a:xfrm>
            <a:off x="378069" y="224115"/>
            <a:ext cx="7502127" cy="788164"/>
          </a:xfrm>
        </p:spPr>
        <p:txBody>
          <a:bodyPr/>
          <a:lstStyle/>
          <a:p>
            <a:r>
              <a:rPr lang="en-US" sz="2000" b="1">
                <a:solidFill>
                  <a:schemeClr val="bg2"/>
                </a:solidFill>
                <a:cs typeface="Arial"/>
              </a:rPr>
              <a:t>With little to no change in the qualitative behavior w.r.t surrogate gas 2</a:t>
            </a:r>
          </a:p>
        </p:txBody>
      </p:sp>
      <p:pic>
        <p:nvPicPr>
          <p:cNvPr id="7" name="WhatsApp Video 2026-02-15 at 13.43.09 (1)">
            <a:hlinkClick r:id="" action="ppaction://media"/>
            <a:extLst>
              <a:ext uri="{FF2B5EF4-FFF2-40B4-BE49-F238E27FC236}">
                <a16:creationId xmlns:a16="http://schemas.microsoft.com/office/drawing/2014/main" id="{BEEE470D-CECD-3427-31DF-DDCEDF9C00D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25113" y="1198516"/>
            <a:ext cx="6059382" cy="3470232"/>
          </a:xfrm>
          <a:prstGeom prst="rect">
            <a:avLst/>
          </a:prstGeom>
        </p:spPr>
      </p:pic>
    </p:spTree>
    <p:extLst>
      <p:ext uri="{BB962C8B-B14F-4D97-AF65-F5344CB8AC3E}">
        <p14:creationId xmlns:p14="http://schemas.microsoft.com/office/powerpoint/2010/main" val="1157211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C1B63A-DCB0-5FF3-F499-15556B7B9ADB}"/>
              </a:ext>
            </a:extLst>
          </p:cNvPr>
          <p:cNvSpPr>
            <a:spLocks noGrp="1"/>
          </p:cNvSpPr>
          <p:nvPr>
            <p:ph type="sldNum" sz="quarter" idx="11"/>
          </p:nvPr>
        </p:nvSpPr>
        <p:spPr/>
        <p:txBody>
          <a:bodyPr/>
          <a:lstStyle/>
          <a:p>
            <a:fld id="{CE58CB1E-F828-4F11-99E0-327109AF9DA4}" type="slidenum">
              <a:rPr lang="de-DE" smtClean="0"/>
              <a:pPr/>
              <a:t>29</a:t>
            </a:fld>
            <a:endParaRPr lang="de-DE"/>
          </a:p>
        </p:txBody>
      </p:sp>
      <p:sp>
        <p:nvSpPr>
          <p:cNvPr id="4" name="Footer Placeholder 3">
            <a:extLst>
              <a:ext uri="{FF2B5EF4-FFF2-40B4-BE49-F238E27FC236}">
                <a16:creationId xmlns:a16="http://schemas.microsoft.com/office/drawing/2014/main" id="{0184B3D2-A08D-B50E-C912-0EAAA23EADE6}"/>
              </a:ext>
            </a:extLst>
          </p:cNvPr>
          <p:cNvSpPr>
            <a:spLocks noGrp="1"/>
          </p:cNvSpPr>
          <p:nvPr>
            <p:ph type="ftr" sz="quarter" idx="12"/>
          </p:nvPr>
        </p:nvSpPr>
        <p:spPr/>
        <p:txBody>
          <a:bodyPr/>
          <a:lstStyle/>
          <a:p>
            <a:r>
              <a:rPr lang="en-US"/>
              <a:t>Technical University of Munich, TUM | Chair of Thermodynamics | Multiphase Flows | Project Presentation  </a:t>
            </a:r>
          </a:p>
        </p:txBody>
      </p:sp>
      <p:pic>
        <p:nvPicPr>
          <p:cNvPr id="10" name="velocity surrogate gas 1">
            <a:hlinkClick r:id="" action="ppaction://media"/>
            <a:extLst>
              <a:ext uri="{FF2B5EF4-FFF2-40B4-BE49-F238E27FC236}">
                <a16:creationId xmlns:a16="http://schemas.microsoft.com/office/drawing/2014/main" id="{C2DD823E-A5D3-E885-C315-C59505F319A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30196" y="1285242"/>
            <a:ext cx="5781086" cy="3354615"/>
          </a:xfrm>
          <a:prstGeom prst="rect">
            <a:avLst/>
          </a:prstGeom>
        </p:spPr>
      </p:pic>
      <p:sp>
        <p:nvSpPr>
          <p:cNvPr id="12" name="TextBox 11">
            <a:extLst>
              <a:ext uri="{FF2B5EF4-FFF2-40B4-BE49-F238E27FC236}">
                <a16:creationId xmlns:a16="http://schemas.microsoft.com/office/drawing/2014/main" id="{53023CBC-DB52-8014-54D5-A5BAD00AFF34}"/>
              </a:ext>
            </a:extLst>
          </p:cNvPr>
          <p:cNvSpPr txBox="1"/>
          <p:nvPr/>
        </p:nvSpPr>
        <p:spPr>
          <a:xfrm>
            <a:off x="6092189" y="1371599"/>
            <a:ext cx="2729865" cy="30644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gn="just">
              <a:lnSpc>
                <a:spcPct val="114000"/>
              </a:lnSpc>
              <a:buFont typeface="Arial"/>
              <a:buChar char="•"/>
            </a:pPr>
            <a:r>
              <a:rPr lang="en-US" sz="1600">
                <a:latin typeface="+mn-lt"/>
                <a:cs typeface="Arial"/>
              </a:rPr>
              <a:t>Velocity vectors show a transient increase in magnitude upon contact with the wall.</a:t>
            </a:r>
            <a:endParaRPr lang="en-US"/>
          </a:p>
          <a:p>
            <a:pPr algn="just">
              <a:lnSpc>
                <a:spcPct val="113999"/>
              </a:lnSpc>
            </a:pPr>
            <a:endParaRPr lang="en-US" sz="1600">
              <a:latin typeface="+mn-lt"/>
              <a:cs typeface="Arial"/>
            </a:endParaRPr>
          </a:p>
          <a:p>
            <a:pPr marL="285750" indent="-285750" algn="just">
              <a:lnSpc>
                <a:spcPct val="113999"/>
              </a:lnSpc>
              <a:buFont typeface="Arial"/>
              <a:buChar char="•"/>
            </a:pPr>
            <a:r>
              <a:rPr lang="en-US" sz="1600">
                <a:latin typeface="+mn-lt"/>
                <a:cs typeface="Arial"/>
              </a:rPr>
              <a:t>Heavier and thicker phases resist more to changing velocities than lighter ones. </a:t>
            </a:r>
            <a:endParaRPr lang="en-US" sz="1600">
              <a:latin typeface="+mn-lt"/>
            </a:endParaRPr>
          </a:p>
          <a:p>
            <a:pPr marL="285750" indent="-285750">
              <a:lnSpc>
                <a:spcPct val="113999"/>
              </a:lnSpc>
              <a:buFont typeface="Arial"/>
              <a:buChar char="•"/>
            </a:pPr>
            <a:endParaRPr lang="en-US" sz="1600">
              <a:latin typeface="+mn-lt"/>
            </a:endParaRPr>
          </a:p>
          <a:p>
            <a:pPr>
              <a:lnSpc>
                <a:spcPct val="113999"/>
              </a:lnSpc>
            </a:pPr>
            <a:endParaRPr lang="en-US" sz="1600">
              <a:latin typeface="+mn-lt"/>
            </a:endParaRPr>
          </a:p>
        </p:txBody>
      </p:sp>
      <p:sp>
        <p:nvSpPr>
          <p:cNvPr id="15" name="Title 5">
            <a:extLst>
              <a:ext uri="{FF2B5EF4-FFF2-40B4-BE49-F238E27FC236}">
                <a16:creationId xmlns:a16="http://schemas.microsoft.com/office/drawing/2014/main" id="{645C5148-8EAA-B39B-9449-F52B80301697}"/>
              </a:ext>
            </a:extLst>
          </p:cNvPr>
          <p:cNvSpPr>
            <a:spLocks noGrp="1"/>
          </p:cNvSpPr>
          <p:nvPr>
            <p:ph type="title"/>
          </p:nvPr>
        </p:nvSpPr>
        <p:spPr>
          <a:xfrm>
            <a:off x="497016" y="326662"/>
            <a:ext cx="8508999" cy="380810"/>
          </a:xfrm>
        </p:spPr>
        <p:txBody>
          <a:bodyPr/>
          <a:lstStyle/>
          <a:p>
            <a:r>
              <a:rPr lang="en-US" b="1">
                <a:solidFill>
                  <a:schemeClr val="bg2"/>
                </a:solidFill>
                <a:cs typeface="Arial"/>
              </a:rPr>
              <a:t>What can we tell from the dynamic behavior?</a:t>
            </a:r>
          </a:p>
        </p:txBody>
      </p:sp>
    </p:spTree>
    <p:extLst>
      <p:ext uri="{BB962C8B-B14F-4D97-AF65-F5344CB8AC3E}">
        <p14:creationId xmlns:p14="http://schemas.microsoft.com/office/powerpoint/2010/main" val="11911248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36FBBF-59B6-2104-4AF5-5A4B42F026E8}"/>
              </a:ext>
            </a:extLst>
          </p:cNvPr>
          <p:cNvSpPr>
            <a:spLocks noGrp="1"/>
          </p:cNvSpPr>
          <p:nvPr>
            <p:ph type="sldNum" sz="quarter" idx="11"/>
          </p:nvPr>
        </p:nvSpPr>
        <p:spPr/>
        <p:txBody>
          <a:bodyPr/>
          <a:lstStyle/>
          <a:p>
            <a:fld id="{CE58CB1E-F828-4F11-99E0-327109AF9DA4}" type="slidenum">
              <a:rPr lang="de-DE" smtClean="0"/>
              <a:pPr/>
              <a:t>30</a:t>
            </a:fld>
            <a:endParaRPr lang="de-DE"/>
          </a:p>
        </p:txBody>
      </p:sp>
      <p:sp>
        <p:nvSpPr>
          <p:cNvPr id="4" name="Footer Placeholder 3">
            <a:extLst>
              <a:ext uri="{FF2B5EF4-FFF2-40B4-BE49-F238E27FC236}">
                <a16:creationId xmlns:a16="http://schemas.microsoft.com/office/drawing/2014/main" id="{95D485ED-1B76-5E19-BCA2-05FDD0C39DCE}"/>
              </a:ext>
            </a:extLst>
          </p:cNvPr>
          <p:cNvSpPr>
            <a:spLocks noGrp="1"/>
          </p:cNvSpPr>
          <p:nvPr>
            <p:ph type="ftr" sz="quarter" idx="12"/>
          </p:nvPr>
        </p:nvSpPr>
        <p:spPr/>
        <p:txBody>
          <a:bodyPr/>
          <a:lstStyle/>
          <a:p>
            <a:r>
              <a:rPr lang="en-US"/>
              <a:t>Technical University of Munich, TUM | Chair of Thermodynamics | Multiphase Flows | Project Presentation  </a:t>
            </a:r>
          </a:p>
        </p:txBody>
      </p:sp>
      <p:pic>
        <p:nvPicPr>
          <p:cNvPr id="7" name="vectors surrogate gas 2">
            <a:hlinkClick r:id="" action="ppaction://media"/>
            <a:extLst>
              <a:ext uri="{FF2B5EF4-FFF2-40B4-BE49-F238E27FC236}">
                <a16:creationId xmlns:a16="http://schemas.microsoft.com/office/drawing/2014/main" id="{7E712C67-6863-8AA7-EDE1-A74B7EFB588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12825" y="514350"/>
            <a:ext cx="7116763" cy="4114800"/>
          </a:xfrm>
          <a:prstGeom prst="rect">
            <a:avLst/>
          </a:prstGeom>
        </p:spPr>
      </p:pic>
    </p:spTree>
    <p:extLst>
      <p:ext uri="{BB962C8B-B14F-4D97-AF65-F5344CB8AC3E}">
        <p14:creationId xmlns:p14="http://schemas.microsoft.com/office/powerpoint/2010/main" val="26168997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C0B602-C712-D2D2-532C-AFAF9E8A0E2F}"/>
              </a:ext>
            </a:extLst>
          </p:cNvPr>
          <p:cNvSpPr>
            <a:spLocks noGrp="1"/>
          </p:cNvSpPr>
          <p:nvPr>
            <p:ph type="sldNum" sz="quarter" idx="11"/>
          </p:nvPr>
        </p:nvSpPr>
        <p:spPr/>
        <p:txBody>
          <a:bodyPr/>
          <a:lstStyle/>
          <a:p>
            <a:fld id="{CE58CB1E-F828-4F11-99E0-327109AF9DA4}" type="slidenum">
              <a:rPr lang="de-DE" smtClean="0"/>
              <a:pPr/>
              <a:t>31</a:t>
            </a:fld>
            <a:endParaRPr lang="de-DE"/>
          </a:p>
        </p:txBody>
      </p:sp>
      <p:sp>
        <p:nvSpPr>
          <p:cNvPr id="4" name="Footer Placeholder 3">
            <a:extLst>
              <a:ext uri="{FF2B5EF4-FFF2-40B4-BE49-F238E27FC236}">
                <a16:creationId xmlns:a16="http://schemas.microsoft.com/office/drawing/2014/main" id="{D2DE3410-E32E-714F-2898-95018722E599}"/>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AEB7DDEE-8511-C768-E3D2-0F3926369AF4}"/>
              </a:ext>
            </a:extLst>
          </p:cNvPr>
          <p:cNvSpPr>
            <a:spLocks noGrp="1"/>
          </p:cNvSpPr>
          <p:nvPr>
            <p:ph type="title"/>
          </p:nvPr>
        </p:nvSpPr>
        <p:spPr/>
        <p:txBody>
          <a:bodyPr/>
          <a:lstStyle/>
          <a:p>
            <a:r>
              <a:rPr lang="en-US" b="1">
                <a:solidFill>
                  <a:schemeClr val="bg2"/>
                </a:solidFill>
                <a:cs typeface="Arial"/>
              </a:rPr>
              <a:t>Pressure Amplifies Near Tank Walls </a:t>
            </a:r>
            <a:endParaRPr lang="en-US" b="1">
              <a:solidFill>
                <a:schemeClr val="bg2"/>
              </a:solidFill>
            </a:endParaRPr>
          </a:p>
        </p:txBody>
      </p:sp>
      <p:pic>
        <p:nvPicPr>
          <p:cNvPr id="7" name="WhatsApp Video 2026-02-15 at 13.43.08">
            <a:hlinkClick r:id="" action="ppaction://media"/>
            <a:extLst>
              <a:ext uri="{FF2B5EF4-FFF2-40B4-BE49-F238E27FC236}">
                <a16:creationId xmlns:a16="http://schemas.microsoft.com/office/drawing/2014/main" id="{CE5D1982-143E-2B60-49EF-32E80EBF02E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19925" y="901404"/>
            <a:ext cx="6118543" cy="3566160"/>
          </a:xfrm>
          <a:prstGeom prst="rect">
            <a:avLst/>
          </a:prstGeom>
        </p:spPr>
      </p:pic>
      <p:sp>
        <p:nvSpPr>
          <p:cNvPr id="8" name="TextBox 7">
            <a:extLst>
              <a:ext uri="{FF2B5EF4-FFF2-40B4-BE49-F238E27FC236}">
                <a16:creationId xmlns:a16="http://schemas.microsoft.com/office/drawing/2014/main" id="{35B6AC73-E9DC-F093-F2E7-10EF05B8111D}"/>
              </a:ext>
            </a:extLst>
          </p:cNvPr>
          <p:cNvSpPr txBox="1"/>
          <p:nvPr/>
        </p:nvSpPr>
        <p:spPr>
          <a:xfrm>
            <a:off x="7064112" y="1994423"/>
            <a:ext cx="1864298" cy="13801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just">
              <a:lnSpc>
                <a:spcPct val="114000"/>
              </a:lnSpc>
            </a:pPr>
            <a:r>
              <a:rPr lang="en-US" sz="1600">
                <a:latin typeface="+mn-lt"/>
                <a:cs typeface="Arial"/>
              </a:rPr>
              <a:t>Useful to assess structural stresses, resonance behavior, and damping effect of the gas phase!</a:t>
            </a:r>
            <a:endParaRPr lang="en-US" sz="1600">
              <a:latin typeface="+mn-lt"/>
            </a:endParaRPr>
          </a:p>
        </p:txBody>
      </p:sp>
    </p:spTree>
    <p:extLst>
      <p:ext uri="{BB962C8B-B14F-4D97-AF65-F5344CB8AC3E}">
        <p14:creationId xmlns:p14="http://schemas.microsoft.com/office/powerpoint/2010/main" val="32154723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1DEB26-D489-A5F5-7439-227A0C350AC1}"/>
              </a:ext>
            </a:extLst>
          </p:cNvPr>
          <p:cNvSpPr>
            <a:spLocks noGrp="1"/>
          </p:cNvSpPr>
          <p:nvPr>
            <p:ph type="sldNum" sz="quarter" idx="11"/>
          </p:nvPr>
        </p:nvSpPr>
        <p:spPr/>
        <p:txBody>
          <a:bodyPr/>
          <a:lstStyle/>
          <a:p>
            <a:fld id="{CE58CB1E-F828-4F11-99E0-327109AF9DA4}" type="slidenum">
              <a:rPr lang="de-DE" smtClean="0"/>
              <a:pPr/>
              <a:t>32</a:t>
            </a:fld>
            <a:endParaRPr lang="de-DE"/>
          </a:p>
        </p:txBody>
      </p:sp>
      <p:sp>
        <p:nvSpPr>
          <p:cNvPr id="4" name="Footer Placeholder 3">
            <a:extLst>
              <a:ext uri="{FF2B5EF4-FFF2-40B4-BE49-F238E27FC236}">
                <a16:creationId xmlns:a16="http://schemas.microsoft.com/office/drawing/2014/main" id="{211728FF-92F4-F6A8-6681-5FE83724C969}"/>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5" name="Text Placeholder 4">
            <a:extLst>
              <a:ext uri="{FF2B5EF4-FFF2-40B4-BE49-F238E27FC236}">
                <a16:creationId xmlns:a16="http://schemas.microsoft.com/office/drawing/2014/main" id="{8D21E38E-9788-9D45-0A67-8CE2AF1CF0E3}"/>
              </a:ext>
            </a:extLst>
          </p:cNvPr>
          <p:cNvSpPr>
            <a:spLocks noGrp="1"/>
          </p:cNvSpPr>
          <p:nvPr>
            <p:ph type="body" sz="quarter" idx="13"/>
          </p:nvPr>
        </p:nvSpPr>
        <p:spPr>
          <a:xfrm>
            <a:off x="430934" y="245109"/>
            <a:ext cx="7820067" cy="505304"/>
          </a:xfrm>
        </p:spPr>
        <p:txBody>
          <a:bodyPr/>
          <a:lstStyle/>
          <a:p>
            <a:pPr>
              <a:lnSpc>
                <a:spcPct val="113999"/>
              </a:lnSpc>
            </a:pPr>
            <a:r>
              <a:rPr lang="en-US" sz="1800" b="1">
                <a:solidFill>
                  <a:schemeClr val="bg2"/>
                </a:solidFill>
                <a:cs typeface="Arial"/>
              </a:rPr>
              <a:t>Temperature contours shows achievement of thermodynamic equilibrium inside the tank in the very first moments of total runtime</a:t>
            </a:r>
          </a:p>
          <a:p>
            <a:pPr>
              <a:lnSpc>
                <a:spcPct val="113999"/>
              </a:lnSpc>
            </a:pPr>
            <a:endParaRPr lang="en-US">
              <a:cs typeface="Arial"/>
            </a:endParaRPr>
          </a:p>
        </p:txBody>
      </p:sp>
      <p:pic>
        <p:nvPicPr>
          <p:cNvPr id="7" name="WhatsApp Video 2026-02-15 at 14.43.21">
            <a:hlinkClick r:id="" action="ppaction://media"/>
            <a:extLst>
              <a:ext uri="{FF2B5EF4-FFF2-40B4-BE49-F238E27FC236}">
                <a16:creationId xmlns:a16="http://schemas.microsoft.com/office/drawing/2014/main" id="{14699F91-F0B0-E029-CB71-72CED7D44A6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79002" y="984076"/>
            <a:ext cx="6357372" cy="3637246"/>
          </a:xfrm>
          <a:prstGeom prst="rect">
            <a:avLst/>
          </a:prstGeom>
        </p:spPr>
      </p:pic>
    </p:spTree>
    <p:extLst>
      <p:ext uri="{BB962C8B-B14F-4D97-AF65-F5344CB8AC3E}">
        <p14:creationId xmlns:p14="http://schemas.microsoft.com/office/powerpoint/2010/main" val="873981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remove"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B9985A-5510-176A-9370-E01EE6E95C89}"/>
              </a:ext>
            </a:extLst>
          </p:cNvPr>
          <p:cNvSpPr>
            <a:spLocks noGrp="1"/>
          </p:cNvSpPr>
          <p:nvPr>
            <p:ph idx="1"/>
          </p:nvPr>
        </p:nvSpPr>
        <p:spPr>
          <a:xfrm>
            <a:off x="319090" y="1660525"/>
            <a:ext cx="8508999" cy="2900515"/>
          </a:xfrm>
        </p:spPr>
        <p:txBody>
          <a:bodyPr/>
          <a:lstStyle/>
          <a:p>
            <a:pPr marL="342900" indent="-342900">
              <a:buFont typeface="Arial"/>
              <a:buChar char="•"/>
            </a:pPr>
            <a:r>
              <a:rPr lang="en-US">
                <a:cs typeface="Arial"/>
              </a:rPr>
              <a:t>Velocity describes fluid motion and momentum transfer</a:t>
            </a:r>
            <a:endParaRPr lang="en-US"/>
          </a:p>
          <a:p>
            <a:pPr marL="342900" indent="-342900">
              <a:lnSpc>
                <a:spcPct val="113999"/>
              </a:lnSpc>
              <a:buFont typeface="Arial"/>
              <a:buChar char="•"/>
            </a:pPr>
            <a:r>
              <a:rPr lang="en-US">
                <a:cs typeface="Arial"/>
              </a:rPr>
              <a:t>Volume fraction describes interface dynamics and sloshing severity </a:t>
            </a:r>
          </a:p>
          <a:p>
            <a:pPr marL="342900" indent="-342900">
              <a:lnSpc>
                <a:spcPct val="113999"/>
              </a:lnSpc>
              <a:buFont typeface="Arial"/>
              <a:buChar char="•"/>
            </a:pPr>
            <a:r>
              <a:rPr lang="en-US">
                <a:cs typeface="Arial"/>
              </a:rPr>
              <a:t>Temperature gives insight into thermal mixing and outside heat transfer</a:t>
            </a:r>
          </a:p>
          <a:p>
            <a:pPr marL="342900" indent="-342900">
              <a:lnSpc>
                <a:spcPct val="113999"/>
              </a:lnSpc>
              <a:buFont typeface="Arial"/>
              <a:buChar char="•"/>
            </a:pPr>
            <a:r>
              <a:rPr lang="en-US">
                <a:cs typeface="Arial"/>
              </a:rPr>
              <a:t>Pressure shows the fluid load distribution and transmission</a:t>
            </a:r>
          </a:p>
          <a:p>
            <a:pPr marL="342900" indent="-342900">
              <a:lnSpc>
                <a:spcPct val="113999"/>
              </a:lnSpc>
              <a:buFont typeface="Arial"/>
              <a:buChar char="•"/>
            </a:pPr>
            <a:endParaRPr lang="en-US">
              <a:cs typeface="Arial"/>
            </a:endParaRPr>
          </a:p>
          <a:p>
            <a:pPr>
              <a:lnSpc>
                <a:spcPct val="113999"/>
              </a:lnSpc>
            </a:pPr>
            <a:endParaRPr lang="en-US">
              <a:cs typeface="Arial"/>
            </a:endParaRPr>
          </a:p>
          <a:p>
            <a:pPr>
              <a:lnSpc>
                <a:spcPct val="113999"/>
              </a:lnSpc>
            </a:pPr>
            <a:r>
              <a:rPr lang="en-US">
                <a:solidFill>
                  <a:schemeClr val="bg2"/>
                </a:solidFill>
                <a:cs typeface="Arial"/>
              </a:rPr>
              <a:t>Applications of the study and possible complementary studies:</a:t>
            </a:r>
          </a:p>
          <a:p>
            <a:pPr>
              <a:lnSpc>
                <a:spcPct val="113999"/>
              </a:lnSpc>
            </a:pPr>
            <a:endParaRPr lang="en-US">
              <a:cs typeface="Arial"/>
            </a:endParaRPr>
          </a:p>
          <a:p>
            <a:pPr marL="285750" indent="-285750">
              <a:lnSpc>
                <a:spcPct val="113999"/>
              </a:lnSpc>
              <a:buFont typeface="Arial"/>
              <a:buChar char="•"/>
            </a:pPr>
            <a:r>
              <a:rPr lang="en-US">
                <a:cs typeface="Arial"/>
              </a:rPr>
              <a:t>Structural safety: Velocity and volume fraction could predict impact intensity on walls; pressure correlation: fatigue of the tank</a:t>
            </a:r>
          </a:p>
          <a:p>
            <a:pPr marL="285750" indent="-285750">
              <a:lnSpc>
                <a:spcPct val="113999"/>
              </a:lnSpc>
              <a:buFont typeface="Arial"/>
              <a:buChar char="•"/>
            </a:pPr>
            <a:r>
              <a:rPr lang="en-US">
                <a:cs typeface="Arial"/>
              </a:rPr>
              <a:t>Sloshing stability and wave resonance</a:t>
            </a:r>
          </a:p>
          <a:p>
            <a:pPr marL="285750" indent="-285750">
              <a:lnSpc>
                <a:spcPct val="113999"/>
              </a:lnSpc>
              <a:buFont typeface="Arial"/>
              <a:buChar char="•"/>
            </a:pPr>
            <a:r>
              <a:rPr lang="en-US">
                <a:cs typeface="Arial"/>
              </a:rPr>
              <a:t>Thermal mixing and stratification </a:t>
            </a:r>
          </a:p>
        </p:txBody>
      </p:sp>
      <p:sp>
        <p:nvSpPr>
          <p:cNvPr id="3" name="Slide Number Placeholder 2">
            <a:extLst>
              <a:ext uri="{FF2B5EF4-FFF2-40B4-BE49-F238E27FC236}">
                <a16:creationId xmlns:a16="http://schemas.microsoft.com/office/drawing/2014/main" id="{F9860BCB-7E79-C229-FD03-830DAAC24E95}"/>
              </a:ext>
            </a:extLst>
          </p:cNvPr>
          <p:cNvSpPr>
            <a:spLocks noGrp="1"/>
          </p:cNvSpPr>
          <p:nvPr>
            <p:ph type="sldNum" sz="quarter" idx="11"/>
          </p:nvPr>
        </p:nvSpPr>
        <p:spPr/>
        <p:txBody>
          <a:bodyPr/>
          <a:lstStyle/>
          <a:p>
            <a:fld id="{CE58CB1E-F828-4F11-99E0-327109AF9DA4}" type="slidenum">
              <a:rPr lang="de-DE" smtClean="0"/>
              <a:pPr/>
              <a:t>33</a:t>
            </a:fld>
            <a:endParaRPr lang="de-DE"/>
          </a:p>
        </p:txBody>
      </p:sp>
      <p:sp>
        <p:nvSpPr>
          <p:cNvPr id="4" name="Footer Placeholder 3">
            <a:extLst>
              <a:ext uri="{FF2B5EF4-FFF2-40B4-BE49-F238E27FC236}">
                <a16:creationId xmlns:a16="http://schemas.microsoft.com/office/drawing/2014/main" id="{12DC9BAF-6836-2759-A9FC-5959DF94B94C}"/>
              </a:ext>
            </a:extLst>
          </p:cNvPr>
          <p:cNvSpPr>
            <a:spLocks noGrp="1"/>
          </p:cNvSpPr>
          <p:nvPr>
            <p:ph type="ftr" sz="quarter" idx="12"/>
          </p:nvPr>
        </p:nvSpPr>
        <p:spPr/>
        <p:txBody>
          <a:bodyPr/>
          <a:lstStyle/>
          <a:p>
            <a:r>
              <a:rPr lang="en-US"/>
              <a:t>Technical University of Munich, TUM | Chair of Thermodynamics | Multiphase Flows | Project Presentation  </a:t>
            </a:r>
          </a:p>
        </p:txBody>
      </p:sp>
      <p:sp>
        <p:nvSpPr>
          <p:cNvPr id="5" name="Text Placeholder 4">
            <a:extLst>
              <a:ext uri="{FF2B5EF4-FFF2-40B4-BE49-F238E27FC236}">
                <a16:creationId xmlns:a16="http://schemas.microsoft.com/office/drawing/2014/main" id="{6D7CA594-E41B-8C8C-D5F5-E2FD3CEFE75F}"/>
              </a:ext>
            </a:extLst>
          </p:cNvPr>
          <p:cNvSpPr>
            <a:spLocks noGrp="1"/>
          </p:cNvSpPr>
          <p:nvPr>
            <p:ph type="body" sz="quarter" idx="13"/>
          </p:nvPr>
        </p:nvSpPr>
        <p:spPr>
          <a:xfrm>
            <a:off x="319090" y="1034635"/>
            <a:ext cx="8508999" cy="505304"/>
          </a:xfrm>
        </p:spPr>
        <p:txBody>
          <a:bodyPr/>
          <a:lstStyle/>
          <a:p>
            <a:r>
              <a:rPr lang="en-US">
                <a:solidFill>
                  <a:schemeClr val="bg2"/>
                </a:solidFill>
                <a:cs typeface="Arial"/>
              </a:rPr>
              <a:t>Together, post-processing analysis provides the multiphase thermo-fluid physics</a:t>
            </a:r>
            <a:endParaRPr lang="en-US">
              <a:solidFill>
                <a:schemeClr val="bg2"/>
              </a:solidFill>
            </a:endParaRPr>
          </a:p>
        </p:txBody>
      </p:sp>
      <p:sp>
        <p:nvSpPr>
          <p:cNvPr id="6" name="Title 5">
            <a:extLst>
              <a:ext uri="{FF2B5EF4-FFF2-40B4-BE49-F238E27FC236}">
                <a16:creationId xmlns:a16="http://schemas.microsoft.com/office/drawing/2014/main" id="{1FA8A60B-0682-975C-80A9-B343D07F6FFC}"/>
              </a:ext>
            </a:extLst>
          </p:cNvPr>
          <p:cNvSpPr>
            <a:spLocks noGrp="1"/>
          </p:cNvSpPr>
          <p:nvPr>
            <p:ph type="title"/>
          </p:nvPr>
        </p:nvSpPr>
        <p:spPr/>
        <p:txBody>
          <a:bodyPr/>
          <a:lstStyle/>
          <a:p>
            <a:r>
              <a:rPr lang="en-US" b="1">
                <a:solidFill>
                  <a:schemeClr val="bg2"/>
                </a:solidFill>
                <a:cs typeface="Arial"/>
              </a:rPr>
              <a:t>Principal remarks</a:t>
            </a:r>
            <a:endParaRPr lang="en-US" b="1">
              <a:solidFill>
                <a:schemeClr val="bg2"/>
              </a:solidFill>
            </a:endParaRPr>
          </a:p>
        </p:txBody>
      </p:sp>
    </p:spTree>
    <p:extLst>
      <p:ext uri="{BB962C8B-B14F-4D97-AF65-F5344CB8AC3E}">
        <p14:creationId xmlns:p14="http://schemas.microsoft.com/office/powerpoint/2010/main" val="3335518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1145185-3EC4-19DE-50D7-D5ABFF5B7F1F}"/>
              </a:ext>
            </a:extLst>
          </p:cNvPr>
          <p:cNvPicPr>
            <a:picLocks noChangeAspect="1"/>
          </p:cNvPicPr>
          <p:nvPr/>
        </p:nvPicPr>
        <p:blipFill>
          <a:blip r:embed="rId2"/>
          <a:srcRect t="17815" b="39304"/>
          <a:stretch>
            <a:fillRect/>
          </a:stretch>
        </p:blipFill>
        <p:spPr>
          <a:xfrm>
            <a:off x="-235" y="938283"/>
            <a:ext cx="9143980" cy="3920975"/>
          </a:xfrm>
          <a:prstGeom prst="rect">
            <a:avLst/>
          </a:prstGeom>
          <a:noFill/>
        </p:spPr>
      </p:pic>
      <p:sp>
        <p:nvSpPr>
          <p:cNvPr id="4" name="Slide Number Placeholder 3">
            <a:extLst>
              <a:ext uri="{FF2B5EF4-FFF2-40B4-BE49-F238E27FC236}">
                <a16:creationId xmlns:a16="http://schemas.microsoft.com/office/drawing/2014/main" id="{B00B1BF6-1E0F-4AD0-89BA-806F600E6D7D}"/>
              </a:ext>
            </a:extLst>
          </p:cNvPr>
          <p:cNvSpPr>
            <a:spLocks noGrp="1"/>
          </p:cNvSpPr>
          <p:nvPr>
            <p:ph type="sldNum" sz="quarter" idx="15"/>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34</a:t>
            </a:fld>
            <a:endParaRPr lang="de-DE"/>
          </a:p>
        </p:txBody>
      </p:sp>
      <p:sp>
        <p:nvSpPr>
          <p:cNvPr id="8" name="Title 7">
            <a:extLst>
              <a:ext uri="{FF2B5EF4-FFF2-40B4-BE49-F238E27FC236}">
                <a16:creationId xmlns:a16="http://schemas.microsoft.com/office/drawing/2014/main" id="{383BCFCC-C80B-C041-6F27-2E186A0BB753}"/>
              </a:ext>
            </a:extLst>
          </p:cNvPr>
          <p:cNvSpPr>
            <a:spLocks noGrp="1"/>
          </p:cNvSpPr>
          <p:nvPr>
            <p:ph type="title"/>
          </p:nvPr>
        </p:nvSpPr>
        <p:spPr>
          <a:xfrm>
            <a:off x="311162" y="293460"/>
            <a:ext cx="8508999" cy="380810"/>
          </a:xfrm>
        </p:spPr>
        <p:txBody>
          <a:bodyPr wrap="square" anchor="t">
            <a:normAutofit/>
          </a:bodyPr>
          <a:lstStyle/>
          <a:p>
            <a:r>
              <a:rPr lang="en-US" b="1">
                <a:solidFill>
                  <a:schemeClr val="bg2"/>
                </a:solidFill>
              </a:rPr>
              <a:t>Mesh Independence Study</a:t>
            </a:r>
          </a:p>
        </p:txBody>
      </p:sp>
      <p:sp>
        <p:nvSpPr>
          <p:cNvPr id="7" name="Footer Placeholder 6">
            <a:extLst>
              <a:ext uri="{FF2B5EF4-FFF2-40B4-BE49-F238E27FC236}">
                <a16:creationId xmlns:a16="http://schemas.microsoft.com/office/drawing/2014/main" id="{CCD6BBB5-C5A4-4DFC-6933-962E215BBDDC}"/>
              </a:ext>
            </a:extLst>
          </p:cNvPr>
          <p:cNvSpPr>
            <a:spLocks noGrp="1"/>
          </p:cNvSpPr>
          <p:nvPr>
            <p:ph type="ftr" sz="quarter" idx="16"/>
          </p:nvPr>
        </p:nvSpPr>
        <p:spPr/>
        <p:txBody>
          <a:bodyPr/>
          <a:lstStyle/>
          <a:p>
            <a:r>
              <a:rPr lang="en-US"/>
              <a:t>Technical University of Munich, TUM | Chair of Thermodynamics | Multiphase Flows | Project Presentation  </a:t>
            </a:r>
          </a:p>
        </p:txBody>
      </p:sp>
    </p:spTree>
    <p:extLst>
      <p:ext uri="{BB962C8B-B14F-4D97-AF65-F5344CB8AC3E}">
        <p14:creationId xmlns:p14="http://schemas.microsoft.com/office/powerpoint/2010/main" val="32651075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27C6-5437-4716-8D42-1A0480492AC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3BD74-960C-262E-A971-C62FADACEEE0}"/>
              </a:ext>
            </a:extLst>
          </p:cNvPr>
          <p:cNvSpPr>
            <a:spLocks noGrp="1"/>
          </p:cNvSpPr>
          <p:nvPr>
            <p:ph type="sldNum" sz="quarter" idx="15"/>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35</a:t>
            </a:fld>
            <a:endParaRPr lang="de-DE"/>
          </a:p>
        </p:txBody>
      </p:sp>
      <p:sp>
        <p:nvSpPr>
          <p:cNvPr id="8" name="Title 7">
            <a:extLst>
              <a:ext uri="{FF2B5EF4-FFF2-40B4-BE49-F238E27FC236}">
                <a16:creationId xmlns:a16="http://schemas.microsoft.com/office/drawing/2014/main" id="{6A84DC1C-6EB1-7494-4378-095FEF46B85D}"/>
              </a:ext>
            </a:extLst>
          </p:cNvPr>
          <p:cNvSpPr>
            <a:spLocks noGrp="1"/>
          </p:cNvSpPr>
          <p:nvPr>
            <p:ph type="title"/>
          </p:nvPr>
        </p:nvSpPr>
        <p:spPr>
          <a:xfrm>
            <a:off x="422674" y="375236"/>
            <a:ext cx="8508999" cy="380810"/>
          </a:xfrm>
        </p:spPr>
        <p:txBody>
          <a:bodyPr wrap="square" anchor="t">
            <a:normAutofit/>
          </a:bodyPr>
          <a:lstStyle/>
          <a:p>
            <a:r>
              <a:rPr lang="en-US" b="1">
                <a:solidFill>
                  <a:schemeClr val="bg2"/>
                </a:solidFill>
              </a:rPr>
              <a:t>What is Mesh Independence?</a:t>
            </a:r>
          </a:p>
        </p:txBody>
      </p:sp>
      <p:sp>
        <p:nvSpPr>
          <p:cNvPr id="7" name="Footer Placeholder 6">
            <a:extLst>
              <a:ext uri="{FF2B5EF4-FFF2-40B4-BE49-F238E27FC236}">
                <a16:creationId xmlns:a16="http://schemas.microsoft.com/office/drawing/2014/main" id="{53B60134-C042-737A-2853-44F0C0E05E7D}"/>
              </a:ext>
            </a:extLst>
          </p:cNvPr>
          <p:cNvSpPr>
            <a:spLocks noGrp="1"/>
          </p:cNvSpPr>
          <p:nvPr>
            <p:ph type="ftr" sz="quarter" idx="16"/>
          </p:nvPr>
        </p:nvSpPr>
        <p:spPr/>
        <p:txBody>
          <a:bodyPr/>
          <a:lstStyle/>
          <a:p>
            <a:r>
              <a:rPr lang="en-US"/>
              <a:t>Technical University of Munich, TUM | Chair of Thermodynamics | Multiphase Flows | Project Presentation  </a:t>
            </a:r>
          </a:p>
        </p:txBody>
      </p:sp>
      <p:sp>
        <p:nvSpPr>
          <p:cNvPr id="2" name="TextBox 1">
            <a:extLst>
              <a:ext uri="{FF2B5EF4-FFF2-40B4-BE49-F238E27FC236}">
                <a16:creationId xmlns:a16="http://schemas.microsoft.com/office/drawing/2014/main" id="{CF0369DE-85F2-26E5-082D-0BE7EF8231C8}"/>
              </a:ext>
            </a:extLst>
          </p:cNvPr>
          <p:cNvSpPr txBox="1"/>
          <p:nvPr/>
        </p:nvSpPr>
        <p:spPr>
          <a:xfrm>
            <a:off x="788275" y="1497724"/>
            <a:ext cx="5719312" cy="176535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GB" sz="1600">
                <a:latin typeface="+mn-lt"/>
              </a:rPr>
              <a:t>CFD solutions depend on mesh resolution</a:t>
            </a:r>
            <a:endParaRPr lang="en-US"/>
          </a:p>
          <a:p>
            <a:pPr marL="285750" indent="-285750">
              <a:buFont typeface="Arial"/>
              <a:buChar char="•"/>
            </a:pPr>
            <a:r>
              <a:rPr lang="en-GB" sz="1600">
                <a:latin typeface="+mn-lt"/>
                <a:cs typeface="Arial"/>
              </a:rPr>
              <a:t>Coarse mesh : faster but less accurate</a:t>
            </a:r>
            <a:endParaRPr lang="en-GB">
              <a:cs typeface="Arial"/>
            </a:endParaRPr>
          </a:p>
          <a:p>
            <a:pPr marL="285750" indent="-285750">
              <a:buFont typeface="Arial"/>
              <a:buChar char="•"/>
            </a:pPr>
            <a:r>
              <a:rPr lang="en-GB" sz="1600">
                <a:latin typeface="+mn-lt"/>
                <a:cs typeface="Arial"/>
              </a:rPr>
              <a:t>Fine mesh : more accurate but expensive</a:t>
            </a:r>
            <a:endParaRPr lang="en-GB">
              <a:cs typeface="Arial"/>
            </a:endParaRPr>
          </a:p>
          <a:p>
            <a:pPr marL="285750" indent="-285750">
              <a:buFont typeface="Arial"/>
              <a:buChar char="•"/>
            </a:pPr>
            <a:r>
              <a:rPr lang="en-GB" sz="1600">
                <a:latin typeface="+mn-lt"/>
                <a:cs typeface="Arial"/>
              </a:rPr>
              <a:t>Need to find a compromise</a:t>
            </a:r>
          </a:p>
          <a:p>
            <a:pPr marL="285750" indent="-285750">
              <a:buFont typeface="Arial"/>
              <a:buChar char="•"/>
            </a:pPr>
            <a:r>
              <a:rPr lang="en-GB" sz="1600">
                <a:latin typeface="+mn-lt"/>
                <a:cs typeface="Arial"/>
              </a:rPr>
              <a:t>Mesh independence ensures accuracy, numerical stability, and reliable results</a:t>
            </a:r>
            <a:endParaRPr lang="en-GB">
              <a:cs typeface="Arial"/>
            </a:endParaRPr>
          </a:p>
          <a:p>
            <a:pPr marL="342900" indent="-342900" algn="l">
              <a:lnSpc>
                <a:spcPct val="113999"/>
              </a:lnSpc>
              <a:buFont typeface="Arial"/>
              <a:buChar char="•"/>
            </a:pPr>
            <a:endParaRPr lang="en-GB" sz="1600">
              <a:latin typeface="+mn-lt"/>
            </a:endParaRPr>
          </a:p>
        </p:txBody>
      </p:sp>
    </p:spTree>
    <p:extLst>
      <p:ext uri="{BB962C8B-B14F-4D97-AF65-F5344CB8AC3E}">
        <p14:creationId xmlns:p14="http://schemas.microsoft.com/office/powerpoint/2010/main" val="41288964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45929"/>
            <a:ext cx="8478479" cy="548640"/>
          </a:xfrm>
          <a:prstGeom prst="rect">
            <a:avLst/>
          </a:prstGeom>
          <a:noFill/>
          <a:ln/>
        </p:spPr>
        <p:txBody>
          <a:bodyPr wrap="square" lIns="0" tIns="0" rIns="0" bIns="0" rtlCol="0" anchor="ctr"/>
          <a:lstStyle/>
          <a:p>
            <a:pPr marL="0" indent="0">
              <a:buNone/>
            </a:pPr>
            <a:r>
              <a:rPr lang="en-US" sz="2500" b="1">
                <a:solidFill>
                  <a:schemeClr val="bg2"/>
                </a:solidFill>
                <a:latin typeface="+mj-lt"/>
                <a:ea typeface="+mj-ea"/>
                <a:cs typeface="+mj-cs"/>
              </a:rPr>
              <a:t>Why</a:t>
            </a:r>
            <a:r>
              <a:rPr lang="en-US" sz="2500" b="1">
                <a:solidFill>
                  <a:srgbClr val="1E2761"/>
                </a:solidFill>
                <a:latin typeface="Arial"/>
                <a:cs typeface="Arial"/>
              </a:rPr>
              <a:t> </a:t>
            </a:r>
            <a:r>
              <a:rPr lang="en-US" sz="2500" b="1">
                <a:solidFill>
                  <a:schemeClr val="bg2"/>
                </a:solidFill>
                <a:latin typeface="+mj-lt"/>
                <a:ea typeface="+mj-ea"/>
                <a:cs typeface="+mj-cs"/>
              </a:rPr>
              <a:t>Mesh Independence Study?</a:t>
            </a:r>
          </a:p>
        </p:txBody>
      </p:sp>
      <p:sp>
        <p:nvSpPr>
          <p:cNvPr id="3" name="Shape 1"/>
          <p:cNvSpPr/>
          <p:nvPr/>
        </p:nvSpPr>
        <p:spPr>
          <a:xfrm>
            <a:off x="731520" y="1325880"/>
            <a:ext cx="365760" cy="365760"/>
          </a:xfrm>
          <a:prstGeom prst="ellipse">
            <a:avLst/>
          </a:prstGeom>
          <a:solidFill>
            <a:srgbClr val="CADCFC"/>
          </a:solidFill>
          <a:ln/>
        </p:spPr>
        <p:txBody>
          <a:bodyPr/>
          <a:lstStyle/>
          <a:p>
            <a:endParaRPr lang="en-US"/>
          </a:p>
        </p:txBody>
      </p:sp>
      <p:sp>
        <p:nvSpPr>
          <p:cNvPr id="4" name="Text 2"/>
          <p:cNvSpPr/>
          <p:nvPr/>
        </p:nvSpPr>
        <p:spPr>
          <a:xfrm>
            <a:off x="731520" y="1325880"/>
            <a:ext cx="3657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5" name="Text 3"/>
          <p:cNvSpPr/>
          <p:nvPr/>
        </p:nvSpPr>
        <p:spPr>
          <a:xfrm>
            <a:off x="1280160" y="1325880"/>
            <a:ext cx="3200400" cy="228600"/>
          </a:xfrm>
          <a:prstGeom prst="rect">
            <a:avLst/>
          </a:prstGeom>
          <a:noFill/>
          <a:ln/>
        </p:spPr>
        <p:txBody>
          <a:bodyPr wrap="square" rtlCol="0" anchor="ctr"/>
          <a:lstStyle/>
          <a:p>
            <a:pPr marL="0" indent="0">
              <a:buNone/>
            </a:pPr>
            <a:r>
              <a:rPr lang="en-US" sz="1600" b="1">
                <a:solidFill>
                  <a:srgbClr val="333333"/>
                </a:solidFill>
              </a:rPr>
              <a:t>Grid Resolution Impact</a:t>
            </a:r>
            <a:endParaRPr lang="en-US" sz="1600"/>
          </a:p>
        </p:txBody>
      </p:sp>
      <p:sp>
        <p:nvSpPr>
          <p:cNvPr id="6" name="Text 4"/>
          <p:cNvSpPr/>
          <p:nvPr/>
        </p:nvSpPr>
        <p:spPr>
          <a:xfrm>
            <a:off x="1280160" y="1572768"/>
            <a:ext cx="3200400" cy="274320"/>
          </a:xfrm>
          <a:prstGeom prst="rect">
            <a:avLst/>
          </a:prstGeom>
          <a:noFill/>
          <a:ln/>
        </p:spPr>
        <p:txBody>
          <a:bodyPr wrap="square" rtlCol="0" anchor="ctr"/>
          <a:lstStyle/>
          <a:p>
            <a:pPr marL="0" indent="0">
              <a:buNone/>
            </a:pPr>
            <a:r>
              <a:rPr lang="en-US" sz="1200">
                <a:solidFill>
                  <a:srgbClr val="333333"/>
                </a:solidFill>
              </a:rPr>
              <a:t>CFD solutions depend on mesh fineness</a:t>
            </a:r>
            <a:endParaRPr lang="en-US" sz="1200"/>
          </a:p>
        </p:txBody>
      </p:sp>
      <p:sp>
        <p:nvSpPr>
          <p:cNvPr id="7" name="Shape 5"/>
          <p:cNvSpPr/>
          <p:nvPr/>
        </p:nvSpPr>
        <p:spPr>
          <a:xfrm>
            <a:off x="731520" y="2148840"/>
            <a:ext cx="365760" cy="365760"/>
          </a:xfrm>
          <a:prstGeom prst="ellipse">
            <a:avLst/>
          </a:prstGeom>
          <a:solidFill>
            <a:srgbClr val="CADCFC"/>
          </a:solidFill>
          <a:ln/>
        </p:spPr>
        <p:txBody>
          <a:bodyPr/>
          <a:lstStyle/>
          <a:p>
            <a:endParaRPr lang="en-US"/>
          </a:p>
        </p:txBody>
      </p:sp>
      <p:sp>
        <p:nvSpPr>
          <p:cNvPr id="8" name="Text 6"/>
          <p:cNvSpPr/>
          <p:nvPr/>
        </p:nvSpPr>
        <p:spPr>
          <a:xfrm>
            <a:off x="731520" y="2148840"/>
            <a:ext cx="3657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9" name="Text 7"/>
          <p:cNvSpPr/>
          <p:nvPr/>
        </p:nvSpPr>
        <p:spPr>
          <a:xfrm>
            <a:off x="1280160" y="2148840"/>
            <a:ext cx="3200400" cy="228600"/>
          </a:xfrm>
          <a:prstGeom prst="rect">
            <a:avLst/>
          </a:prstGeom>
          <a:noFill/>
          <a:ln/>
        </p:spPr>
        <p:txBody>
          <a:bodyPr wrap="square" rtlCol="0" anchor="ctr"/>
          <a:lstStyle/>
          <a:p>
            <a:pPr marL="0" indent="0">
              <a:buNone/>
            </a:pPr>
            <a:r>
              <a:rPr lang="en-US" sz="1600" b="1">
                <a:solidFill>
                  <a:srgbClr val="333333"/>
                </a:solidFill>
              </a:rPr>
              <a:t>Discretization Error</a:t>
            </a:r>
            <a:endParaRPr lang="en-US" sz="1600"/>
          </a:p>
        </p:txBody>
      </p:sp>
      <p:sp>
        <p:nvSpPr>
          <p:cNvPr id="10" name="Text 8"/>
          <p:cNvSpPr/>
          <p:nvPr/>
        </p:nvSpPr>
        <p:spPr>
          <a:xfrm>
            <a:off x="1280160" y="2395728"/>
            <a:ext cx="3200400" cy="274320"/>
          </a:xfrm>
          <a:prstGeom prst="rect">
            <a:avLst/>
          </a:prstGeom>
          <a:noFill/>
          <a:ln/>
        </p:spPr>
        <p:txBody>
          <a:bodyPr wrap="square" rtlCol="0" anchor="ctr"/>
          <a:lstStyle/>
          <a:p>
            <a:pPr marL="0" indent="0">
              <a:buNone/>
            </a:pPr>
            <a:r>
              <a:rPr lang="en-US" sz="1200">
                <a:solidFill>
                  <a:srgbClr val="333333"/>
                </a:solidFill>
              </a:rPr>
              <a:t>Spatial discretization introduces numerical errors</a:t>
            </a:r>
            <a:endParaRPr lang="en-US" sz="1200"/>
          </a:p>
        </p:txBody>
      </p:sp>
      <p:sp>
        <p:nvSpPr>
          <p:cNvPr id="11" name="Shape 9"/>
          <p:cNvSpPr/>
          <p:nvPr/>
        </p:nvSpPr>
        <p:spPr>
          <a:xfrm>
            <a:off x="731520" y="2971800"/>
            <a:ext cx="365760" cy="365760"/>
          </a:xfrm>
          <a:prstGeom prst="ellipse">
            <a:avLst/>
          </a:prstGeom>
          <a:solidFill>
            <a:srgbClr val="CADCFC"/>
          </a:solidFill>
          <a:ln/>
        </p:spPr>
        <p:txBody>
          <a:bodyPr/>
          <a:lstStyle/>
          <a:p>
            <a:endParaRPr lang="en-US"/>
          </a:p>
        </p:txBody>
      </p:sp>
      <p:sp>
        <p:nvSpPr>
          <p:cNvPr id="12" name="Text 10"/>
          <p:cNvSpPr/>
          <p:nvPr/>
        </p:nvSpPr>
        <p:spPr>
          <a:xfrm>
            <a:off x="731520" y="2971800"/>
            <a:ext cx="3657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3" name="Text 11"/>
          <p:cNvSpPr/>
          <p:nvPr/>
        </p:nvSpPr>
        <p:spPr>
          <a:xfrm>
            <a:off x="1280160" y="2971800"/>
            <a:ext cx="3200400" cy="228600"/>
          </a:xfrm>
          <a:prstGeom prst="rect">
            <a:avLst/>
          </a:prstGeom>
          <a:noFill/>
          <a:ln/>
        </p:spPr>
        <p:txBody>
          <a:bodyPr wrap="square" rtlCol="0" anchor="ctr"/>
          <a:lstStyle/>
          <a:p>
            <a:pPr marL="0" indent="0">
              <a:buNone/>
            </a:pPr>
            <a:r>
              <a:rPr lang="en-US" sz="1600" b="1">
                <a:solidFill>
                  <a:srgbClr val="333333"/>
                </a:solidFill>
              </a:rPr>
              <a:t>Solution Verification</a:t>
            </a:r>
            <a:endParaRPr lang="en-US" sz="1600"/>
          </a:p>
        </p:txBody>
      </p:sp>
      <p:sp>
        <p:nvSpPr>
          <p:cNvPr id="14" name="Text 12"/>
          <p:cNvSpPr/>
          <p:nvPr/>
        </p:nvSpPr>
        <p:spPr>
          <a:xfrm>
            <a:off x="1280160" y="3218688"/>
            <a:ext cx="3200400" cy="274320"/>
          </a:xfrm>
          <a:prstGeom prst="rect">
            <a:avLst/>
          </a:prstGeom>
          <a:noFill/>
          <a:ln/>
        </p:spPr>
        <p:txBody>
          <a:bodyPr wrap="square" rtlCol="0" anchor="ctr"/>
          <a:lstStyle/>
          <a:p>
            <a:pPr marL="0" indent="0">
              <a:buNone/>
            </a:pPr>
            <a:r>
              <a:rPr lang="en-US" sz="1200">
                <a:solidFill>
                  <a:srgbClr val="333333"/>
                </a:solidFill>
              </a:rPr>
              <a:t>Ensures results are mesh-independent</a:t>
            </a:r>
            <a:endParaRPr lang="en-US" sz="1200"/>
          </a:p>
        </p:txBody>
      </p:sp>
      <p:sp>
        <p:nvSpPr>
          <p:cNvPr id="15" name="Shape 13"/>
          <p:cNvSpPr/>
          <p:nvPr/>
        </p:nvSpPr>
        <p:spPr>
          <a:xfrm>
            <a:off x="731520" y="3794760"/>
            <a:ext cx="365760" cy="365760"/>
          </a:xfrm>
          <a:prstGeom prst="ellipse">
            <a:avLst/>
          </a:prstGeom>
          <a:solidFill>
            <a:srgbClr val="CADCFC"/>
          </a:solidFill>
          <a:ln/>
        </p:spPr>
        <p:txBody>
          <a:bodyPr/>
          <a:lstStyle/>
          <a:p>
            <a:endParaRPr lang="en-US"/>
          </a:p>
        </p:txBody>
      </p:sp>
      <p:sp>
        <p:nvSpPr>
          <p:cNvPr id="16" name="Text 14"/>
          <p:cNvSpPr/>
          <p:nvPr/>
        </p:nvSpPr>
        <p:spPr>
          <a:xfrm>
            <a:off x="731520" y="3794760"/>
            <a:ext cx="3657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7" name="Text 15"/>
          <p:cNvSpPr/>
          <p:nvPr/>
        </p:nvSpPr>
        <p:spPr>
          <a:xfrm>
            <a:off x="1280160" y="3794760"/>
            <a:ext cx="3200400" cy="228600"/>
          </a:xfrm>
          <a:prstGeom prst="rect">
            <a:avLst/>
          </a:prstGeom>
          <a:noFill/>
          <a:ln/>
        </p:spPr>
        <p:txBody>
          <a:bodyPr wrap="square" rtlCol="0" anchor="ctr"/>
          <a:lstStyle/>
          <a:p>
            <a:pPr marL="0" indent="0">
              <a:buNone/>
            </a:pPr>
            <a:r>
              <a:rPr lang="en-US" sz="1600" b="1">
                <a:solidFill>
                  <a:srgbClr val="333333"/>
                </a:solidFill>
              </a:rPr>
              <a:t>Optimal Balance</a:t>
            </a:r>
            <a:endParaRPr lang="en-US" sz="1600"/>
          </a:p>
        </p:txBody>
      </p:sp>
      <p:sp>
        <p:nvSpPr>
          <p:cNvPr id="18" name="Text 16"/>
          <p:cNvSpPr/>
          <p:nvPr/>
        </p:nvSpPr>
        <p:spPr>
          <a:xfrm>
            <a:off x="1280160" y="4041648"/>
            <a:ext cx="3200400" cy="274320"/>
          </a:xfrm>
          <a:prstGeom prst="rect">
            <a:avLst/>
          </a:prstGeom>
          <a:noFill/>
          <a:ln/>
        </p:spPr>
        <p:txBody>
          <a:bodyPr wrap="square" rtlCol="0" anchor="ctr"/>
          <a:lstStyle/>
          <a:p>
            <a:pPr marL="0" indent="0">
              <a:buNone/>
            </a:pPr>
            <a:r>
              <a:rPr lang="en-US" sz="1200">
                <a:solidFill>
                  <a:srgbClr val="333333"/>
                </a:solidFill>
              </a:rPr>
              <a:t>Find accuracy vs. computational cost trade-off</a:t>
            </a:r>
            <a:endParaRPr lang="en-US" sz="1200"/>
          </a:p>
        </p:txBody>
      </p:sp>
      <p:sp>
        <p:nvSpPr>
          <p:cNvPr id="19" name="Shape 17"/>
          <p:cNvSpPr/>
          <p:nvPr/>
        </p:nvSpPr>
        <p:spPr>
          <a:xfrm>
            <a:off x="5029200" y="1188720"/>
            <a:ext cx="3657600" cy="3458496"/>
          </a:xfrm>
          <a:prstGeom prst="rect">
            <a:avLst/>
          </a:prstGeom>
          <a:solidFill>
            <a:srgbClr val="F8F9FA"/>
          </a:solidFill>
          <a:ln w="25400">
            <a:solidFill>
              <a:srgbClr val="CADCFC"/>
            </a:solidFill>
            <a:prstDash val="solid"/>
          </a:ln>
        </p:spPr>
        <p:txBody>
          <a:bodyPr/>
          <a:lstStyle/>
          <a:p>
            <a:endParaRPr lang="en-US"/>
          </a:p>
        </p:txBody>
      </p:sp>
      <p:sp>
        <p:nvSpPr>
          <p:cNvPr id="20" name="Text 18"/>
          <p:cNvSpPr/>
          <p:nvPr/>
        </p:nvSpPr>
        <p:spPr>
          <a:xfrm>
            <a:off x="5294302" y="1343209"/>
            <a:ext cx="3108960" cy="365760"/>
          </a:xfrm>
          <a:prstGeom prst="rect">
            <a:avLst/>
          </a:prstGeom>
          <a:noFill/>
          <a:ln/>
        </p:spPr>
        <p:txBody>
          <a:bodyPr wrap="square" rtlCol="0" anchor="ctr"/>
          <a:lstStyle/>
          <a:p>
            <a:pPr marL="0" indent="0">
              <a:buNone/>
            </a:pPr>
            <a:r>
              <a:rPr lang="en-US" sz="1800" b="1">
                <a:solidFill>
                  <a:srgbClr val="1E2761"/>
                </a:solidFill>
              </a:rPr>
              <a:t>Objective:</a:t>
            </a:r>
            <a:endParaRPr lang="en-US" sz="1800"/>
          </a:p>
        </p:txBody>
      </p:sp>
      <p:sp>
        <p:nvSpPr>
          <p:cNvPr id="21" name="Text 19"/>
          <p:cNvSpPr/>
          <p:nvPr/>
        </p:nvSpPr>
        <p:spPr>
          <a:xfrm>
            <a:off x="5294302" y="2035867"/>
            <a:ext cx="3108960" cy="2103120"/>
          </a:xfrm>
          <a:prstGeom prst="rect">
            <a:avLst/>
          </a:prstGeom>
          <a:noFill/>
          <a:ln/>
        </p:spPr>
        <p:txBody>
          <a:bodyPr wrap="square" rtlCol="0" anchor="ctr"/>
          <a:lstStyle/>
          <a:p>
            <a:pPr marL="0" indent="0">
              <a:lnSpc>
                <a:spcPts val="2200"/>
              </a:lnSpc>
              <a:buNone/>
            </a:pPr>
            <a:r>
              <a:rPr lang="en-US" sz="1300">
                <a:solidFill>
                  <a:srgbClr val="333333"/>
                </a:solidFill>
              </a:rPr>
              <a:t>Verify grid-converged solution
</a:t>
            </a:r>
            <a:endParaRPr lang="en-US" sz="1300"/>
          </a:p>
          <a:p>
            <a:pPr marL="0" indent="0">
              <a:lnSpc>
                <a:spcPts val="2200"/>
              </a:lnSpc>
              <a:buNone/>
            </a:pPr>
            <a:r>
              <a:rPr lang="en-US" sz="1300">
                <a:solidFill>
                  <a:srgbClr val="333333"/>
                </a:solidFill>
              </a:rPr>
              <a:t>Convergence achieved when:
</a:t>
            </a:r>
            <a:endParaRPr lang="en-US" sz="1300"/>
          </a:p>
          <a:p>
            <a:pPr marL="0" indent="0">
              <a:lnSpc>
                <a:spcPts val="2200"/>
              </a:lnSpc>
              <a:buNone/>
            </a:pPr>
            <a:r>
              <a:rPr lang="en-US" sz="1300">
                <a:solidFill>
                  <a:srgbClr val="333333"/>
                </a:solidFill>
              </a:rPr>
              <a:t>• Error &lt; 2% between meshes
</a:t>
            </a:r>
            <a:endParaRPr lang="en-US" sz="1300"/>
          </a:p>
          <a:p>
            <a:pPr marL="0" indent="0">
              <a:lnSpc>
                <a:spcPts val="2200"/>
              </a:lnSpc>
              <a:buNone/>
            </a:pPr>
            <a:r>
              <a:rPr lang="en-US" sz="1300">
                <a:solidFill>
                  <a:srgbClr val="333333"/>
                </a:solidFill>
              </a:rPr>
              <a:t>• Results stable with refinement
</a:t>
            </a:r>
            <a:endParaRPr lang="en-US" sz="1300"/>
          </a:p>
          <a:p>
            <a:pPr marL="0" indent="0">
              <a:lnSpc>
                <a:spcPts val="2200"/>
              </a:lnSpc>
              <a:buNone/>
            </a:pPr>
            <a:r>
              <a:rPr lang="en-US" sz="1300">
                <a:solidFill>
                  <a:srgbClr val="333333"/>
                </a:solidFill>
              </a:rPr>
              <a:t>• Quality metrics satisfied</a:t>
            </a:r>
            <a:endParaRPr lang="en-US" sz="1300"/>
          </a:p>
        </p:txBody>
      </p:sp>
    </p:spTree>
    <p:extLst>
      <p:ext uri="{BB962C8B-B14F-4D97-AF65-F5344CB8AC3E}">
        <p14:creationId xmlns:p14="http://schemas.microsoft.com/office/powerpoint/2010/main" val="254994270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0773" y="236712"/>
            <a:ext cx="8229600" cy="548640"/>
          </a:xfrm>
          <a:prstGeom prst="rect">
            <a:avLst/>
          </a:prstGeom>
          <a:noFill/>
          <a:ln/>
        </p:spPr>
        <p:txBody>
          <a:bodyPr wrap="square" lIns="0" tIns="0" rIns="0" bIns="0" rtlCol="0" anchor="ctr"/>
          <a:lstStyle/>
          <a:p>
            <a:r>
              <a:rPr lang="en-US" sz="2500" b="1">
                <a:solidFill>
                  <a:schemeClr val="bg2"/>
                </a:solidFill>
                <a:latin typeface="+mj-lt"/>
                <a:ea typeface="+mj-ea"/>
                <a:cs typeface="+mj-cs"/>
              </a:rPr>
              <a:t>Methodology</a:t>
            </a:r>
          </a:p>
        </p:txBody>
      </p:sp>
      <p:sp>
        <p:nvSpPr>
          <p:cNvPr id="3" name="Text 1"/>
          <p:cNvSpPr/>
          <p:nvPr/>
        </p:nvSpPr>
        <p:spPr>
          <a:xfrm>
            <a:off x="842133" y="920668"/>
            <a:ext cx="3657600" cy="365760"/>
          </a:xfrm>
          <a:prstGeom prst="rect">
            <a:avLst/>
          </a:prstGeom>
          <a:noFill/>
          <a:ln/>
        </p:spPr>
        <p:txBody>
          <a:bodyPr wrap="square" rtlCol="0" anchor="ctr"/>
          <a:lstStyle/>
          <a:p>
            <a:pPr marL="0" indent="0">
              <a:buNone/>
            </a:pPr>
            <a:r>
              <a:rPr lang="en-US" sz="2000" b="1">
                <a:solidFill>
                  <a:srgbClr val="1E2761"/>
                </a:solidFill>
              </a:rPr>
              <a:t>Convergence Parameter</a:t>
            </a:r>
            <a:endParaRPr lang="en-US" sz="2000"/>
          </a:p>
        </p:txBody>
      </p:sp>
      <p:sp>
        <p:nvSpPr>
          <p:cNvPr id="4" name="Shape 2"/>
          <p:cNvSpPr/>
          <p:nvPr/>
        </p:nvSpPr>
        <p:spPr>
          <a:xfrm>
            <a:off x="648561" y="1285691"/>
            <a:ext cx="3676035" cy="2551471"/>
          </a:xfrm>
          <a:prstGeom prst="rect">
            <a:avLst/>
          </a:prstGeom>
          <a:solidFill>
            <a:srgbClr val="F8F9FA"/>
          </a:solidFill>
          <a:ln w="25400">
            <a:solidFill>
              <a:srgbClr val="CADCFC"/>
            </a:solidFill>
            <a:prstDash val="solid"/>
          </a:ln>
        </p:spPr>
        <p:txBody>
          <a:bodyPr/>
          <a:lstStyle/>
          <a:p>
            <a:endParaRPr lang="en-US"/>
          </a:p>
        </p:txBody>
      </p:sp>
      <p:sp>
        <p:nvSpPr>
          <p:cNvPr id="5" name="Text 3"/>
          <p:cNvSpPr/>
          <p:nvPr/>
        </p:nvSpPr>
        <p:spPr>
          <a:xfrm>
            <a:off x="849876" y="1367912"/>
            <a:ext cx="3291840" cy="856882"/>
          </a:xfrm>
          <a:prstGeom prst="rect">
            <a:avLst/>
          </a:prstGeom>
          <a:noFill/>
          <a:ln/>
        </p:spPr>
        <p:txBody>
          <a:bodyPr wrap="square" lIns="91440" tIns="45720" rIns="91440" bIns="45720" rtlCol="0" anchor="t"/>
          <a:lstStyle/>
          <a:p>
            <a:pPr marL="0" indent="0">
              <a:buNone/>
            </a:pPr>
            <a:r>
              <a:rPr lang="en-US" sz="1400" b="1">
                <a:solidFill>
                  <a:srgbClr val="333333"/>
                </a:solidFill>
                <a:latin typeface="Arial"/>
                <a:cs typeface="Arial"/>
              </a:rPr>
              <a:t>Monitored Variable:
</a:t>
            </a:r>
            <a:endParaRPr lang="en-US" sz="1400">
              <a:latin typeface="Arial"/>
              <a:cs typeface="Arial"/>
            </a:endParaRPr>
          </a:p>
          <a:p>
            <a:pPr marL="0" indent="0">
              <a:buNone/>
            </a:pPr>
            <a:r>
              <a:rPr lang="en-US" sz="1300">
                <a:solidFill>
                  <a:srgbClr val="333333"/>
                </a:solidFill>
                <a:latin typeface="Arial"/>
                <a:cs typeface="Arial"/>
              </a:rPr>
              <a:t>Average Upper Wall Pressure
</a:t>
            </a:r>
          </a:p>
          <a:p>
            <a:pPr marL="0" indent="0">
              <a:buNone/>
            </a:pPr>
            <a:r>
              <a:rPr lang="en-US" sz="1400" b="1">
                <a:solidFill>
                  <a:srgbClr val="333333"/>
                </a:solidFill>
                <a:latin typeface="Arial"/>
                <a:cs typeface="Arial"/>
              </a:rPr>
              <a:t>Reason for Selection:
</a:t>
            </a:r>
            <a:endParaRPr lang="en-US" sz="1400">
              <a:latin typeface="Arial"/>
              <a:cs typeface="Arial"/>
            </a:endParaRPr>
          </a:p>
          <a:p>
            <a:pPr marL="0" indent="0">
              <a:buNone/>
            </a:pPr>
            <a:r>
              <a:rPr lang="en-US" sz="1200">
                <a:solidFill>
                  <a:srgbClr val="333333"/>
                </a:solidFill>
                <a:latin typeface="Arial"/>
                <a:cs typeface="Arial"/>
              </a:rPr>
              <a:t>• Direct indicator of sloshing impact
</a:t>
            </a:r>
            <a:endParaRPr lang="en-US" sz="1400">
              <a:latin typeface="Arial"/>
              <a:cs typeface="Arial"/>
            </a:endParaRPr>
          </a:p>
          <a:p>
            <a:pPr marL="0" indent="0">
              <a:buNone/>
            </a:pPr>
            <a:r>
              <a:rPr lang="en-US" sz="1200">
                <a:solidFill>
                  <a:srgbClr val="333333"/>
                </a:solidFill>
                <a:latin typeface="Arial"/>
                <a:cs typeface="Arial"/>
              </a:rPr>
              <a:t>• Critical for structural analysis
</a:t>
            </a:r>
            <a:endParaRPr lang="en-US" sz="1400">
              <a:latin typeface="Arial"/>
              <a:cs typeface="Arial"/>
            </a:endParaRPr>
          </a:p>
          <a:p>
            <a:pPr marL="0" indent="0">
              <a:buNone/>
            </a:pPr>
            <a:r>
              <a:rPr lang="en-US" sz="1200">
                <a:solidFill>
                  <a:srgbClr val="333333"/>
                </a:solidFill>
              </a:rPr>
              <a:t>• Sensitive to mesh resolution</a:t>
            </a:r>
            <a:endParaRPr lang="en-US" sz="1400"/>
          </a:p>
        </p:txBody>
      </p:sp>
      <p:sp>
        <p:nvSpPr>
          <p:cNvPr id="6" name="Text 4"/>
          <p:cNvSpPr/>
          <p:nvPr/>
        </p:nvSpPr>
        <p:spPr>
          <a:xfrm>
            <a:off x="4985324" y="994410"/>
            <a:ext cx="3657600" cy="365760"/>
          </a:xfrm>
          <a:prstGeom prst="rect">
            <a:avLst/>
          </a:prstGeom>
          <a:noFill/>
          <a:ln/>
        </p:spPr>
        <p:txBody>
          <a:bodyPr wrap="square" rtlCol="0" anchor="ctr"/>
          <a:lstStyle/>
          <a:p>
            <a:pPr marL="0" indent="0">
              <a:buNone/>
            </a:pPr>
            <a:r>
              <a:rPr lang="en-US" sz="2000" b="1">
                <a:solidFill>
                  <a:srgbClr val="1E2761"/>
                </a:solidFill>
              </a:rPr>
              <a:t>Convergence Criterion</a:t>
            </a:r>
            <a:endParaRPr lang="en-US" sz="2000"/>
          </a:p>
        </p:txBody>
      </p:sp>
      <p:sp>
        <p:nvSpPr>
          <p:cNvPr id="7" name="Shape 5"/>
          <p:cNvSpPr/>
          <p:nvPr/>
        </p:nvSpPr>
        <p:spPr>
          <a:xfrm>
            <a:off x="4773315" y="1534570"/>
            <a:ext cx="3657600" cy="1371600"/>
          </a:xfrm>
          <a:prstGeom prst="rect">
            <a:avLst/>
          </a:prstGeom>
          <a:solidFill>
            <a:srgbClr val="CADCFC">
              <a:alpha val="20000"/>
            </a:srgbClr>
          </a:solidFill>
          <a:ln/>
        </p:spPr>
        <p:txBody>
          <a:bodyPr/>
          <a:lstStyle/>
          <a:p>
            <a:endParaRPr lang="en-US"/>
          </a:p>
        </p:txBody>
      </p:sp>
      <p:sp>
        <p:nvSpPr>
          <p:cNvPr id="8" name="Text 6"/>
          <p:cNvSpPr/>
          <p:nvPr/>
        </p:nvSpPr>
        <p:spPr>
          <a:xfrm>
            <a:off x="4983848" y="1560749"/>
            <a:ext cx="3245752" cy="1098016"/>
          </a:xfrm>
          <a:prstGeom prst="rect">
            <a:avLst/>
          </a:prstGeom>
          <a:noFill/>
          <a:ln/>
        </p:spPr>
        <p:txBody>
          <a:bodyPr wrap="square" lIns="91440" tIns="45720" rIns="91440" bIns="45720" rtlCol="0" anchor="ctr"/>
          <a:lstStyle/>
          <a:p>
            <a:pPr marL="0" indent="0" algn="ctr">
              <a:buNone/>
            </a:pPr>
            <a:r>
              <a:rPr lang="en-US" sz="1800" b="1">
                <a:solidFill>
                  <a:srgbClr val="1E2761"/>
                </a:solidFill>
                <a:latin typeface="Arial"/>
                <a:cs typeface="Arial"/>
              </a:rPr>
              <a:t>Error &lt; 2</a:t>
            </a:r>
            <a:r>
              <a:rPr lang="en-US" b="1">
                <a:solidFill>
                  <a:srgbClr val="1E2761"/>
                </a:solidFill>
                <a:latin typeface="Arial"/>
                <a:cs typeface="Arial"/>
              </a:rPr>
              <a:t>%</a:t>
            </a:r>
            <a:endParaRPr lang="en-US" sz="1800">
              <a:solidFill>
                <a:srgbClr val="333333"/>
              </a:solidFill>
              <a:latin typeface="Arial"/>
              <a:cs typeface="Arial"/>
            </a:endParaRPr>
          </a:p>
          <a:p>
            <a:pPr marL="0" indent="0" algn="ctr">
              <a:buNone/>
            </a:pPr>
            <a:r>
              <a:rPr lang="en-US" sz="1300">
                <a:solidFill>
                  <a:srgbClr val="333333"/>
                </a:solidFill>
                <a:latin typeface="Arial"/>
                <a:cs typeface="Arial"/>
              </a:rPr>
              <a:t>Relative error between consecutive
</a:t>
            </a:r>
            <a:endParaRPr lang="en-US" sz="1800">
              <a:latin typeface="Arial"/>
              <a:cs typeface="Arial"/>
            </a:endParaRPr>
          </a:p>
          <a:p>
            <a:pPr marL="0" indent="0" algn="ctr">
              <a:buNone/>
            </a:pPr>
            <a:r>
              <a:rPr lang="en-US" sz="1300">
                <a:solidFill>
                  <a:srgbClr val="333333"/>
                </a:solidFill>
              </a:rPr>
              <a:t>mesh refinements</a:t>
            </a:r>
            <a:endParaRPr lang="en-US" sz="1800"/>
          </a:p>
        </p:txBody>
      </p:sp>
      <p:sp>
        <p:nvSpPr>
          <p:cNvPr id="9" name="Text 7"/>
          <p:cNvSpPr/>
          <p:nvPr/>
        </p:nvSpPr>
        <p:spPr>
          <a:xfrm>
            <a:off x="648560" y="4037740"/>
            <a:ext cx="2307017" cy="365760"/>
          </a:xfrm>
          <a:prstGeom prst="rect">
            <a:avLst/>
          </a:prstGeom>
          <a:noFill/>
          <a:ln/>
        </p:spPr>
        <p:txBody>
          <a:bodyPr wrap="square" rtlCol="0" anchor="ctr"/>
          <a:lstStyle/>
          <a:p>
            <a:pPr marL="0" indent="0">
              <a:buNone/>
            </a:pPr>
            <a:r>
              <a:rPr lang="en-US" sz="2000" b="1">
                <a:solidFill>
                  <a:srgbClr val="1E2761"/>
                </a:solidFill>
              </a:rPr>
              <a:t>Analysis Process</a:t>
            </a:r>
            <a:endParaRPr lang="en-US" sz="2000"/>
          </a:p>
        </p:txBody>
      </p:sp>
      <p:sp>
        <p:nvSpPr>
          <p:cNvPr id="10" name="Shape 8"/>
          <p:cNvSpPr/>
          <p:nvPr/>
        </p:nvSpPr>
        <p:spPr>
          <a:xfrm>
            <a:off x="1188720" y="4522593"/>
            <a:ext cx="1645920" cy="457200"/>
          </a:xfrm>
          <a:prstGeom prst="rect">
            <a:avLst/>
          </a:prstGeom>
          <a:solidFill>
            <a:srgbClr val="1E2761"/>
          </a:solidFill>
          <a:ln/>
        </p:spPr>
        <p:txBody>
          <a:bodyPr/>
          <a:lstStyle/>
          <a:p>
            <a:endParaRPr lang="en-US"/>
          </a:p>
        </p:txBody>
      </p:sp>
      <p:sp>
        <p:nvSpPr>
          <p:cNvPr id="11" name="Text 9"/>
          <p:cNvSpPr/>
          <p:nvPr/>
        </p:nvSpPr>
        <p:spPr>
          <a:xfrm>
            <a:off x="1114978" y="4522593"/>
            <a:ext cx="1645920" cy="457200"/>
          </a:xfrm>
          <a:prstGeom prst="rect">
            <a:avLst/>
          </a:prstGeom>
          <a:noFill/>
          <a:ln/>
        </p:spPr>
        <p:txBody>
          <a:bodyPr wrap="square" rtlCol="0" anchor="ctr"/>
          <a:lstStyle/>
          <a:p>
            <a:pPr marL="0" indent="0" algn="ctr">
              <a:buNone/>
            </a:pPr>
            <a:r>
              <a:rPr lang="en-US" sz="1100" b="1">
                <a:solidFill>
                  <a:srgbClr val="FFFFFF"/>
                </a:solidFill>
              </a:rPr>
              <a:t>1. Create Meshes</a:t>
            </a:r>
            <a:endParaRPr lang="en-US" sz="1100"/>
          </a:p>
        </p:txBody>
      </p:sp>
      <p:sp>
        <p:nvSpPr>
          <p:cNvPr id="12" name="Text 10"/>
          <p:cNvSpPr/>
          <p:nvPr/>
        </p:nvSpPr>
        <p:spPr>
          <a:xfrm>
            <a:off x="2834271" y="4522593"/>
            <a:ext cx="274320" cy="457200"/>
          </a:xfrm>
          <a:prstGeom prst="rect">
            <a:avLst/>
          </a:prstGeom>
          <a:noFill/>
          <a:ln/>
        </p:spPr>
        <p:txBody>
          <a:bodyPr wrap="square" rtlCol="0" anchor="ctr"/>
          <a:lstStyle/>
          <a:p>
            <a:pPr marL="0" indent="0" algn="ctr">
              <a:buNone/>
            </a:pPr>
            <a:r>
              <a:rPr lang="en-US" sz="1800">
                <a:solidFill>
                  <a:srgbClr val="1E2761"/>
                </a:solidFill>
              </a:rPr>
              <a:t>→</a:t>
            </a:r>
            <a:endParaRPr lang="en-US" sz="1800"/>
          </a:p>
        </p:txBody>
      </p:sp>
      <p:sp>
        <p:nvSpPr>
          <p:cNvPr id="13" name="Shape 11"/>
          <p:cNvSpPr/>
          <p:nvPr/>
        </p:nvSpPr>
        <p:spPr>
          <a:xfrm>
            <a:off x="3154680" y="4522593"/>
            <a:ext cx="1645920" cy="457200"/>
          </a:xfrm>
          <a:prstGeom prst="rect">
            <a:avLst/>
          </a:prstGeom>
          <a:solidFill>
            <a:srgbClr val="1E2761"/>
          </a:solidFill>
          <a:ln/>
        </p:spPr>
        <p:txBody>
          <a:bodyPr/>
          <a:lstStyle/>
          <a:p>
            <a:endParaRPr lang="en-US"/>
          </a:p>
        </p:txBody>
      </p:sp>
      <p:sp>
        <p:nvSpPr>
          <p:cNvPr id="14" name="Text 12"/>
          <p:cNvSpPr/>
          <p:nvPr/>
        </p:nvSpPr>
        <p:spPr>
          <a:xfrm>
            <a:off x="3108591" y="4522593"/>
            <a:ext cx="1645920" cy="457200"/>
          </a:xfrm>
          <a:prstGeom prst="rect">
            <a:avLst/>
          </a:prstGeom>
          <a:noFill/>
          <a:ln/>
        </p:spPr>
        <p:txBody>
          <a:bodyPr wrap="square" rtlCol="0" anchor="ctr"/>
          <a:lstStyle/>
          <a:p>
            <a:pPr marL="0" indent="0" algn="ctr">
              <a:buNone/>
            </a:pPr>
            <a:r>
              <a:rPr lang="en-US" sz="1100" b="1">
                <a:solidFill>
                  <a:srgbClr val="FFFFFF"/>
                </a:solidFill>
              </a:rPr>
              <a:t>2. Run Simulations</a:t>
            </a:r>
            <a:endParaRPr lang="en-US" sz="1100"/>
          </a:p>
        </p:txBody>
      </p:sp>
      <p:sp>
        <p:nvSpPr>
          <p:cNvPr id="15" name="Text 13"/>
          <p:cNvSpPr/>
          <p:nvPr/>
        </p:nvSpPr>
        <p:spPr>
          <a:xfrm>
            <a:off x="4846320" y="4522593"/>
            <a:ext cx="274320" cy="457200"/>
          </a:xfrm>
          <a:prstGeom prst="rect">
            <a:avLst/>
          </a:prstGeom>
          <a:noFill/>
          <a:ln/>
        </p:spPr>
        <p:txBody>
          <a:bodyPr wrap="square" rtlCol="0" anchor="ctr"/>
          <a:lstStyle/>
          <a:p>
            <a:pPr marL="0" indent="0" algn="ctr">
              <a:buNone/>
            </a:pPr>
            <a:r>
              <a:rPr lang="en-US" sz="1800">
                <a:solidFill>
                  <a:srgbClr val="1E2761"/>
                </a:solidFill>
              </a:rPr>
              <a:t>→</a:t>
            </a:r>
            <a:endParaRPr lang="en-US" sz="1800"/>
          </a:p>
        </p:txBody>
      </p:sp>
      <p:sp>
        <p:nvSpPr>
          <p:cNvPr id="16" name="Shape 14"/>
          <p:cNvSpPr/>
          <p:nvPr/>
        </p:nvSpPr>
        <p:spPr>
          <a:xfrm>
            <a:off x="5175946" y="4522593"/>
            <a:ext cx="1645920" cy="457200"/>
          </a:xfrm>
          <a:prstGeom prst="rect">
            <a:avLst/>
          </a:prstGeom>
          <a:solidFill>
            <a:srgbClr val="1E2761"/>
          </a:solidFill>
          <a:ln/>
        </p:spPr>
        <p:txBody>
          <a:bodyPr/>
          <a:lstStyle/>
          <a:p>
            <a:endParaRPr lang="en-US"/>
          </a:p>
        </p:txBody>
      </p:sp>
      <p:sp>
        <p:nvSpPr>
          <p:cNvPr id="17" name="Text 15"/>
          <p:cNvSpPr/>
          <p:nvPr/>
        </p:nvSpPr>
        <p:spPr>
          <a:xfrm>
            <a:off x="5120640" y="4522593"/>
            <a:ext cx="1645920" cy="457200"/>
          </a:xfrm>
          <a:prstGeom prst="rect">
            <a:avLst/>
          </a:prstGeom>
          <a:noFill/>
          <a:ln/>
        </p:spPr>
        <p:txBody>
          <a:bodyPr wrap="square" rtlCol="0" anchor="ctr"/>
          <a:lstStyle/>
          <a:p>
            <a:pPr marL="0" indent="0" algn="ctr">
              <a:buNone/>
            </a:pPr>
            <a:r>
              <a:rPr lang="en-US" sz="1100" b="1">
                <a:solidFill>
                  <a:srgbClr val="FFFFFF"/>
                </a:solidFill>
              </a:rPr>
              <a:t>3. Extract Pressure</a:t>
            </a:r>
            <a:endParaRPr lang="en-US" sz="1100"/>
          </a:p>
        </p:txBody>
      </p:sp>
      <p:sp>
        <p:nvSpPr>
          <p:cNvPr id="18" name="Text 16"/>
          <p:cNvSpPr/>
          <p:nvPr/>
        </p:nvSpPr>
        <p:spPr>
          <a:xfrm>
            <a:off x="6812280" y="4522593"/>
            <a:ext cx="274320" cy="457200"/>
          </a:xfrm>
          <a:prstGeom prst="rect">
            <a:avLst/>
          </a:prstGeom>
          <a:noFill/>
          <a:ln/>
        </p:spPr>
        <p:txBody>
          <a:bodyPr wrap="square" rtlCol="0" anchor="ctr"/>
          <a:lstStyle/>
          <a:p>
            <a:pPr marL="0" indent="0" algn="ctr">
              <a:buNone/>
            </a:pPr>
            <a:r>
              <a:rPr lang="en-US" sz="1800">
                <a:solidFill>
                  <a:srgbClr val="1E2761"/>
                </a:solidFill>
              </a:rPr>
              <a:t>→</a:t>
            </a:r>
            <a:endParaRPr lang="en-US" sz="1800"/>
          </a:p>
        </p:txBody>
      </p:sp>
      <p:sp>
        <p:nvSpPr>
          <p:cNvPr id="19" name="Shape 17"/>
          <p:cNvSpPr/>
          <p:nvPr/>
        </p:nvSpPr>
        <p:spPr>
          <a:xfrm>
            <a:off x="7086600" y="4522593"/>
            <a:ext cx="1645920" cy="457200"/>
          </a:xfrm>
          <a:prstGeom prst="rect">
            <a:avLst/>
          </a:prstGeom>
          <a:solidFill>
            <a:srgbClr val="1E2761"/>
          </a:solidFill>
          <a:ln/>
        </p:spPr>
        <p:txBody>
          <a:bodyPr/>
          <a:lstStyle/>
          <a:p>
            <a:endParaRPr lang="en-US"/>
          </a:p>
        </p:txBody>
      </p:sp>
      <p:sp>
        <p:nvSpPr>
          <p:cNvPr id="20" name="Text 18"/>
          <p:cNvSpPr/>
          <p:nvPr/>
        </p:nvSpPr>
        <p:spPr>
          <a:xfrm>
            <a:off x="7086600" y="4522593"/>
            <a:ext cx="1645920" cy="457200"/>
          </a:xfrm>
          <a:prstGeom prst="rect">
            <a:avLst/>
          </a:prstGeom>
          <a:noFill/>
          <a:ln/>
        </p:spPr>
        <p:txBody>
          <a:bodyPr wrap="square" rtlCol="0" anchor="ctr"/>
          <a:lstStyle/>
          <a:p>
            <a:pPr marL="0" indent="0" algn="ctr">
              <a:buNone/>
            </a:pPr>
            <a:r>
              <a:rPr lang="en-US" sz="1100" b="1">
                <a:solidFill>
                  <a:srgbClr val="FFFFFF"/>
                </a:solidFill>
              </a:rPr>
              <a:t>4. Calculate Error</a:t>
            </a:r>
            <a:endParaRPr lang="en-US" sz="1100"/>
          </a:p>
        </p:txBody>
      </p:sp>
    </p:spTree>
    <p:extLst>
      <p:ext uri="{BB962C8B-B14F-4D97-AF65-F5344CB8AC3E}">
        <p14:creationId xmlns:p14="http://schemas.microsoft.com/office/powerpoint/2010/main" val="1087958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313CC46-88B6-7B01-E003-A3E4B75D5941}"/>
              </a:ext>
            </a:extLst>
          </p:cNvPr>
          <p:cNvPicPr>
            <a:picLocks noChangeAspect="1"/>
          </p:cNvPicPr>
          <p:nvPr/>
        </p:nvPicPr>
        <p:blipFill>
          <a:blip r:embed="rId2"/>
          <a:stretch>
            <a:fillRect/>
          </a:stretch>
        </p:blipFill>
        <p:spPr>
          <a:xfrm>
            <a:off x="312664" y="1291499"/>
            <a:ext cx="4954903" cy="2744473"/>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5D64ECBB-3A13-41FA-B2A9-1DDCCDE02EBB}"/>
              </a:ext>
            </a:extLst>
          </p:cNvPr>
          <p:cNvSpPr>
            <a:spLocks noGrp="1"/>
          </p:cNvSpPr>
          <p:nvPr>
            <p:ph type="sldNum" sz="quarter" idx="11"/>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38</a:t>
            </a:fld>
            <a:endParaRPr lang="de-DE"/>
          </a:p>
        </p:txBody>
      </p:sp>
      <p:sp>
        <p:nvSpPr>
          <p:cNvPr id="4" name="Footer Placeholder 3">
            <a:extLst>
              <a:ext uri="{FF2B5EF4-FFF2-40B4-BE49-F238E27FC236}">
                <a16:creationId xmlns:a16="http://schemas.microsoft.com/office/drawing/2014/main" id="{53D935A0-38F6-4399-8C60-AAFF1B191BA6}"/>
              </a:ext>
            </a:extLst>
          </p:cNvPr>
          <p:cNvSpPr>
            <a:spLocks noGrp="1"/>
          </p:cNvSpPr>
          <p:nvPr>
            <p:ph type="ftr" sz="quarter" idx="12"/>
          </p:nvPr>
        </p:nvSpPr>
        <p:spPr>
          <a:xfrm>
            <a:off x="311162" y="4854985"/>
            <a:ext cx="6464280" cy="273844"/>
          </a:xfrm>
        </p:spPr>
        <p:txBody>
          <a:bodyPr anchor="ctr">
            <a:normAutofit fontScale="92500"/>
          </a:bodyPr>
          <a:lstStyle/>
          <a:p>
            <a:pPr>
              <a:spcAft>
                <a:spcPts val="600"/>
              </a:spcAft>
            </a:pPr>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C929B571-C654-47E4-837F-169518A85D27}"/>
              </a:ext>
            </a:extLst>
          </p:cNvPr>
          <p:cNvSpPr>
            <a:spLocks noGrp="1"/>
          </p:cNvSpPr>
          <p:nvPr>
            <p:ph type="title"/>
          </p:nvPr>
        </p:nvSpPr>
        <p:spPr>
          <a:xfrm>
            <a:off x="311162" y="293460"/>
            <a:ext cx="8508999" cy="380810"/>
          </a:xfrm>
        </p:spPr>
        <p:txBody>
          <a:bodyPr wrap="square" anchor="t">
            <a:normAutofit fontScale="90000"/>
          </a:bodyPr>
          <a:lstStyle/>
          <a:p>
            <a:r>
              <a:rPr lang="en-US" sz="2800" b="1">
                <a:solidFill>
                  <a:schemeClr val="bg2"/>
                </a:solidFill>
                <a:latin typeface="Arial"/>
                <a:ea typeface="Calibri"/>
                <a:cs typeface="Arial"/>
              </a:rPr>
              <a:t>Highly Coarse Mesh</a:t>
            </a:r>
            <a:endParaRPr lang="de-DE" sz="2800">
              <a:solidFill>
                <a:schemeClr val="bg2"/>
              </a:solidFill>
              <a:latin typeface="Arial"/>
              <a:ea typeface="Calibri"/>
              <a:cs typeface="Arial"/>
            </a:endParaRPr>
          </a:p>
          <a:p>
            <a:br>
              <a:rPr lang="de-DE"/>
            </a:br>
            <a:endParaRPr lang="de-DE">
              <a:latin typeface="Calibri"/>
              <a:ea typeface="Calibri"/>
              <a:cs typeface="Arial"/>
            </a:endParaRPr>
          </a:p>
        </p:txBody>
      </p:sp>
      <p:pic>
        <p:nvPicPr>
          <p:cNvPr id="11" name="Picture 10" descr="A screenshot of a computer&#10;&#10;AI-generated content may be incorrect.">
            <a:extLst>
              <a:ext uri="{FF2B5EF4-FFF2-40B4-BE49-F238E27FC236}">
                <a16:creationId xmlns:a16="http://schemas.microsoft.com/office/drawing/2014/main" id="{FBA2B3B2-39F6-7973-9FC4-0634D207AD8D}"/>
              </a:ext>
            </a:extLst>
          </p:cNvPr>
          <p:cNvPicPr>
            <a:picLocks noChangeAspect="1"/>
          </p:cNvPicPr>
          <p:nvPr/>
        </p:nvPicPr>
        <p:blipFill>
          <a:blip r:embed="rId3"/>
          <a:srcRect t="45355" r="-408" b="-547"/>
          <a:stretch>
            <a:fillRect/>
          </a:stretch>
        </p:blipFill>
        <p:spPr>
          <a:xfrm>
            <a:off x="5411184" y="2161189"/>
            <a:ext cx="3410012" cy="997014"/>
          </a:xfrm>
          <a:prstGeom prst="rect">
            <a:avLst/>
          </a:prstGeom>
        </p:spPr>
      </p:pic>
      <p:pic>
        <p:nvPicPr>
          <p:cNvPr id="12" name="Picture 11" descr="A screenshot of a data&#10;&#10;AI-generated content may be incorrect.">
            <a:extLst>
              <a:ext uri="{FF2B5EF4-FFF2-40B4-BE49-F238E27FC236}">
                <a16:creationId xmlns:a16="http://schemas.microsoft.com/office/drawing/2014/main" id="{182D5B98-9118-DC07-B9AF-B2E50EB824AE}"/>
              </a:ext>
            </a:extLst>
          </p:cNvPr>
          <p:cNvPicPr>
            <a:picLocks noChangeAspect="1"/>
          </p:cNvPicPr>
          <p:nvPr/>
        </p:nvPicPr>
        <p:blipFill>
          <a:blip r:embed="rId4"/>
          <a:srcRect l="4174" t="44068" r="642" b="-565"/>
          <a:stretch>
            <a:fillRect/>
          </a:stretch>
        </p:blipFill>
        <p:spPr>
          <a:xfrm>
            <a:off x="5421038" y="918836"/>
            <a:ext cx="3312012" cy="98813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34012D4C-ADC1-1A3A-931C-419FE867A1EB}"/>
              </a:ext>
            </a:extLst>
          </p:cNvPr>
          <p:cNvPicPr>
            <a:picLocks noChangeAspect="1"/>
          </p:cNvPicPr>
          <p:nvPr/>
        </p:nvPicPr>
        <p:blipFill>
          <a:blip r:embed="rId5"/>
          <a:srcRect l="2096" t="-231" r="-2040" b="1306"/>
          <a:stretch>
            <a:fillRect/>
          </a:stretch>
        </p:blipFill>
        <p:spPr>
          <a:xfrm>
            <a:off x="5422893" y="3570232"/>
            <a:ext cx="3413158" cy="901175"/>
          </a:xfrm>
          <a:prstGeom prst="rect">
            <a:avLst/>
          </a:prstGeom>
        </p:spPr>
      </p:pic>
    </p:spTree>
    <p:extLst>
      <p:ext uri="{BB962C8B-B14F-4D97-AF65-F5344CB8AC3E}">
        <p14:creationId xmlns:p14="http://schemas.microsoft.com/office/powerpoint/2010/main" val="20165082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7F4E7EC-F401-E58C-5DBB-B87E4618FC1F}"/>
              </a:ext>
            </a:extLst>
          </p:cNvPr>
          <p:cNvPicPr>
            <a:picLocks noGrp="1" noChangeAspect="1"/>
          </p:cNvPicPr>
          <p:nvPr>
            <p:ph type="pic" sz="quarter" idx="14"/>
          </p:nvPr>
        </p:nvPicPr>
        <p:blipFill>
          <a:blip r:embed="rId2"/>
          <a:srcRect l="9631" t="11885" r="9836" b="4098"/>
          <a:stretch>
            <a:fillRect/>
          </a:stretch>
        </p:blipFill>
        <p:spPr>
          <a:xfrm>
            <a:off x="307267" y="1429446"/>
            <a:ext cx="4783949" cy="2557628"/>
          </a:xfrm>
          <a:prstGeom prst="rect">
            <a:avLst/>
          </a:prstGeom>
        </p:spPr>
      </p:pic>
      <p:sp>
        <p:nvSpPr>
          <p:cNvPr id="3" name="Slide Number Placeholder 2">
            <a:extLst>
              <a:ext uri="{FF2B5EF4-FFF2-40B4-BE49-F238E27FC236}">
                <a16:creationId xmlns:a16="http://schemas.microsoft.com/office/drawing/2014/main" id="{EDFCB050-B11E-43DD-A1F4-F46936124ADA}"/>
              </a:ext>
            </a:extLst>
          </p:cNvPr>
          <p:cNvSpPr>
            <a:spLocks noGrp="1"/>
          </p:cNvSpPr>
          <p:nvPr>
            <p:ph type="sldNum" sz="quarter" idx="15"/>
          </p:nvPr>
        </p:nvSpPr>
        <p:spPr/>
        <p:txBody>
          <a:bodyPr/>
          <a:lstStyle/>
          <a:p>
            <a:fld id="{CE58CB1E-F828-4F11-99E0-327109AF9DA4}" type="slidenum">
              <a:rPr lang="de-DE" smtClean="0"/>
              <a:pPr/>
              <a:t>39</a:t>
            </a:fld>
            <a:endParaRPr lang="de-DE"/>
          </a:p>
        </p:txBody>
      </p:sp>
      <p:sp>
        <p:nvSpPr>
          <p:cNvPr id="4" name="Footer Placeholder 3">
            <a:extLst>
              <a:ext uri="{FF2B5EF4-FFF2-40B4-BE49-F238E27FC236}">
                <a16:creationId xmlns:a16="http://schemas.microsoft.com/office/drawing/2014/main" id="{6047DB3A-5C7D-4BCC-AA09-623DDED6A453}"/>
              </a:ext>
            </a:extLst>
          </p:cNvPr>
          <p:cNvSpPr>
            <a:spLocks noGrp="1"/>
          </p:cNvSpPr>
          <p:nvPr>
            <p:ph type="ftr" sz="quarter" idx="16"/>
          </p:nvPr>
        </p:nvSpPr>
        <p:spPr/>
        <p:txBody>
          <a:bodyPr/>
          <a:lstStyle/>
          <a:p>
            <a:r>
              <a:rPr lang="en-US"/>
              <a:t>Technical University of Munich, TUM | Chair of Thermodynamics | Multiphase Flows | Project Presentation  </a:t>
            </a:r>
          </a:p>
        </p:txBody>
      </p:sp>
      <p:sp>
        <p:nvSpPr>
          <p:cNvPr id="5" name="Title 4">
            <a:extLst>
              <a:ext uri="{FF2B5EF4-FFF2-40B4-BE49-F238E27FC236}">
                <a16:creationId xmlns:a16="http://schemas.microsoft.com/office/drawing/2014/main" id="{FD152465-AF3D-42CF-A0ED-5D1FC584AD1F}"/>
              </a:ext>
            </a:extLst>
          </p:cNvPr>
          <p:cNvSpPr>
            <a:spLocks noGrp="1"/>
          </p:cNvSpPr>
          <p:nvPr>
            <p:ph type="title"/>
          </p:nvPr>
        </p:nvSpPr>
        <p:spPr>
          <a:xfrm>
            <a:off x="311162" y="293460"/>
            <a:ext cx="8508999" cy="791179"/>
          </a:xfrm>
        </p:spPr>
        <p:txBody>
          <a:bodyPr/>
          <a:lstStyle/>
          <a:p>
            <a:r>
              <a:rPr lang="en-US" b="1">
                <a:solidFill>
                  <a:schemeClr val="bg2"/>
                </a:solidFill>
                <a:cs typeface="Arial"/>
              </a:rPr>
              <a:t>Coarse Mesh</a:t>
            </a:r>
            <a:endParaRPr lang="de-DE">
              <a:cs typeface="Arial"/>
            </a:endParaRPr>
          </a:p>
          <a:p>
            <a:endParaRPr lang="de-DE">
              <a:cs typeface="Arial"/>
            </a:endParaRPr>
          </a:p>
        </p:txBody>
      </p:sp>
      <p:pic>
        <p:nvPicPr>
          <p:cNvPr id="7" name="Picture 6" descr="A screenshot of a computer&#10;&#10;AI-generated content may be incorrect.">
            <a:extLst>
              <a:ext uri="{FF2B5EF4-FFF2-40B4-BE49-F238E27FC236}">
                <a16:creationId xmlns:a16="http://schemas.microsoft.com/office/drawing/2014/main" id="{0B09D4EE-884B-B14D-B9C5-830E256B80A8}"/>
              </a:ext>
            </a:extLst>
          </p:cNvPr>
          <p:cNvPicPr>
            <a:picLocks noChangeAspect="1"/>
          </p:cNvPicPr>
          <p:nvPr/>
        </p:nvPicPr>
        <p:blipFill>
          <a:blip r:embed="rId3"/>
          <a:srcRect l="2108" t="44429" r="-2410" b="-716"/>
          <a:stretch>
            <a:fillRect/>
          </a:stretch>
        </p:blipFill>
        <p:spPr>
          <a:xfrm>
            <a:off x="5212638" y="1283576"/>
            <a:ext cx="3281861" cy="92881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D198D044-F81D-7056-835C-B5E4142A5764}"/>
              </a:ext>
            </a:extLst>
          </p:cNvPr>
          <p:cNvPicPr>
            <a:picLocks noChangeAspect="1"/>
          </p:cNvPicPr>
          <p:nvPr/>
        </p:nvPicPr>
        <p:blipFill>
          <a:blip r:embed="rId4"/>
          <a:srcRect l="3614" t="43573" r="-301" b="-459"/>
          <a:stretch>
            <a:fillRect/>
          </a:stretch>
        </p:blipFill>
        <p:spPr>
          <a:xfrm>
            <a:off x="5271758" y="2394388"/>
            <a:ext cx="3172172" cy="939068"/>
          </a:xfrm>
          <a:prstGeom prst="rect">
            <a:avLst/>
          </a:prstGeom>
        </p:spPr>
      </p:pic>
      <p:pic>
        <p:nvPicPr>
          <p:cNvPr id="9" name="Picture 8" descr="A blue and white table with numbers&#10;&#10;AI-generated content may be incorrect.">
            <a:extLst>
              <a:ext uri="{FF2B5EF4-FFF2-40B4-BE49-F238E27FC236}">
                <a16:creationId xmlns:a16="http://schemas.microsoft.com/office/drawing/2014/main" id="{D5C9CDFE-FB5E-1C97-E675-CCCC5704AE93}"/>
              </a:ext>
            </a:extLst>
          </p:cNvPr>
          <p:cNvPicPr>
            <a:picLocks noChangeAspect="1"/>
          </p:cNvPicPr>
          <p:nvPr/>
        </p:nvPicPr>
        <p:blipFill>
          <a:blip r:embed="rId5"/>
          <a:srcRect l="2581" r="-323" b="1333"/>
          <a:stretch>
            <a:fillRect/>
          </a:stretch>
        </p:blipFill>
        <p:spPr>
          <a:xfrm>
            <a:off x="5212639" y="3635922"/>
            <a:ext cx="3280656" cy="719435"/>
          </a:xfrm>
          <a:prstGeom prst="rect">
            <a:avLst/>
          </a:prstGeom>
        </p:spPr>
      </p:pic>
    </p:spTree>
    <p:extLst>
      <p:ext uri="{BB962C8B-B14F-4D97-AF65-F5344CB8AC3E}">
        <p14:creationId xmlns:p14="http://schemas.microsoft.com/office/powerpoint/2010/main" val="273547270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40</a:t>
            </a:fld>
            <a:endParaRPr lang="de-DE"/>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pic>
        <p:nvPicPr>
          <p:cNvPr id="9" name="Picture Placeholder 8" descr="A grid with a blue background&#10;&#10;AI-generated content may be incorrect.">
            <a:extLst>
              <a:ext uri="{FF2B5EF4-FFF2-40B4-BE49-F238E27FC236}">
                <a16:creationId xmlns:a16="http://schemas.microsoft.com/office/drawing/2014/main" id="{3EC643E7-ACB7-869E-BAC6-9AC231298622}"/>
              </a:ext>
            </a:extLst>
          </p:cNvPr>
          <p:cNvPicPr>
            <a:picLocks noGrp="1" noChangeAspect="1"/>
          </p:cNvPicPr>
          <p:nvPr>
            <p:ph type="pic" sz="quarter" idx="17"/>
          </p:nvPr>
        </p:nvPicPr>
        <p:blipFill>
          <a:blip r:embed="rId2"/>
          <a:srcRect l="9091" t="13343" r="10870" b="1186"/>
          <a:stretch>
            <a:fillRect/>
          </a:stretch>
        </p:blipFill>
        <p:spPr>
          <a:xfrm>
            <a:off x="310925" y="1285874"/>
            <a:ext cx="4659819" cy="2692746"/>
          </a:xfrm>
          <a:prstGeom prst="rect">
            <a:avLst/>
          </a:prstGeom>
        </p:spPr>
      </p:pic>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a:xfrm>
            <a:off x="311162" y="293460"/>
            <a:ext cx="8508999" cy="1201547"/>
          </a:xfrm>
        </p:spPr>
        <p:txBody>
          <a:bodyPr/>
          <a:lstStyle/>
          <a:p>
            <a:r>
              <a:rPr lang="en-US" b="1">
                <a:solidFill>
                  <a:schemeClr val="bg2"/>
                </a:solidFill>
                <a:cs typeface="Arial"/>
              </a:rPr>
              <a:t>Medium Mesh</a:t>
            </a:r>
          </a:p>
          <a:p>
            <a:endParaRPr lang="de-DE">
              <a:cs typeface="Arial"/>
            </a:endParaRPr>
          </a:p>
          <a:p>
            <a:endParaRPr lang="de-DE">
              <a:cs typeface="Arial"/>
            </a:endParaRPr>
          </a:p>
        </p:txBody>
      </p:sp>
      <p:pic>
        <p:nvPicPr>
          <p:cNvPr id="10" name="Picture 9" descr="A screenshot of a computer&#10;&#10;AI-generated content may be incorrect.">
            <a:extLst>
              <a:ext uri="{FF2B5EF4-FFF2-40B4-BE49-F238E27FC236}">
                <a16:creationId xmlns:a16="http://schemas.microsoft.com/office/drawing/2014/main" id="{0ACFCD6C-8F3F-DF7A-9329-AF7F634F0A88}"/>
              </a:ext>
            </a:extLst>
          </p:cNvPr>
          <p:cNvPicPr>
            <a:picLocks noChangeAspect="1"/>
          </p:cNvPicPr>
          <p:nvPr/>
        </p:nvPicPr>
        <p:blipFill>
          <a:blip r:embed="rId3"/>
          <a:srcRect l="3912" t="44444" r="-131" b="163"/>
          <a:stretch>
            <a:fillRect/>
          </a:stretch>
        </p:blipFill>
        <p:spPr>
          <a:xfrm>
            <a:off x="5424055" y="1129369"/>
            <a:ext cx="3412486" cy="94843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D1CB3784-31A4-B7BE-F7E1-E03863F6D143}"/>
              </a:ext>
            </a:extLst>
          </p:cNvPr>
          <p:cNvPicPr>
            <a:picLocks noChangeAspect="1"/>
          </p:cNvPicPr>
          <p:nvPr/>
        </p:nvPicPr>
        <p:blipFill>
          <a:blip r:embed="rId4"/>
          <a:srcRect l="3882" t="43269" r="-450" b="-298"/>
          <a:stretch>
            <a:fillRect/>
          </a:stretch>
        </p:blipFill>
        <p:spPr>
          <a:xfrm>
            <a:off x="5422322" y="2217622"/>
            <a:ext cx="3416009" cy="1030200"/>
          </a:xfrm>
          <a:prstGeom prst="rect">
            <a:avLst/>
          </a:prstGeom>
        </p:spPr>
      </p:pic>
      <p:pic>
        <p:nvPicPr>
          <p:cNvPr id="12" name="Picture 11" descr="A blue and white rectangular object with black text&#10;&#10;AI-generated content may be incorrect.">
            <a:extLst>
              <a:ext uri="{FF2B5EF4-FFF2-40B4-BE49-F238E27FC236}">
                <a16:creationId xmlns:a16="http://schemas.microsoft.com/office/drawing/2014/main" id="{4961498E-D48E-DD96-2D95-EC388609718E}"/>
              </a:ext>
            </a:extLst>
          </p:cNvPr>
          <p:cNvPicPr>
            <a:picLocks noChangeAspect="1"/>
          </p:cNvPicPr>
          <p:nvPr/>
        </p:nvPicPr>
        <p:blipFill>
          <a:blip r:embed="rId5"/>
          <a:stretch>
            <a:fillRect/>
          </a:stretch>
        </p:blipFill>
        <p:spPr>
          <a:xfrm>
            <a:off x="5321562" y="3426597"/>
            <a:ext cx="3498662" cy="803833"/>
          </a:xfrm>
          <a:prstGeom prst="rect">
            <a:avLst/>
          </a:prstGeom>
        </p:spPr>
      </p:pic>
    </p:spTree>
    <p:extLst>
      <p:ext uri="{BB962C8B-B14F-4D97-AF65-F5344CB8AC3E}">
        <p14:creationId xmlns:p14="http://schemas.microsoft.com/office/powerpoint/2010/main" val="69076295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41</a:t>
            </a:fld>
            <a:endParaRPr lang="de-DE"/>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en-US"/>
              <a:t>Technical University of Munich, TUM | Chair of Thermodynamics | Multiphase Flows | Project Presentation  </a:t>
            </a:r>
            <a:endParaRPr lang="de-DE" noProof="0"/>
          </a:p>
        </p:txBody>
      </p:sp>
      <p:pic>
        <p:nvPicPr>
          <p:cNvPr id="7" name="Picture Placeholder 6" descr="A screen shot of a graph&#10;&#10;AI-generated content may be incorrect.">
            <a:extLst>
              <a:ext uri="{FF2B5EF4-FFF2-40B4-BE49-F238E27FC236}">
                <a16:creationId xmlns:a16="http://schemas.microsoft.com/office/drawing/2014/main" id="{7F6C49D8-A5A9-C83B-D4CB-63381C104ED6}"/>
              </a:ext>
            </a:extLst>
          </p:cNvPr>
          <p:cNvPicPr>
            <a:picLocks noGrp="1" noChangeAspect="1"/>
          </p:cNvPicPr>
          <p:nvPr>
            <p:ph type="pic" sz="quarter" idx="17"/>
          </p:nvPr>
        </p:nvPicPr>
        <p:blipFill>
          <a:blip r:embed="rId2"/>
          <a:srcRect l="3626" t="16929" r="11381" b="5118"/>
          <a:stretch>
            <a:fillRect/>
          </a:stretch>
        </p:blipFill>
        <p:spPr>
          <a:xfrm>
            <a:off x="312442" y="1455765"/>
            <a:ext cx="5262291" cy="2599634"/>
          </a:xfrm>
          <a:prstGeom prst="rect">
            <a:avLst/>
          </a:prstGeom>
        </p:spPr>
      </p:pic>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a:xfrm>
            <a:off x="311162" y="293460"/>
            <a:ext cx="8508999" cy="1201547"/>
          </a:xfrm>
        </p:spPr>
        <p:txBody>
          <a:bodyPr/>
          <a:lstStyle/>
          <a:p>
            <a:r>
              <a:rPr lang="en-US" b="1">
                <a:solidFill>
                  <a:schemeClr val="bg2"/>
                </a:solidFill>
                <a:cs typeface="Arial"/>
              </a:rPr>
              <a:t>Fine Mesh</a:t>
            </a:r>
          </a:p>
          <a:p>
            <a:endParaRPr lang="de-DE">
              <a:cs typeface="Arial"/>
            </a:endParaRPr>
          </a:p>
          <a:p>
            <a:endParaRPr lang="de-DE">
              <a:cs typeface="Arial"/>
            </a:endParaRPr>
          </a:p>
        </p:txBody>
      </p:sp>
      <p:pic>
        <p:nvPicPr>
          <p:cNvPr id="8" name="Picture 7" descr="A screenshot of a computer&#10;&#10;AI-generated content may be incorrect.">
            <a:extLst>
              <a:ext uri="{FF2B5EF4-FFF2-40B4-BE49-F238E27FC236}">
                <a16:creationId xmlns:a16="http://schemas.microsoft.com/office/drawing/2014/main" id="{F6104B42-F5F3-B5C9-29F5-6CCDB3AD81D7}"/>
              </a:ext>
            </a:extLst>
          </p:cNvPr>
          <p:cNvPicPr>
            <a:picLocks noChangeAspect="1"/>
          </p:cNvPicPr>
          <p:nvPr/>
        </p:nvPicPr>
        <p:blipFill>
          <a:blip r:embed="rId3"/>
          <a:srcRect l="2738" t="44156" r="288" b="649"/>
          <a:stretch>
            <a:fillRect/>
          </a:stretch>
        </p:blipFill>
        <p:spPr>
          <a:xfrm>
            <a:off x="5768865" y="1287683"/>
            <a:ext cx="2963085" cy="835551"/>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0C478443-04F3-F10F-A6C6-15885ABDA50A}"/>
              </a:ext>
            </a:extLst>
          </p:cNvPr>
          <p:cNvPicPr>
            <a:picLocks noChangeAspect="1"/>
          </p:cNvPicPr>
          <p:nvPr/>
        </p:nvPicPr>
        <p:blipFill>
          <a:blip r:embed="rId4"/>
          <a:srcRect l="2913" t="44957" r="-324" b="497"/>
          <a:stretch>
            <a:fillRect/>
          </a:stretch>
        </p:blipFill>
        <p:spPr>
          <a:xfrm>
            <a:off x="5759012" y="2344635"/>
            <a:ext cx="2966531" cy="825363"/>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D66EC95C-B622-ADB3-584B-D1C2CA31FA88}"/>
              </a:ext>
            </a:extLst>
          </p:cNvPr>
          <p:cNvPicPr>
            <a:picLocks noChangeAspect="1"/>
          </p:cNvPicPr>
          <p:nvPr/>
        </p:nvPicPr>
        <p:blipFill>
          <a:blip r:embed="rId5"/>
          <a:srcRect l="3293" b="1299"/>
          <a:stretch>
            <a:fillRect/>
          </a:stretch>
        </p:blipFill>
        <p:spPr>
          <a:xfrm>
            <a:off x="5770732" y="3586170"/>
            <a:ext cx="2975109" cy="740434"/>
          </a:xfrm>
          <a:prstGeom prst="rect">
            <a:avLst/>
          </a:prstGeom>
        </p:spPr>
      </p:pic>
    </p:spTree>
    <p:extLst>
      <p:ext uri="{BB962C8B-B14F-4D97-AF65-F5344CB8AC3E}">
        <p14:creationId xmlns:p14="http://schemas.microsoft.com/office/powerpoint/2010/main" val="177601130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5C566-DAA7-46B7-9C72-84D46E008213}"/>
              </a:ext>
            </a:extLst>
          </p:cNvPr>
          <p:cNvSpPr>
            <a:spLocks noGrp="1"/>
          </p:cNvSpPr>
          <p:nvPr>
            <p:ph type="sldNum" sz="quarter" idx="15"/>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42</a:t>
            </a:fld>
            <a:endParaRPr lang="de-DE"/>
          </a:p>
        </p:txBody>
      </p:sp>
      <p:sp>
        <p:nvSpPr>
          <p:cNvPr id="4" name="Footer Placeholder 3">
            <a:extLst>
              <a:ext uri="{FF2B5EF4-FFF2-40B4-BE49-F238E27FC236}">
                <a16:creationId xmlns:a16="http://schemas.microsoft.com/office/drawing/2014/main" id="{29C1DBAB-F276-4EC5-BE3A-C6B25EB879C9}"/>
              </a:ext>
            </a:extLst>
          </p:cNvPr>
          <p:cNvSpPr>
            <a:spLocks noGrp="1"/>
          </p:cNvSpPr>
          <p:nvPr>
            <p:ph type="ftr" sz="quarter" idx="16"/>
          </p:nvPr>
        </p:nvSpPr>
        <p:spPr>
          <a:xfrm>
            <a:off x="311162" y="4854985"/>
            <a:ext cx="6464280" cy="273844"/>
          </a:xfrm>
        </p:spPr>
        <p:txBody>
          <a:bodyPr anchor="ctr">
            <a:normAutofit fontScale="92500"/>
          </a:bodyPr>
          <a:lstStyle/>
          <a:p>
            <a:pPr>
              <a:spcAft>
                <a:spcPts val="600"/>
              </a:spcAft>
            </a:pPr>
            <a:r>
              <a:rPr lang="en-US"/>
              <a:t>Technical University of Munich, TUM | Chair of Thermodynamics | Multiphase Flows | Project Presentation  </a:t>
            </a:r>
          </a:p>
        </p:txBody>
      </p:sp>
      <p:sp>
        <p:nvSpPr>
          <p:cNvPr id="6" name="Title 5">
            <a:extLst>
              <a:ext uri="{FF2B5EF4-FFF2-40B4-BE49-F238E27FC236}">
                <a16:creationId xmlns:a16="http://schemas.microsoft.com/office/drawing/2014/main" id="{2DE6C2B9-B188-49AA-85A7-D552754022C9}"/>
              </a:ext>
            </a:extLst>
          </p:cNvPr>
          <p:cNvSpPr>
            <a:spLocks noGrp="1"/>
          </p:cNvSpPr>
          <p:nvPr>
            <p:ph type="title"/>
          </p:nvPr>
        </p:nvSpPr>
        <p:spPr>
          <a:xfrm>
            <a:off x="311162" y="293460"/>
            <a:ext cx="8508999" cy="380810"/>
          </a:xfrm>
        </p:spPr>
        <p:txBody>
          <a:bodyPr wrap="square" anchor="t">
            <a:normAutofit fontScale="90000"/>
          </a:bodyPr>
          <a:lstStyle/>
          <a:p>
            <a:r>
              <a:rPr lang="en-US" b="1">
                <a:solidFill>
                  <a:schemeClr val="bg2"/>
                </a:solidFill>
              </a:rPr>
              <a:t>Grid Convergence</a:t>
            </a:r>
            <a:endParaRPr lang="de-DE"/>
          </a:p>
          <a:p>
            <a:endParaRPr lang="de-DE"/>
          </a:p>
          <a:p>
            <a:endParaRPr lang="de-DE">
              <a:cs typeface="Arial"/>
            </a:endParaRPr>
          </a:p>
        </p:txBody>
      </p:sp>
      <p:graphicFrame>
        <p:nvGraphicFramePr>
          <p:cNvPr id="8" name="Table 7">
            <a:extLst>
              <a:ext uri="{FF2B5EF4-FFF2-40B4-BE49-F238E27FC236}">
                <a16:creationId xmlns:a16="http://schemas.microsoft.com/office/drawing/2014/main" id="{FC90EE1D-6134-4C0E-BE36-32697631DCDA}"/>
              </a:ext>
            </a:extLst>
          </p:cNvPr>
          <p:cNvGraphicFramePr>
            <a:graphicFrameLocks noGrp="1"/>
          </p:cNvGraphicFramePr>
          <p:nvPr>
            <p:extLst>
              <p:ext uri="{D42A27DB-BD31-4B8C-83A1-F6EECF244321}">
                <p14:modId xmlns:p14="http://schemas.microsoft.com/office/powerpoint/2010/main" val="384679459"/>
              </p:ext>
            </p:extLst>
          </p:nvPr>
        </p:nvGraphicFramePr>
        <p:xfrm>
          <a:off x="1326311" y="1196914"/>
          <a:ext cx="5666520" cy="2715108"/>
        </p:xfrm>
        <a:graphic>
          <a:graphicData uri="http://schemas.openxmlformats.org/drawingml/2006/table">
            <a:tbl>
              <a:tblPr firstRow="1" bandRow="1">
                <a:tableStyleId>{69012ECD-51FC-41F1-AA8D-1B2483CD663E}</a:tableStyleId>
              </a:tblPr>
              <a:tblGrid>
                <a:gridCol w="1026100">
                  <a:extLst>
                    <a:ext uri="{9D8B030D-6E8A-4147-A177-3AD203B41FA5}">
                      <a16:colId xmlns:a16="http://schemas.microsoft.com/office/drawing/2014/main" val="3840305367"/>
                    </a:ext>
                  </a:extLst>
                </a:gridCol>
                <a:gridCol w="948088">
                  <a:extLst>
                    <a:ext uri="{9D8B030D-6E8A-4147-A177-3AD203B41FA5}">
                      <a16:colId xmlns:a16="http://schemas.microsoft.com/office/drawing/2014/main" val="606962788"/>
                    </a:ext>
                  </a:extLst>
                </a:gridCol>
                <a:gridCol w="770057">
                  <a:extLst>
                    <a:ext uri="{9D8B030D-6E8A-4147-A177-3AD203B41FA5}">
                      <a16:colId xmlns:a16="http://schemas.microsoft.com/office/drawing/2014/main" val="3718980797"/>
                    </a:ext>
                  </a:extLst>
                </a:gridCol>
                <a:gridCol w="1006097">
                  <a:extLst>
                    <a:ext uri="{9D8B030D-6E8A-4147-A177-3AD203B41FA5}">
                      <a16:colId xmlns:a16="http://schemas.microsoft.com/office/drawing/2014/main" val="1929901472"/>
                    </a:ext>
                  </a:extLst>
                </a:gridCol>
                <a:gridCol w="958089">
                  <a:extLst>
                    <a:ext uri="{9D8B030D-6E8A-4147-A177-3AD203B41FA5}">
                      <a16:colId xmlns:a16="http://schemas.microsoft.com/office/drawing/2014/main" val="523652176"/>
                    </a:ext>
                  </a:extLst>
                </a:gridCol>
                <a:gridCol w="958089">
                  <a:extLst>
                    <a:ext uri="{9D8B030D-6E8A-4147-A177-3AD203B41FA5}">
                      <a16:colId xmlns:a16="http://schemas.microsoft.com/office/drawing/2014/main" val="4013284368"/>
                    </a:ext>
                  </a:extLst>
                </a:gridCol>
              </a:tblGrid>
              <a:tr h="754380">
                <a:tc>
                  <a:txBody>
                    <a:bodyPr/>
                    <a:lstStyle/>
                    <a:p>
                      <a:pPr algn="ctr">
                        <a:buNone/>
                      </a:pPr>
                      <a:r>
                        <a:rPr lang="en-US" sz="1400" b="0" cap="none" spc="0">
                          <a:solidFill>
                            <a:schemeClr val="bg1"/>
                          </a:solidFill>
                          <a:effectLst/>
                        </a:rPr>
                        <a:t>Timestep</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b="0" cap="none" spc="0">
                          <a:solidFill>
                            <a:schemeClr val="bg1"/>
                          </a:solidFill>
                          <a:effectLst/>
                        </a:rPr>
                        <a:t>Element size</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b="0" cap="none" spc="0">
                          <a:solidFill>
                            <a:schemeClr val="bg1"/>
                          </a:solidFill>
                          <a:effectLst/>
                        </a:rPr>
                        <a:t>No. of cells</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b="0" cap="none" spc="0">
                          <a:solidFill>
                            <a:schemeClr val="bg1"/>
                          </a:solidFill>
                          <a:effectLst/>
                        </a:rPr>
                        <a:t> Pressure (Pa)</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gridSpan="2">
                  <a:txBody>
                    <a:bodyPr/>
                    <a:lstStyle/>
                    <a:p>
                      <a:pPr algn="ctr">
                        <a:buNone/>
                      </a:pPr>
                      <a:r>
                        <a:rPr lang="en-US" sz="1400" b="0" cap="none" spc="0">
                          <a:solidFill>
                            <a:schemeClr val="bg1"/>
                          </a:solidFill>
                          <a:effectLst/>
                        </a:rPr>
                        <a:t> Error</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endParaRPr lang="en-US"/>
                    </a:p>
                  </a:txBody>
                  <a:tcPr/>
                </a:tc>
                <a:extLst>
                  <a:ext uri="{0D108BD9-81ED-4DB2-BD59-A6C34878D82A}">
                    <a16:rowId xmlns:a16="http://schemas.microsoft.com/office/drawing/2014/main" val="3898314967"/>
                  </a:ext>
                </a:extLst>
              </a:tr>
              <a:tr h="490182">
                <a:tc>
                  <a:txBody>
                    <a:bodyPr/>
                    <a:lstStyle/>
                    <a:p>
                      <a:pPr algn="ctr">
                        <a:buNone/>
                      </a:pPr>
                      <a:r>
                        <a:rPr lang="en-US" sz="1400" cap="none" spc="0">
                          <a:solidFill>
                            <a:schemeClr val="tx1"/>
                          </a:solidFill>
                          <a:effectLst/>
                        </a:rPr>
                        <a:t>0.05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1000</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-520</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gridSpan="2">
                  <a:txBody>
                    <a:bodyPr/>
                    <a:lstStyle/>
                    <a:p>
                      <a:pPr algn="ctr">
                        <a:buNone/>
                      </a:pPr>
                      <a:r>
                        <a:rPr lang="en-US" sz="1400" cap="none" spc="0">
                          <a:solidFill>
                            <a:schemeClr val="tx1"/>
                          </a:solidFill>
                          <a:effectLst/>
                        </a:rPr>
                        <a:t>                  %</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endParaRPr lang="en-US"/>
                    </a:p>
                  </a:txBody>
                  <a:tcPr/>
                </a:tc>
                <a:extLst>
                  <a:ext uri="{0D108BD9-81ED-4DB2-BD59-A6C34878D82A}">
                    <a16:rowId xmlns:a16="http://schemas.microsoft.com/office/drawing/2014/main" val="1941037892"/>
                  </a:ext>
                </a:extLst>
              </a:tr>
              <a:tr h="490182">
                <a:tc>
                  <a:txBody>
                    <a:bodyPr/>
                    <a:lstStyle/>
                    <a:p>
                      <a:pPr algn="ctr">
                        <a:buNone/>
                      </a:pPr>
                      <a:r>
                        <a:rPr lang="en-US" sz="1400" cap="none" spc="0">
                          <a:solidFill>
                            <a:schemeClr val="tx1"/>
                          </a:solidFill>
                          <a:effectLst/>
                        </a:rPr>
                        <a:t>0.007</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0.007</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6000</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-566</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0.088462</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8.846154</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018220151"/>
                  </a:ext>
                </a:extLst>
              </a:tr>
              <a:tr h="490182">
                <a:tc>
                  <a:txBody>
                    <a:bodyPr/>
                    <a:lstStyle/>
                    <a:p>
                      <a:pPr algn="ctr">
                        <a:buNone/>
                      </a:pPr>
                      <a:r>
                        <a:rPr lang="en-US" sz="1400" cap="none" spc="0">
                          <a:solidFill>
                            <a:schemeClr val="tx1"/>
                          </a:solidFill>
                          <a:effectLst/>
                        </a:rPr>
                        <a:t>0.005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0.005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11000</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-595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0.051237</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5.123675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877817648"/>
                  </a:ext>
                </a:extLst>
              </a:tr>
              <a:tr h="490182">
                <a:tc>
                  <a:txBody>
                    <a:bodyPr/>
                    <a:lstStyle/>
                    <a:p>
                      <a:pPr algn="ctr">
                        <a:buNone/>
                      </a:pPr>
                      <a:r>
                        <a:rPr lang="en-US" sz="1400" cap="none" spc="0">
                          <a:solidFill>
                            <a:schemeClr val="tx1"/>
                          </a:solidFill>
                          <a:effectLst/>
                        </a:rPr>
                        <a:t>0.0035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0.0035</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24000</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-606</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0.018487</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chemeClr val="tx1"/>
                          </a:solidFill>
                          <a:effectLst/>
                        </a:rPr>
                        <a:t>1.848739</a:t>
                      </a:r>
                    </a:p>
                  </a:txBody>
                  <a:tcPr marL="77403" marR="46442" marT="57297" marB="46442"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54417005"/>
                  </a:ext>
                </a:extLst>
              </a:tr>
            </a:tbl>
          </a:graphicData>
        </a:graphic>
      </p:graphicFrame>
    </p:spTree>
    <p:extLst>
      <p:ext uri="{BB962C8B-B14F-4D97-AF65-F5344CB8AC3E}">
        <p14:creationId xmlns:p14="http://schemas.microsoft.com/office/powerpoint/2010/main" val="261711595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5FA6635-9913-4DE0-B89C-850A119720F4}"/>
              </a:ext>
            </a:extLst>
          </p:cNvPr>
          <p:cNvSpPr>
            <a:spLocks noGrp="1"/>
          </p:cNvSpPr>
          <p:nvPr>
            <p:ph type="title"/>
          </p:nvPr>
        </p:nvSpPr>
        <p:spPr/>
        <p:txBody>
          <a:bodyPr/>
          <a:lstStyle/>
          <a:p>
            <a:r>
              <a:rPr lang="de-DE" b="1">
                <a:solidFill>
                  <a:schemeClr val="bg2"/>
                </a:solidFill>
              </a:rPr>
              <a:t>Pressure Plots</a:t>
            </a:r>
          </a:p>
        </p:txBody>
      </p:sp>
      <p:sp>
        <p:nvSpPr>
          <p:cNvPr id="2" name="Slide Number Placeholder 1">
            <a:extLst>
              <a:ext uri="{FF2B5EF4-FFF2-40B4-BE49-F238E27FC236}">
                <a16:creationId xmlns:a16="http://schemas.microsoft.com/office/drawing/2014/main" id="{FDCEB6E5-E487-4489-BCB4-AABD438F8135}"/>
              </a:ext>
            </a:extLst>
          </p:cNvPr>
          <p:cNvSpPr>
            <a:spLocks noGrp="1"/>
          </p:cNvSpPr>
          <p:nvPr>
            <p:ph type="sldNum" sz="quarter" idx="11"/>
          </p:nvPr>
        </p:nvSpPr>
        <p:spPr/>
        <p:txBody>
          <a:bodyPr/>
          <a:lstStyle/>
          <a:p>
            <a:fld id="{CE58CB1E-F828-4F11-99E0-327109AF9DA4}" type="slidenum">
              <a:rPr lang="de-DE" smtClean="0"/>
              <a:pPr/>
              <a:t>43</a:t>
            </a:fld>
            <a:endParaRPr lang="de-DE"/>
          </a:p>
        </p:txBody>
      </p:sp>
      <p:sp>
        <p:nvSpPr>
          <p:cNvPr id="3" name="Footer Placeholder 2">
            <a:extLst>
              <a:ext uri="{FF2B5EF4-FFF2-40B4-BE49-F238E27FC236}">
                <a16:creationId xmlns:a16="http://schemas.microsoft.com/office/drawing/2014/main" id="{A3D95715-3AD4-4064-80E8-E3D8E7B06ADD}"/>
              </a:ext>
            </a:extLst>
          </p:cNvPr>
          <p:cNvSpPr>
            <a:spLocks noGrp="1"/>
          </p:cNvSpPr>
          <p:nvPr>
            <p:ph type="ftr" sz="quarter" idx="12"/>
          </p:nvPr>
        </p:nvSpPr>
        <p:spPr/>
        <p:txBody>
          <a:bodyPr/>
          <a:lstStyle/>
          <a:p>
            <a:r>
              <a:rPr lang="en-US"/>
              <a:t>Technical University of Munich, TUM | Chair of Thermodynamics | Multiphase Flows | Project Presentation  </a:t>
            </a:r>
            <a:endParaRPr lang="de-DE" noProof="0"/>
          </a:p>
        </p:txBody>
      </p:sp>
      <p:pic>
        <p:nvPicPr>
          <p:cNvPr id="4" name="Picture 3" descr="A graph with a line&#10;&#10;AI-generated content may be incorrect.">
            <a:extLst>
              <a:ext uri="{FF2B5EF4-FFF2-40B4-BE49-F238E27FC236}">
                <a16:creationId xmlns:a16="http://schemas.microsoft.com/office/drawing/2014/main" id="{4AE56372-65BD-21CF-846B-BDBBCE32B84D}"/>
              </a:ext>
            </a:extLst>
          </p:cNvPr>
          <p:cNvPicPr>
            <a:picLocks noChangeAspect="1"/>
          </p:cNvPicPr>
          <p:nvPr/>
        </p:nvPicPr>
        <p:blipFill>
          <a:blip r:embed="rId2"/>
          <a:stretch>
            <a:fillRect/>
          </a:stretch>
        </p:blipFill>
        <p:spPr>
          <a:xfrm>
            <a:off x="1037114" y="3056846"/>
            <a:ext cx="2484088" cy="1799368"/>
          </a:xfrm>
          <a:prstGeom prst="rect">
            <a:avLst/>
          </a:prstGeom>
        </p:spPr>
      </p:pic>
      <p:pic>
        <p:nvPicPr>
          <p:cNvPr id="5" name="Picture 4" descr="A graph with a line&#10;&#10;AI-generated content may be incorrect.">
            <a:extLst>
              <a:ext uri="{FF2B5EF4-FFF2-40B4-BE49-F238E27FC236}">
                <a16:creationId xmlns:a16="http://schemas.microsoft.com/office/drawing/2014/main" id="{EA840C98-E229-A58E-D3F3-1963648232EE}"/>
              </a:ext>
            </a:extLst>
          </p:cNvPr>
          <p:cNvPicPr>
            <a:picLocks noChangeAspect="1"/>
          </p:cNvPicPr>
          <p:nvPr/>
        </p:nvPicPr>
        <p:blipFill>
          <a:blip r:embed="rId3"/>
          <a:srcRect t="-342" r="9191" b="342"/>
          <a:stretch>
            <a:fillRect/>
          </a:stretch>
        </p:blipFill>
        <p:spPr>
          <a:xfrm>
            <a:off x="5343737" y="2967443"/>
            <a:ext cx="2438551" cy="1797275"/>
          </a:xfrm>
          <a:prstGeom prst="rect">
            <a:avLst/>
          </a:prstGeom>
        </p:spPr>
      </p:pic>
      <p:sp>
        <p:nvSpPr>
          <p:cNvPr id="6" name="TextBox 5">
            <a:extLst>
              <a:ext uri="{FF2B5EF4-FFF2-40B4-BE49-F238E27FC236}">
                <a16:creationId xmlns:a16="http://schemas.microsoft.com/office/drawing/2014/main" id="{D42E2E68-5ABF-1E1E-2A2B-08E2D02A0E58}"/>
              </a:ext>
            </a:extLst>
          </p:cNvPr>
          <p:cNvSpPr txBox="1"/>
          <p:nvPr/>
        </p:nvSpPr>
        <p:spPr>
          <a:xfrm>
            <a:off x="1901715" y="2832773"/>
            <a:ext cx="748862" cy="26697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14000"/>
              </a:lnSpc>
            </a:pPr>
            <a:r>
              <a:rPr lang="en-US" sz="1600">
                <a:latin typeface="+mn-lt"/>
                <a:cs typeface="Arial"/>
              </a:rPr>
              <a:t>Medium</a:t>
            </a:r>
            <a:endParaRPr lang="en-US" sz="1600" err="1">
              <a:latin typeface="+mn-lt"/>
            </a:endParaRPr>
          </a:p>
        </p:txBody>
      </p:sp>
      <p:sp>
        <p:nvSpPr>
          <p:cNvPr id="11" name="TextBox 10">
            <a:extLst>
              <a:ext uri="{FF2B5EF4-FFF2-40B4-BE49-F238E27FC236}">
                <a16:creationId xmlns:a16="http://schemas.microsoft.com/office/drawing/2014/main" id="{3E74323C-81F8-39BC-CE8C-8DD59317752B}"/>
              </a:ext>
            </a:extLst>
          </p:cNvPr>
          <p:cNvSpPr txBox="1"/>
          <p:nvPr/>
        </p:nvSpPr>
        <p:spPr>
          <a:xfrm>
            <a:off x="6392043" y="2762282"/>
            <a:ext cx="1389336" cy="2572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14000"/>
              </a:lnSpc>
            </a:pPr>
            <a:r>
              <a:rPr lang="en-US" sz="1600">
                <a:latin typeface="+mn-lt"/>
                <a:cs typeface="Arial"/>
              </a:rPr>
              <a:t>Fine</a:t>
            </a:r>
            <a:endParaRPr lang="en-US" sz="1600" err="1">
              <a:latin typeface="+mn-lt"/>
            </a:endParaRPr>
          </a:p>
        </p:txBody>
      </p:sp>
      <p:pic>
        <p:nvPicPr>
          <p:cNvPr id="12" name="Picture 11" descr="A graph with a line&#10;&#10;AI-generated content may be incorrect.">
            <a:extLst>
              <a:ext uri="{FF2B5EF4-FFF2-40B4-BE49-F238E27FC236}">
                <a16:creationId xmlns:a16="http://schemas.microsoft.com/office/drawing/2014/main" id="{D4D6B692-5C4F-60E2-6405-585F9974AB43}"/>
              </a:ext>
            </a:extLst>
          </p:cNvPr>
          <p:cNvPicPr>
            <a:picLocks noChangeAspect="1"/>
          </p:cNvPicPr>
          <p:nvPr/>
        </p:nvPicPr>
        <p:blipFill>
          <a:blip r:embed="rId4"/>
          <a:stretch>
            <a:fillRect/>
          </a:stretch>
        </p:blipFill>
        <p:spPr>
          <a:xfrm>
            <a:off x="5245402" y="967192"/>
            <a:ext cx="2636427" cy="1799034"/>
          </a:xfrm>
          <a:prstGeom prst="rect">
            <a:avLst/>
          </a:prstGeom>
        </p:spPr>
      </p:pic>
      <p:sp>
        <p:nvSpPr>
          <p:cNvPr id="13" name="TextBox 12">
            <a:extLst>
              <a:ext uri="{FF2B5EF4-FFF2-40B4-BE49-F238E27FC236}">
                <a16:creationId xmlns:a16="http://schemas.microsoft.com/office/drawing/2014/main" id="{F2A5A63C-90B4-F639-D3C3-0D07C879B2D3}"/>
              </a:ext>
            </a:extLst>
          </p:cNvPr>
          <p:cNvSpPr txBox="1"/>
          <p:nvPr/>
        </p:nvSpPr>
        <p:spPr>
          <a:xfrm>
            <a:off x="6184001" y="705711"/>
            <a:ext cx="1463077" cy="2572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14000"/>
              </a:lnSpc>
            </a:pPr>
            <a:r>
              <a:rPr lang="en-US" sz="1600">
                <a:latin typeface="+mn-lt"/>
                <a:cs typeface="Arial"/>
              </a:rPr>
              <a:t>Coarse</a:t>
            </a:r>
            <a:endParaRPr lang="en-US" sz="1600">
              <a:latin typeface="+mn-lt"/>
            </a:endParaRPr>
          </a:p>
        </p:txBody>
      </p:sp>
      <p:pic>
        <p:nvPicPr>
          <p:cNvPr id="8" name="Picture 7" descr="A graph with a line&#10;&#10;AI-generated content may be incorrect.">
            <a:extLst>
              <a:ext uri="{FF2B5EF4-FFF2-40B4-BE49-F238E27FC236}">
                <a16:creationId xmlns:a16="http://schemas.microsoft.com/office/drawing/2014/main" id="{F5D5C933-EE7C-A84F-1A7C-B0A619595480}"/>
              </a:ext>
            </a:extLst>
          </p:cNvPr>
          <p:cNvPicPr>
            <a:picLocks noChangeAspect="1"/>
          </p:cNvPicPr>
          <p:nvPr/>
        </p:nvPicPr>
        <p:blipFill>
          <a:blip r:embed="rId5"/>
          <a:srcRect t="446" r="29091" b="161"/>
          <a:stretch>
            <a:fillRect/>
          </a:stretch>
        </p:blipFill>
        <p:spPr>
          <a:xfrm>
            <a:off x="1044482" y="1029449"/>
            <a:ext cx="2486328" cy="1800702"/>
          </a:xfrm>
          <a:prstGeom prst="rect">
            <a:avLst/>
          </a:prstGeom>
        </p:spPr>
      </p:pic>
      <p:sp>
        <p:nvSpPr>
          <p:cNvPr id="14" name="TextBox 13">
            <a:extLst>
              <a:ext uri="{FF2B5EF4-FFF2-40B4-BE49-F238E27FC236}">
                <a16:creationId xmlns:a16="http://schemas.microsoft.com/office/drawing/2014/main" id="{383B5F3B-13EE-2CDF-983A-49C13E8AF6CD}"/>
              </a:ext>
            </a:extLst>
          </p:cNvPr>
          <p:cNvSpPr txBox="1"/>
          <p:nvPr/>
        </p:nvSpPr>
        <p:spPr>
          <a:xfrm>
            <a:off x="1615221" y="709261"/>
            <a:ext cx="1341408" cy="2572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4000"/>
              </a:lnSpc>
            </a:pPr>
            <a:r>
              <a:rPr lang="en-GB" sz="1600">
                <a:latin typeface="+mn-lt"/>
                <a:cs typeface="Arial"/>
              </a:rPr>
              <a:t>Highly Coarse</a:t>
            </a:r>
            <a:endParaRPr lang="en-GB" sz="1600" err="1">
              <a:latin typeface="+mn-lt"/>
            </a:endParaRPr>
          </a:p>
        </p:txBody>
      </p:sp>
    </p:spTree>
    <p:extLst>
      <p:ext uri="{BB962C8B-B14F-4D97-AF65-F5344CB8AC3E}">
        <p14:creationId xmlns:p14="http://schemas.microsoft.com/office/powerpoint/2010/main" val="34730099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7644" y="292018"/>
            <a:ext cx="8229600" cy="548640"/>
          </a:xfrm>
          <a:prstGeom prst="rect">
            <a:avLst/>
          </a:prstGeom>
          <a:noFill/>
          <a:ln/>
        </p:spPr>
        <p:txBody>
          <a:bodyPr wrap="square" lIns="0" tIns="0" rIns="0" bIns="0" rtlCol="0" anchor="ctr"/>
          <a:lstStyle/>
          <a:p>
            <a:pPr marL="0" indent="0">
              <a:buNone/>
            </a:pPr>
            <a:r>
              <a:rPr lang="en-US" sz="2500" b="1">
                <a:solidFill>
                  <a:schemeClr val="bg2"/>
                </a:solidFill>
                <a:latin typeface="+mj-lt"/>
                <a:ea typeface="+mj-ea"/>
                <a:cs typeface="+mj-cs"/>
              </a:rPr>
              <a:t>Mesh Quality</a:t>
            </a:r>
          </a:p>
        </p:txBody>
      </p:sp>
      <p:sp>
        <p:nvSpPr>
          <p:cNvPr id="3" name="Shape 1"/>
          <p:cNvSpPr/>
          <p:nvPr/>
        </p:nvSpPr>
        <p:spPr>
          <a:xfrm>
            <a:off x="731520" y="1280160"/>
            <a:ext cx="1828800" cy="411480"/>
          </a:xfrm>
          <a:prstGeom prst="rect">
            <a:avLst/>
          </a:prstGeom>
          <a:solidFill>
            <a:srgbClr val="1E2761"/>
          </a:solidFill>
          <a:ln/>
        </p:spPr>
        <p:txBody>
          <a:bodyPr/>
          <a:lstStyle/>
          <a:p>
            <a:endParaRPr lang="en-US"/>
          </a:p>
        </p:txBody>
      </p:sp>
      <p:sp>
        <p:nvSpPr>
          <p:cNvPr id="4" name="Text 2"/>
          <p:cNvSpPr/>
          <p:nvPr/>
        </p:nvSpPr>
        <p:spPr>
          <a:xfrm>
            <a:off x="731520" y="1280160"/>
            <a:ext cx="1828800" cy="411480"/>
          </a:xfrm>
          <a:prstGeom prst="rect">
            <a:avLst/>
          </a:prstGeom>
          <a:noFill/>
          <a:ln/>
        </p:spPr>
        <p:txBody>
          <a:bodyPr wrap="square" rtlCol="0" anchor="ctr"/>
          <a:lstStyle/>
          <a:p>
            <a:pPr marL="0" indent="0" algn="ctr">
              <a:buNone/>
            </a:pPr>
            <a:r>
              <a:rPr lang="en-US" sz="1200" b="1">
                <a:solidFill>
                  <a:srgbClr val="FFFFFF"/>
                </a:solidFill>
              </a:rPr>
              <a:t>Mesh Type</a:t>
            </a:r>
            <a:endParaRPr lang="en-US" sz="1200"/>
          </a:p>
        </p:txBody>
      </p:sp>
      <p:sp>
        <p:nvSpPr>
          <p:cNvPr id="5" name="Shape 3"/>
          <p:cNvSpPr/>
          <p:nvPr/>
        </p:nvSpPr>
        <p:spPr>
          <a:xfrm>
            <a:off x="2560320" y="1280160"/>
            <a:ext cx="1463040" cy="411480"/>
          </a:xfrm>
          <a:prstGeom prst="rect">
            <a:avLst/>
          </a:prstGeom>
          <a:solidFill>
            <a:srgbClr val="1E2761"/>
          </a:solidFill>
          <a:ln/>
        </p:spPr>
        <p:txBody>
          <a:bodyPr/>
          <a:lstStyle/>
          <a:p>
            <a:endParaRPr lang="en-US"/>
          </a:p>
        </p:txBody>
      </p:sp>
      <p:sp>
        <p:nvSpPr>
          <p:cNvPr id="6" name="Text 4"/>
          <p:cNvSpPr/>
          <p:nvPr/>
        </p:nvSpPr>
        <p:spPr>
          <a:xfrm>
            <a:off x="2560320" y="1280160"/>
            <a:ext cx="1463040" cy="411480"/>
          </a:xfrm>
          <a:prstGeom prst="rect">
            <a:avLst/>
          </a:prstGeom>
          <a:noFill/>
          <a:ln/>
        </p:spPr>
        <p:txBody>
          <a:bodyPr wrap="square" rtlCol="0" anchor="ctr"/>
          <a:lstStyle/>
          <a:p>
            <a:pPr marL="0" indent="0" algn="ctr">
              <a:buNone/>
            </a:pPr>
            <a:r>
              <a:rPr lang="en-US" sz="1200" b="1">
                <a:solidFill>
                  <a:srgbClr val="FFFFFF"/>
                </a:solidFill>
              </a:rPr>
              <a:t>Number of Cells</a:t>
            </a:r>
            <a:endParaRPr lang="en-US" sz="1200"/>
          </a:p>
        </p:txBody>
      </p:sp>
      <p:sp>
        <p:nvSpPr>
          <p:cNvPr id="7" name="Shape 5"/>
          <p:cNvSpPr/>
          <p:nvPr/>
        </p:nvSpPr>
        <p:spPr>
          <a:xfrm>
            <a:off x="4023360" y="1280160"/>
            <a:ext cx="1554480" cy="411480"/>
          </a:xfrm>
          <a:prstGeom prst="rect">
            <a:avLst/>
          </a:prstGeom>
          <a:solidFill>
            <a:srgbClr val="1E2761"/>
          </a:solidFill>
          <a:ln/>
        </p:spPr>
        <p:txBody>
          <a:bodyPr/>
          <a:lstStyle/>
          <a:p>
            <a:endParaRPr lang="en-US"/>
          </a:p>
        </p:txBody>
      </p:sp>
      <p:sp>
        <p:nvSpPr>
          <p:cNvPr id="8" name="Text 6"/>
          <p:cNvSpPr/>
          <p:nvPr/>
        </p:nvSpPr>
        <p:spPr>
          <a:xfrm>
            <a:off x="4023360" y="1280160"/>
            <a:ext cx="1554480" cy="411480"/>
          </a:xfrm>
          <a:prstGeom prst="rect">
            <a:avLst/>
          </a:prstGeom>
          <a:noFill/>
          <a:ln/>
        </p:spPr>
        <p:txBody>
          <a:bodyPr wrap="square" rtlCol="0" anchor="ctr"/>
          <a:lstStyle/>
          <a:p>
            <a:pPr marL="0" indent="0" algn="ctr">
              <a:buNone/>
            </a:pPr>
            <a:r>
              <a:rPr lang="en-US" sz="1200" b="1">
                <a:solidFill>
                  <a:srgbClr val="FFFFFF"/>
                </a:solidFill>
              </a:rPr>
              <a:t>Element Size (m)</a:t>
            </a:r>
            <a:endParaRPr lang="en-US" sz="1200"/>
          </a:p>
        </p:txBody>
      </p:sp>
      <p:sp>
        <p:nvSpPr>
          <p:cNvPr id="9" name="Shape 7"/>
          <p:cNvSpPr/>
          <p:nvPr/>
        </p:nvSpPr>
        <p:spPr>
          <a:xfrm>
            <a:off x="5577840" y="1280160"/>
            <a:ext cx="1463040" cy="411480"/>
          </a:xfrm>
          <a:prstGeom prst="rect">
            <a:avLst/>
          </a:prstGeom>
          <a:solidFill>
            <a:srgbClr val="1E2761"/>
          </a:solidFill>
          <a:ln/>
        </p:spPr>
        <p:txBody>
          <a:bodyPr/>
          <a:lstStyle/>
          <a:p>
            <a:endParaRPr lang="en-US"/>
          </a:p>
        </p:txBody>
      </p:sp>
      <p:sp>
        <p:nvSpPr>
          <p:cNvPr id="10" name="Text 8"/>
          <p:cNvSpPr/>
          <p:nvPr/>
        </p:nvSpPr>
        <p:spPr>
          <a:xfrm>
            <a:off x="5577840" y="1280160"/>
            <a:ext cx="1463040" cy="411480"/>
          </a:xfrm>
          <a:prstGeom prst="rect">
            <a:avLst/>
          </a:prstGeom>
          <a:noFill/>
          <a:ln/>
        </p:spPr>
        <p:txBody>
          <a:bodyPr wrap="square" lIns="91440" tIns="45720" rIns="91440" bIns="45720" rtlCol="0" anchor="ctr"/>
          <a:lstStyle/>
          <a:p>
            <a:pPr algn="ctr"/>
            <a:r>
              <a:rPr lang="en-US" sz="1200" b="1">
                <a:solidFill>
                  <a:srgbClr val="FFFFFF"/>
                </a:solidFill>
                <a:latin typeface="Arial"/>
                <a:cs typeface="Arial"/>
              </a:rPr>
              <a:t>Min Orthogonality</a:t>
            </a:r>
            <a:endParaRPr lang="en-US" sz="1200"/>
          </a:p>
        </p:txBody>
      </p:sp>
      <p:sp>
        <p:nvSpPr>
          <p:cNvPr id="11" name="Shape 9"/>
          <p:cNvSpPr/>
          <p:nvPr/>
        </p:nvSpPr>
        <p:spPr>
          <a:xfrm>
            <a:off x="7040880" y="1280160"/>
            <a:ext cx="1371600" cy="411480"/>
          </a:xfrm>
          <a:prstGeom prst="rect">
            <a:avLst/>
          </a:prstGeom>
          <a:solidFill>
            <a:srgbClr val="1E2761"/>
          </a:solidFill>
          <a:ln/>
        </p:spPr>
        <p:txBody>
          <a:bodyPr/>
          <a:lstStyle/>
          <a:p>
            <a:endParaRPr lang="en-US"/>
          </a:p>
        </p:txBody>
      </p:sp>
      <p:sp>
        <p:nvSpPr>
          <p:cNvPr id="12" name="Text 10"/>
          <p:cNvSpPr/>
          <p:nvPr/>
        </p:nvSpPr>
        <p:spPr>
          <a:xfrm>
            <a:off x="7040880" y="1280160"/>
            <a:ext cx="1371600" cy="411480"/>
          </a:xfrm>
          <a:prstGeom prst="rect">
            <a:avLst/>
          </a:prstGeom>
          <a:noFill/>
          <a:ln/>
        </p:spPr>
        <p:txBody>
          <a:bodyPr wrap="square" lIns="91440" tIns="45720" rIns="91440" bIns="45720" rtlCol="0" anchor="ctr"/>
          <a:lstStyle/>
          <a:p>
            <a:pPr algn="ctr"/>
            <a:r>
              <a:rPr lang="en-US" sz="1200" b="1">
                <a:solidFill>
                  <a:srgbClr val="FFFFFF"/>
                </a:solidFill>
                <a:latin typeface="Arial"/>
                <a:cs typeface="Arial"/>
              </a:rPr>
              <a:t>Max Skewness</a:t>
            </a:r>
            <a:endParaRPr lang="en-US" sz="1200"/>
          </a:p>
        </p:txBody>
      </p:sp>
      <p:sp>
        <p:nvSpPr>
          <p:cNvPr id="13" name="Shape 11"/>
          <p:cNvSpPr/>
          <p:nvPr/>
        </p:nvSpPr>
        <p:spPr>
          <a:xfrm>
            <a:off x="731520" y="1691640"/>
            <a:ext cx="1828800" cy="384048"/>
          </a:xfrm>
          <a:prstGeom prst="rect">
            <a:avLst/>
          </a:prstGeom>
          <a:solidFill>
            <a:srgbClr val="F8F9FA"/>
          </a:solidFill>
          <a:ln w="6350">
            <a:solidFill>
              <a:srgbClr val="E0E0E0"/>
            </a:solidFill>
            <a:prstDash val="solid"/>
          </a:ln>
        </p:spPr>
        <p:txBody>
          <a:bodyPr/>
          <a:lstStyle/>
          <a:p>
            <a:endParaRPr lang="en-US"/>
          </a:p>
        </p:txBody>
      </p:sp>
      <p:sp>
        <p:nvSpPr>
          <p:cNvPr id="14" name="Text 12"/>
          <p:cNvSpPr/>
          <p:nvPr/>
        </p:nvSpPr>
        <p:spPr>
          <a:xfrm>
            <a:off x="777240" y="1691640"/>
            <a:ext cx="1737360" cy="384048"/>
          </a:xfrm>
          <a:prstGeom prst="rect">
            <a:avLst/>
          </a:prstGeom>
          <a:noFill/>
          <a:ln/>
        </p:spPr>
        <p:txBody>
          <a:bodyPr wrap="square" rtlCol="0" anchor="ctr"/>
          <a:lstStyle/>
          <a:p>
            <a:pPr marL="0" indent="0" algn="ctr">
              <a:buNone/>
            </a:pPr>
            <a:r>
              <a:rPr lang="en-US" sz="1100" b="1">
                <a:solidFill>
                  <a:srgbClr val="333333"/>
                </a:solidFill>
              </a:rPr>
              <a:t>Highly Coarse</a:t>
            </a:r>
            <a:endParaRPr lang="en-US" sz="1100"/>
          </a:p>
        </p:txBody>
      </p:sp>
      <p:sp>
        <p:nvSpPr>
          <p:cNvPr id="15" name="Shape 13"/>
          <p:cNvSpPr/>
          <p:nvPr/>
        </p:nvSpPr>
        <p:spPr>
          <a:xfrm>
            <a:off x="2560320" y="1691640"/>
            <a:ext cx="1463040" cy="384048"/>
          </a:xfrm>
          <a:prstGeom prst="rect">
            <a:avLst/>
          </a:prstGeom>
          <a:solidFill>
            <a:srgbClr val="F8F9FA"/>
          </a:solidFill>
          <a:ln w="6350">
            <a:solidFill>
              <a:srgbClr val="E0E0E0"/>
            </a:solidFill>
            <a:prstDash val="solid"/>
          </a:ln>
        </p:spPr>
        <p:txBody>
          <a:bodyPr/>
          <a:lstStyle/>
          <a:p>
            <a:endParaRPr lang="en-US"/>
          </a:p>
        </p:txBody>
      </p:sp>
      <p:sp>
        <p:nvSpPr>
          <p:cNvPr id="16" name="Text 14"/>
          <p:cNvSpPr/>
          <p:nvPr/>
        </p:nvSpPr>
        <p:spPr>
          <a:xfrm>
            <a:off x="2606040" y="1691640"/>
            <a:ext cx="1371600" cy="384048"/>
          </a:xfrm>
          <a:prstGeom prst="rect">
            <a:avLst/>
          </a:prstGeom>
          <a:noFill/>
          <a:ln/>
        </p:spPr>
        <p:txBody>
          <a:bodyPr wrap="square" rtlCol="0" anchor="ctr"/>
          <a:lstStyle/>
          <a:p>
            <a:pPr marL="0" indent="0" algn="ctr">
              <a:buNone/>
            </a:pPr>
            <a:r>
              <a:rPr lang="en-US" sz="1100">
                <a:solidFill>
                  <a:srgbClr val="333333"/>
                </a:solidFill>
              </a:rPr>
              <a:t>1,024</a:t>
            </a:r>
            <a:endParaRPr lang="en-US" sz="1100"/>
          </a:p>
        </p:txBody>
      </p:sp>
      <p:sp>
        <p:nvSpPr>
          <p:cNvPr id="17" name="Shape 15"/>
          <p:cNvSpPr/>
          <p:nvPr/>
        </p:nvSpPr>
        <p:spPr>
          <a:xfrm>
            <a:off x="4023360" y="1691640"/>
            <a:ext cx="1554480" cy="384048"/>
          </a:xfrm>
          <a:prstGeom prst="rect">
            <a:avLst/>
          </a:prstGeom>
          <a:solidFill>
            <a:srgbClr val="F8F9FA"/>
          </a:solidFill>
          <a:ln w="6350">
            <a:solidFill>
              <a:srgbClr val="E0E0E0"/>
            </a:solidFill>
            <a:prstDash val="solid"/>
          </a:ln>
        </p:spPr>
        <p:txBody>
          <a:bodyPr/>
          <a:lstStyle/>
          <a:p>
            <a:endParaRPr lang="en-US"/>
          </a:p>
        </p:txBody>
      </p:sp>
      <p:sp>
        <p:nvSpPr>
          <p:cNvPr id="18" name="Text 16"/>
          <p:cNvSpPr/>
          <p:nvPr/>
        </p:nvSpPr>
        <p:spPr>
          <a:xfrm>
            <a:off x="4069080" y="1691640"/>
            <a:ext cx="1463040" cy="384048"/>
          </a:xfrm>
          <a:prstGeom prst="rect">
            <a:avLst/>
          </a:prstGeom>
          <a:noFill/>
          <a:ln/>
        </p:spPr>
        <p:txBody>
          <a:bodyPr wrap="square" rtlCol="0" anchor="ctr"/>
          <a:lstStyle/>
          <a:p>
            <a:pPr marL="0" indent="0" algn="ctr">
              <a:buNone/>
            </a:pPr>
            <a:r>
              <a:rPr lang="en-US" sz="1100">
                <a:solidFill>
                  <a:srgbClr val="333333"/>
                </a:solidFill>
              </a:rPr>
              <a:t>0.0098</a:t>
            </a:r>
            <a:endParaRPr lang="en-US" sz="1100"/>
          </a:p>
        </p:txBody>
      </p:sp>
      <p:sp>
        <p:nvSpPr>
          <p:cNvPr id="19" name="Shape 17"/>
          <p:cNvSpPr/>
          <p:nvPr/>
        </p:nvSpPr>
        <p:spPr>
          <a:xfrm>
            <a:off x="5577840" y="1691640"/>
            <a:ext cx="1463040" cy="384048"/>
          </a:xfrm>
          <a:prstGeom prst="rect">
            <a:avLst/>
          </a:prstGeom>
          <a:solidFill>
            <a:srgbClr val="F8F9FA"/>
          </a:solidFill>
          <a:ln w="6350">
            <a:solidFill>
              <a:srgbClr val="E0E0E0"/>
            </a:solidFill>
            <a:prstDash val="solid"/>
          </a:ln>
        </p:spPr>
        <p:txBody>
          <a:bodyPr/>
          <a:lstStyle/>
          <a:p>
            <a:endParaRPr lang="en-US"/>
          </a:p>
        </p:txBody>
      </p:sp>
      <p:sp>
        <p:nvSpPr>
          <p:cNvPr id="20" name="Text 18"/>
          <p:cNvSpPr/>
          <p:nvPr/>
        </p:nvSpPr>
        <p:spPr>
          <a:xfrm>
            <a:off x="5623560" y="1691640"/>
            <a:ext cx="1371600" cy="384048"/>
          </a:xfrm>
          <a:prstGeom prst="rect">
            <a:avLst/>
          </a:prstGeom>
          <a:noFill/>
          <a:ln/>
        </p:spPr>
        <p:txBody>
          <a:bodyPr wrap="square" lIns="91440" tIns="45720" rIns="91440" bIns="45720" rtlCol="0" anchor="ctr"/>
          <a:lstStyle/>
          <a:p>
            <a:pPr algn="ctr"/>
            <a:r>
              <a:rPr lang="en-US" sz="1100">
                <a:solidFill>
                  <a:srgbClr val="333333"/>
                </a:solidFill>
                <a:latin typeface="Arial"/>
                <a:cs typeface="Arial"/>
              </a:rPr>
              <a:t>0.66976</a:t>
            </a:r>
            <a:endParaRPr lang="en-US" sz="1100">
              <a:solidFill>
                <a:srgbClr val="333333"/>
              </a:solidFill>
            </a:endParaRPr>
          </a:p>
        </p:txBody>
      </p:sp>
      <p:sp>
        <p:nvSpPr>
          <p:cNvPr id="21" name="Shape 19"/>
          <p:cNvSpPr/>
          <p:nvPr/>
        </p:nvSpPr>
        <p:spPr>
          <a:xfrm>
            <a:off x="7040880" y="1691640"/>
            <a:ext cx="1371600" cy="384048"/>
          </a:xfrm>
          <a:prstGeom prst="rect">
            <a:avLst/>
          </a:prstGeom>
          <a:solidFill>
            <a:srgbClr val="F8F9FA"/>
          </a:solidFill>
          <a:ln w="6350">
            <a:solidFill>
              <a:srgbClr val="E0E0E0"/>
            </a:solidFill>
            <a:prstDash val="solid"/>
          </a:ln>
        </p:spPr>
        <p:txBody>
          <a:bodyPr/>
          <a:lstStyle/>
          <a:p>
            <a:endParaRPr lang="en-US"/>
          </a:p>
        </p:txBody>
      </p:sp>
      <p:sp>
        <p:nvSpPr>
          <p:cNvPr id="22" name="Text 20"/>
          <p:cNvSpPr/>
          <p:nvPr/>
        </p:nvSpPr>
        <p:spPr>
          <a:xfrm>
            <a:off x="7086600" y="1691640"/>
            <a:ext cx="128016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0.57131</a:t>
            </a:r>
            <a:endParaRPr lang="en-US" sz="1100"/>
          </a:p>
        </p:txBody>
      </p:sp>
      <p:sp>
        <p:nvSpPr>
          <p:cNvPr id="23" name="Shape 21"/>
          <p:cNvSpPr/>
          <p:nvPr/>
        </p:nvSpPr>
        <p:spPr>
          <a:xfrm>
            <a:off x="731520" y="2075688"/>
            <a:ext cx="1828800" cy="384048"/>
          </a:xfrm>
          <a:prstGeom prst="rect">
            <a:avLst/>
          </a:prstGeom>
          <a:solidFill>
            <a:srgbClr val="FFFFFF"/>
          </a:solidFill>
          <a:ln w="6350">
            <a:solidFill>
              <a:srgbClr val="E0E0E0"/>
            </a:solidFill>
            <a:prstDash val="solid"/>
          </a:ln>
        </p:spPr>
        <p:txBody>
          <a:bodyPr/>
          <a:lstStyle/>
          <a:p>
            <a:endParaRPr lang="en-US"/>
          </a:p>
        </p:txBody>
      </p:sp>
      <p:sp>
        <p:nvSpPr>
          <p:cNvPr id="24" name="Text 22"/>
          <p:cNvSpPr/>
          <p:nvPr/>
        </p:nvSpPr>
        <p:spPr>
          <a:xfrm>
            <a:off x="777240" y="2075688"/>
            <a:ext cx="1737360" cy="384048"/>
          </a:xfrm>
          <a:prstGeom prst="rect">
            <a:avLst/>
          </a:prstGeom>
          <a:noFill/>
          <a:ln/>
        </p:spPr>
        <p:txBody>
          <a:bodyPr wrap="square" rtlCol="0" anchor="ctr"/>
          <a:lstStyle/>
          <a:p>
            <a:pPr marL="0" indent="0" algn="ctr">
              <a:buNone/>
            </a:pPr>
            <a:r>
              <a:rPr lang="en-US" sz="1100" b="1">
                <a:solidFill>
                  <a:srgbClr val="333333"/>
                </a:solidFill>
              </a:rPr>
              <a:t>Coarse</a:t>
            </a:r>
            <a:endParaRPr lang="en-US" sz="1100"/>
          </a:p>
        </p:txBody>
      </p:sp>
      <p:sp>
        <p:nvSpPr>
          <p:cNvPr id="25" name="Shape 23"/>
          <p:cNvSpPr/>
          <p:nvPr/>
        </p:nvSpPr>
        <p:spPr>
          <a:xfrm>
            <a:off x="2560320" y="2075688"/>
            <a:ext cx="1463040" cy="384048"/>
          </a:xfrm>
          <a:prstGeom prst="rect">
            <a:avLst/>
          </a:prstGeom>
          <a:solidFill>
            <a:srgbClr val="FFFFFF"/>
          </a:solidFill>
          <a:ln w="6350">
            <a:solidFill>
              <a:srgbClr val="E0E0E0"/>
            </a:solidFill>
            <a:prstDash val="solid"/>
          </a:ln>
        </p:spPr>
        <p:txBody>
          <a:bodyPr/>
          <a:lstStyle/>
          <a:p>
            <a:endParaRPr lang="en-US"/>
          </a:p>
        </p:txBody>
      </p:sp>
      <p:sp>
        <p:nvSpPr>
          <p:cNvPr id="26" name="Text 24"/>
          <p:cNvSpPr/>
          <p:nvPr/>
        </p:nvSpPr>
        <p:spPr>
          <a:xfrm>
            <a:off x="2606040" y="2075688"/>
            <a:ext cx="1371600" cy="384048"/>
          </a:xfrm>
          <a:prstGeom prst="rect">
            <a:avLst/>
          </a:prstGeom>
          <a:noFill/>
          <a:ln/>
        </p:spPr>
        <p:txBody>
          <a:bodyPr wrap="square" rtlCol="0" anchor="ctr"/>
          <a:lstStyle/>
          <a:p>
            <a:pPr marL="0" indent="0" algn="ctr">
              <a:buNone/>
            </a:pPr>
            <a:r>
              <a:rPr lang="en-US" sz="1100">
                <a:solidFill>
                  <a:srgbClr val="333333"/>
                </a:solidFill>
              </a:rPr>
              <a:t>6,140</a:t>
            </a:r>
            <a:endParaRPr lang="en-US" sz="1100"/>
          </a:p>
        </p:txBody>
      </p:sp>
      <p:sp>
        <p:nvSpPr>
          <p:cNvPr id="27" name="Shape 25"/>
          <p:cNvSpPr/>
          <p:nvPr/>
        </p:nvSpPr>
        <p:spPr>
          <a:xfrm>
            <a:off x="4023360" y="2075688"/>
            <a:ext cx="1554480" cy="384048"/>
          </a:xfrm>
          <a:prstGeom prst="rect">
            <a:avLst/>
          </a:prstGeom>
          <a:solidFill>
            <a:srgbClr val="FFFFFF"/>
          </a:solidFill>
          <a:ln w="6350">
            <a:solidFill>
              <a:srgbClr val="E0E0E0"/>
            </a:solidFill>
            <a:prstDash val="solid"/>
          </a:ln>
        </p:spPr>
        <p:txBody>
          <a:bodyPr/>
          <a:lstStyle/>
          <a:p>
            <a:endParaRPr lang="en-US"/>
          </a:p>
        </p:txBody>
      </p:sp>
      <p:sp>
        <p:nvSpPr>
          <p:cNvPr id="28" name="Text 26"/>
          <p:cNvSpPr/>
          <p:nvPr/>
        </p:nvSpPr>
        <p:spPr>
          <a:xfrm>
            <a:off x="4069080" y="2075688"/>
            <a:ext cx="1463040" cy="384048"/>
          </a:xfrm>
          <a:prstGeom prst="rect">
            <a:avLst/>
          </a:prstGeom>
          <a:noFill/>
          <a:ln/>
        </p:spPr>
        <p:txBody>
          <a:bodyPr wrap="square" rtlCol="0" anchor="ctr"/>
          <a:lstStyle/>
          <a:p>
            <a:pPr marL="0" indent="0" algn="ctr">
              <a:buNone/>
            </a:pPr>
            <a:r>
              <a:rPr lang="en-US" sz="1100">
                <a:solidFill>
                  <a:srgbClr val="333333"/>
                </a:solidFill>
              </a:rPr>
              <a:t>0.0070</a:t>
            </a:r>
            <a:endParaRPr lang="en-US" sz="1100"/>
          </a:p>
        </p:txBody>
      </p:sp>
      <p:sp>
        <p:nvSpPr>
          <p:cNvPr id="29" name="Shape 27"/>
          <p:cNvSpPr/>
          <p:nvPr/>
        </p:nvSpPr>
        <p:spPr>
          <a:xfrm>
            <a:off x="5577840" y="2075688"/>
            <a:ext cx="1463040" cy="384048"/>
          </a:xfrm>
          <a:prstGeom prst="rect">
            <a:avLst/>
          </a:prstGeom>
          <a:solidFill>
            <a:srgbClr val="FFFFFF"/>
          </a:solidFill>
          <a:ln w="6350">
            <a:solidFill>
              <a:srgbClr val="E0E0E0"/>
            </a:solidFill>
            <a:prstDash val="solid"/>
          </a:ln>
        </p:spPr>
        <p:txBody>
          <a:bodyPr/>
          <a:lstStyle/>
          <a:p>
            <a:endParaRPr lang="en-US"/>
          </a:p>
        </p:txBody>
      </p:sp>
      <p:sp>
        <p:nvSpPr>
          <p:cNvPr id="30" name="Text 28"/>
          <p:cNvSpPr/>
          <p:nvPr/>
        </p:nvSpPr>
        <p:spPr>
          <a:xfrm>
            <a:off x="5623560" y="2075688"/>
            <a:ext cx="137160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0.78894</a:t>
            </a:r>
            <a:endParaRPr lang="en-US" sz="1100"/>
          </a:p>
        </p:txBody>
      </p:sp>
      <p:sp>
        <p:nvSpPr>
          <p:cNvPr id="31" name="Shape 29"/>
          <p:cNvSpPr/>
          <p:nvPr/>
        </p:nvSpPr>
        <p:spPr>
          <a:xfrm>
            <a:off x="7040880" y="2075688"/>
            <a:ext cx="1371600" cy="384048"/>
          </a:xfrm>
          <a:prstGeom prst="rect">
            <a:avLst/>
          </a:prstGeom>
          <a:solidFill>
            <a:srgbClr val="FFFFFF"/>
          </a:solidFill>
          <a:ln w="6350">
            <a:solidFill>
              <a:srgbClr val="E0E0E0"/>
            </a:solidFill>
            <a:prstDash val="solid"/>
          </a:ln>
        </p:spPr>
        <p:txBody>
          <a:bodyPr/>
          <a:lstStyle/>
          <a:p>
            <a:endParaRPr lang="en-US"/>
          </a:p>
        </p:txBody>
      </p:sp>
      <p:sp>
        <p:nvSpPr>
          <p:cNvPr id="32" name="Text 30"/>
          <p:cNvSpPr/>
          <p:nvPr/>
        </p:nvSpPr>
        <p:spPr>
          <a:xfrm>
            <a:off x="7086600" y="2075688"/>
            <a:ext cx="128016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0.54604</a:t>
            </a:r>
            <a:endParaRPr lang="en-US" sz="1100"/>
          </a:p>
        </p:txBody>
      </p:sp>
      <p:sp>
        <p:nvSpPr>
          <p:cNvPr id="33" name="Shape 31"/>
          <p:cNvSpPr/>
          <p:nvPr/>
        </p:nvSpPr>
        <p:spPr>
          <a:xfrm>
            <a:off x="731520" y="2459736"/>
            <a:ext cx="1828800" cy="384048"/>
          </a:xfrm>
          <a:prstGeom prst="rect">
            <a:avLst/>
          </a:prstGeom>
          <a:solidFill>
            <a:srgbClr val="F8F9FA"/>
          </a:solidFill>
          <a:ln w="6350">
            <a:solidFill>
              <a:srgbClr val="E0E0E0"/>
            </a:solidFill>
            <a:prstDash val="solid"/>
          </a:ln>
        </p:spPr>
        <p:txBody>
          <a:bodyPr/>
          <a:lstStyle/>
          <a:p>
            <a:endParaRPr lang="en-US"/>
          </a:p>
        </p:txBody>
      </p:sp>
      <p:sp>
        <p:nvSpPr>
          <p:cNvPr id="34" name="Text 32"/>
          <p:cNvSpPr/>
          <p:nvPr/>
        </p:nvSpPr>
        <p:spPr>
          <a:xfrm>
            <a:off x="777240" y="2459736"/>
            <a:ext cx="1737360" cy="384048"/>
          </a:xfrm>
          <a:prstGeom prst="rect">
            <a:avLst/>
          </a:prstGeom>
          <a:noFill/>
          <a:ln/>
        </p:spPr>
        <p:txBody>
          <a:bodyPr wrap="square" rtlCol="0" anchor="ctr"/>
          <a:lstStyle/>
          <a:p>
            <a:pPr marL="0" indent="0" algn="ctr">
              <a:buNone/>
            </a:pPr>
            <a:r>
              <a:rPr lang="en-US" sz="1100" b="1">
                <a:solidFill>
                  <a:srgbClr val="333333"/>
                </a:solidFill>
              </a:rPr>
              <a:t>Medium</a:t>
            </a:r>
            <a:endParaRPr lang="en-US" sz="1100"/>
          </a:p>
        </p:txBody>
      </p:sp>
      <p:sp>
        <p:nvSpPr>
          <p:cNvPr id="35" name="Shape 33"/>
          <p:cNvSpPr/>
          <p:nvPr/>
        </p:nvSpPr>
        <p:spPr>
          <a:xfrm>
            <a:off x="2560320" y="2459736"/>
            <a:ext cx="1463040" cy="384048"/>
          </a:xfrm>
          <a:prstGeom prst="rect">
            <a:avLst/>
          </a:prstGeom>
          <a:solidFill>
            <a:srgbClr val="F8F9FA"/>
          </a:solidFill>
          <a:ln w="6350">
            <a:solidFill>
              <a:srgbClr val="E0E0E0"/>
            </a:solidFill>
            <a:prstDash val="solid"/>
          </a:ln>
        </p:spPr>
        <p:txBody>
          <a:bodyPr/>
          <a:lstStyle/>
          <a:p>
            <a:endParaRPr lang="en-US"/>
          </a:p>
        </p:txBody>
      </p:sp>
      <p:sp>
        <p:nvSpPr>
          <p:cNvPr id="36" name="Text 34"/>
          <p:cNvSpPr/>
          <p:nvPr/>
        </p:nvSpPr>
        <p:spPr>
          <a:xfrm>
            <a:off x="2606040" y="2459736"/>
            <a:ext cx="1371600" cy="384048"/>
          </a:xfrm>
          <a:prstGeom prst="rect">
            <a:avLst/>
          </a:prstGeom>
          <a:noFill/>
          <a:ln/>
        </p:spPr>
        <p:txBody>
          <a:bodyPr wrap="square" rtlCol="0" anchor="ctr"/>
          <a:lstStyle/>
          <a:p>
            <a:pPr marL="0" indent="0" algn="ctr">
              <a:buNone/>
            </a:pPr>
            <a:r>
              <a:rPr lang="en-US" sz="1100">
                <a:solidFill>
                  <a:srgbClr val="333333"/>
                </a:solidFill>
              </a:rPr>
              <a:t>11,649</a:t>
            </a:r>
            <a:endParaRPr lang="en-US" sz="1100"/>
          </a:p>
        </p:txBody>
      </p:sp>
      <p:sp>
        <p:nvSpPr>
          <p:cNvPr id="37" name="Shape 35"/>
          <p:cNvSpPr/>
          <p:nvPr/>
        </p:nvSpPr>
        <p:spPr>
          <a:xfrm>
            <a:off x="4023360" y="2459736"/>
            <a:ext cx="1554480" cy="384048"/>
          </a:xfrm>
          <a:prstGeom prst="rect">
            <a:avLst/>
          </a:prstGeom>
          <a:solidFill>
            <a:srgbClr val="F8F9FA"/>
          </a:solidFill>
          <a:ln w="6350">
            <a:solidFill>
              <a:srgbClr val="E0E0E0"/>
            </a:solidFill>
            <a:prstDash val="solid"/>
          </a:ln>
        </p:spPr>
        <p:txBody>
          <a:bodyPr/>
          <a:lstStyle/>
          <a:p>
            <a:endParaRPr lang="en-US"/>
          </a:p>
        </p:txBody>
      </p:sp>
      <p:sp>
        <p:nvSpPr>
          <p:cNvPr id="38" name="Text 36"/>
          <p:cNvSpPr/>
          <p:nvPr/>
        </p:nvSpPr>
        <p:spPr>
          <a:xfrm>
            <a:off x="4069080" y="2459736"/>
            <a:ext cx="1463040" cy="384048"/>
          </a:xfrm>
          <a:prstGeom prst="rect">
            <a:avLst/>
          </a:prstGeom>
          <a:noFill/>
          <a:ln/>
        </p:spPr>
        <p:txBody>
          <a:bodyPr wrap="square" rtlCol="0" anchor="ctr"/>
          <a:lstStyle/>
          <a:p>
            <a:pPr marL="0" indent="0" algn="ctr">
              <a:buNone/>
            </a:pPr>
            <a:r>
              <a:rPr lang="en-US" sz="1100">
                <a:solidFill>
                  <a:srgbClr val="333333"/>
                </a:solidFill>
              </a:rPr>
              <a:t>0.0050</a:t>
            </a:r>
            <a:endParaRPr lang="en-US" sz="1100"/>
          </a:p>
        </p:txBody>
      </p:sp>
      <p:sp>
        <p:nvSpPr>
          <p:cNvPr id="39" name="Shape 37"/>
          <p:cNvSpPr/>
          <p:nvPr/>
        </p:nvSpPr>
        <p:spPr>
          <a:xfrm>
            <a:off x="5577840" y="2459736"/>
            <a:ext cx="1463040" cy="384048"/>
          </a:xfrm>
          <a:prstGeom prst="rect">
            <a:avLst/>
          </a:prstGeom>
          <a:solidFill>
            <a:srgbClr val="F8F9FA"/>
          </a:solidFill>
          <a:ln w="6350">
            <a:solidFill>
              <a:srgbClr val="E0E0E0"/>
            </a:solidFill>
            <a:prstDash val="solid"/>
          </a:ln>
        </p:spPr>
        <p:txBody>
          <a:bodyPr/>
          <a:lstStyle/>
          <a:p>
            <a:endParaRPr lang="en-US"/>
          </a:p>
        </p:txBody>
      </p:sp>
      <p:sp>
        <p:nvSpPr>
          <p:cNvPr id="40" name="Text 38"/>
          <p:cNvSpPr/>
          <p:nvPr/>
        </p:nvSpPr>
        <p:spPr>
          <a:xfrm>
            <a:off x="5623560" y="2459736"/>
            <a:ext cx="137160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0.64564</a:t>
            </a:r>
            <a:endParaRPr lang="en-US" sz="1100"/>
          </a:p>
        </p:txBody>
      </p:sp>
      <p:sp>
        <p:nvSpPr>
          <p:cNvPr id="41" name="Shape 39"/>
          <p:cNvSpPr/>
          <p:nvPr/>
        </p:nvSpPr>
        <p:spPr>
          <a:xfrm>
            <a:off x="7040880" y="2459736"/>
            <a:ext cx="1371600" cy="384048"/>
          </a:xfrm>
          <a:prstGeom prst="rect">
            <a:avLst/>
          </a:prstGeom>
          <a:solidFill>
            <a:srgbClr val="F8F9FA"/>
          </a:solidFill>
          <a:ln w="6350">
            <a:solidFill>
              <a:srgbClr val="E0E0E0"/>
            </a:solidFill>
            <a:prstDash val="solid"/>
          </a:ln>
        </p:spPr>
        <p:txBody>
          <a:bodyPr/>
          <a:lstStyle/>
          <a:p>
            <a:endParaRPr lang="en-US"/>
          </a:p>
        </p:txBody>
      </p:sp>
      <p:sp>
        <p:nvSpPr>
          <p:cNvPr id="42" name="Text 40"/>
          <p:cNvSpPr/>
          <p:nvPr/>
        </p:nvSpPr>
        <p:spPr>
          <a:xfrm>
            <a:off x="7086600" y="2459736"/>
            <a:ext cx="128016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0.55564</a:t>
            </a:r>
            <a:endParaRPr lang="en-US" sz="1100"/>
          </a:p>
        </p:txBody>
      </p:sp>
      <p:sp>
        <p:nvSpPr>
          <p:cNvPr id="43" name="Shape 41"/>
          <p:cNvSpPr/>
          <p:nvPr/>
        </p:nvSpPr>
        <p:spPr>
          <a:xfrm>
            <a:off x="731520" y="2843784"/>
            <a:ext cx="1828800" cy="384048"/>
          </a:xfrm>
          <a:prstGeom prst="rect">
            <a:avLst/>
          </a:prstGeom>
          <a:solidFill>
            <a:srgbClr val="FFFFFF"/>
          </a:solidFill>
          <a:ln w="6350">
            <a:solidFill>
              <a:srgbClr val="E0E0E0"/>
            </a:solidFill>
            <a:prstDash val="solid"/>
          </a:ln>
        </p:spPr>
        <p:txBody>
          <a:bodyPr/>
          <a:lstStyle/>
          <a:p>
            <a:endParaRPr lang="en-US"/>
          </a:p>
        </p:txBody>
      </p:sp>
      <p:sp>
        <p:nvSpPr>
          <p:cNvPr id="44" name="Text 42"/>
          <p:cNvSpPr/>
          <p:nvPr/>
        </p:nvSpPr>
        <p:spPr>
          <a:xfrm>
            <a:off x="777240" y="2843784"/>
            <a:ext cx="1737360" cy="384048"/>
          </a:xfrm>
          <a:prstGeom prst="rect">
            <a:avLst/>
          </a:prstGeom>
          <a:noFill/>
          <a:ln/>
        </p:spPr>
        <p:txBody>
          <a:bodyPr wrap="square" rtlCol="0" anchor="ctr"/>
          <a:lstStyle/>
          <a:p>
            <a:pPr marL="0" indent="0" algn="ctr">
              <a:buNone/>
            </a:pPr>
            <a:r>
              <a:rPr lang="en-US" sz="1100" b="1">
                <a:solidFill>
                  <a:srgbClr val="333333"/>
                </a:solidFill>
              </a:rPr>
              <a:t>Fine</a:t>
            </a:r>
            <a:endParaRPr lang="en-US" sz="1100"/>
          </a:p>
        </p:txBody>
      </p:sp>
      <p:sp>
        <p:nvSpPr>
          <p:cNvPr id="45" name="Shape 43"/>
          <p:cNvSpPr/>
          <p:nvPr/>
        </p:nvSpPr>
        <p:spPr>
          <a:xfrm>
            <a:off x="2560320" y="2843784"/>
            <a:ext cx="1463040" cy="384048"/>
          </a:xfrm>
          <a:prstGeom prst="rect">
            <a:avLst/>
          </a:prstGeom>
          <a:solidFill>
            <a:srgbClr val="FFFFFF"/>
          </a:solidFill>
          <a:ln w="6350">
            <a:solidFill>
              <a:srgbClr val="E0E0E0"/>
            </a:solidFill>
            <a:prstDash val="solid"/>
          </a:ln>
        </p:spPr>
        <p:txBody>
          <a:bodyPr/>
          <a:lstStyle/>
          <a:p>
            <a:endParaRPr lang="en-US"/>
          </a:p>
        </p:txBody>
      </p:sp>
      <p:sp>
        <p:nvSpPr>
          <p:cNvPr id="46" name="Text 44"/>
          <p:cNvSpPr/>
          <p:nvPr/>
        </p:nvSpPr>
        <p:spPr>
          <a:xfrm>
            <a:off x="2606040" y="2843784"/>
            <a:ext cx="1371600" cy="384048"/>
          </a:xfrm>
          <a:prstGeom prst="rect">
            <a:avLst/>
          </a:prstGeom>
          <a:noFill/>
          <a:ln/>
        </p:spPr>
        <p:txBody>
          <a:bodyPr wrap="square" rtlCol="0" anchor="ctr"/>
          <a:lstStyle/>
          <a:p>
            <a:pPr marL="0" indent="0" algn="ctr">
              <a:buNone/>
            </a:pPr>
            <a:r>
              <a:rPr lang="en-US" sz="1100">
                <a:solidFill>
                  <a:srgbClr val="333333"/>
                </a:solidFill>
              </a:rPr>
              <a:t>24,042</a:t>
            </a:r>
            <a:endParaRPr lang="en-US" sz="1100"/>
          </a:p>
        </p:txBody>
      </p:sp>
      <p:sp>
        <p:nvSpPr>
          <p:cNvPr id="47" name="Shape 45"/>
          <p:cNvSpPr/>
          <p:nvPr/>
        </p:nvSpPr>
        <p:spPr>
          <a:xfrm>
            <a:off x="4023360" y="2843784"/>
            <a:ext cx="1554480" cy="384048"/>
          </a:xfrm>
          <a:prstGeom prst="rect">
            <a:avLst/>
          </a:prstGeom>
          <a:solidFill>
            <a:srgbClr val="FFFFFF"/>
          </a:solidFill>
          <a:ln w="6350">
            <a:solidFill>
              <a:srgbClr val="E0E0E0"/>
            </a:solidFill>
            <a:prstDash val="solid"/>
          </a:ln>
        </p:spPr>
        <p:txBody>
          <a:bodyPr/>
          <a:lstStyle/>
          <a:p>
            <a:endParaRPr lang="en-US"/>
          </a:p>
        </p:txBody>
      </p:sp>
      <p:sp>
        <p:nvSpPr>
          <p:cNvPr id="48" name="Text 46"/>
          <p:cNvSpPr/>
          <p:nvPr/>
        </p:nvSpPr>
        <p:spPr>
          <a:xfrm>
            <a:off x="4069080" y="2843784"/>
            <a:ext cx="1463040" cy="384048"/>
          </a:xfrm>
          <a:prstGeom prst="rect">
            <a:avLst/>
          </a:prstGeom>
          <a:noFill/>
          <a:ln/>
        </p:spPr>
        <p:txBody>
          <a:bodyPr wrap="square" rtlCol="0" anchor="ctr"/>
          <a:lstStyle/>
          <a:p>
            <a:pPr marL="0" indent="0" algn="ctr">
              <a:buNone/>
            </a:pPr>
            <a:r>
              <a:rPr lang="en-US" sz="1100">
                <a:solidFill>
                  <a:srgbClr val="333333"/>
                </a:solidFill>
              </a:rPr>
              <a:t>0.0035</a:t>
            </a:r>
            <a:endParaRPr lang="en-US" sz="1100"/>
          </a:p>
        </p:txBody>
      </p:sp>
      <p:sp>
        <p:nvSpPr>
          <p:cNvPr id="49" name="Shape 47"/>
          <p:cNvSpPr/>
          <p:nvPr/>
        </p:nvSpPr>
        <p:spPr>
          <a:xfrm>
            <a:off x="5577840" y="2843784"/>
            <a:ext cx="1463040" cy="384048"/>
          </a:xfrm>
          <a:prstGeom prst="rect">
            <a:avLst/>
          </a:prstGeom>
          <a:solidFill>
            <a:srgbClr val="FFFFFF"/>
          </a:solidFill>
          <a:ln w="6350">
            <a:solidFill>
              <a:srgbClr val="E0E0E0"/>
            </a:solidFill>
            <a:prstDash val="solid"/>
          </a:ln>
        </p:spPr>
        <p:txBody>
          <a:bodyPr/>
          <a:lstStyle/>
          <a:p>
            <a:endParaRPr lang="en-US"/>
          </a:p>
        </p:txBody>
      </p:sp>
      <p:sp>
        <p:nvSpPr>
          <p:cNvPr id="50" name="Text 48"/>
          <p:cNvSpPr/>
          <p:nvPr/>
        </p:nvSpPr>
        <p:spPr>
          <a:xfrm>
            <a:off x="5623560" y="2843784"/>
            <a:ext cx="1371600" cy="384048"/>
          </a:xfrm>
          <a:prstGeom prst="rect">
            <a:avLst/>
          </a:prstGeom>
          <a:noFill/>
          <a:ln/>
        </p:spPr>
        <p:txBody>
          <a:bodyPr wrap="square" lIns="91440" tIns="45720" rIns="91440" bIns="45720" rtlCol="0" anchor="ctr"/>
          <a:lstStyle/>
          <a:p>
            <a:pPr algn="ctr"/>
            <a:r>
              <a:rPr lang="en-US" sz="1100">
                <a:solidFill>
                  <a:srgbClr val="333333"/>
                </a:solidFill>
                <a:latin typeface="Arial"/>
                <a:cs typeface="Arial"/>
              </a:rPr>
              <a:t>0.70911</a:t>
            </a:r>
            <a:endParaRPr lang="en-US" sz="1100"/>
          </a:p>
        </p:txBody>
      </p:sp>
      <p:sp>
        <p:nvSpPr>
          <p:cNvPr id="51" name="Shape 49"/>
          <p:cNvSpPr/>
          <p:nvPr/>
        </p:nvSpPr>
        <p:spPr>
          <a:xfrm>
            <a:off x="7040880" y="2843784"/>
            <a:ext cx="1371600" cy="384048"/>
          </a:xfrm>
          <a:prstGeom prst="rect">
            <a:avLst/>
          </a:prstGeom>
          <a:solidFill>
            <a:srgbClr val="FFFFFF"/>
          </a:solidFill>
          <a:ln w="6350">
            <a:solidFill>
              <a:srgbClr val="E0E0E0"/>
            </a:solidFill>
            <a:prstDash val="solid"/>
          </a:ln>
        </p:spPr>
        <p:txBody>
          <a:bodyPr/>
          <a:lstStyle/>
          <a:p>
            <a:endParaRPr lang="en-US"/>
          </a:p>
        </p:txBody>
      </p:sp>
      <p:sp>
        <p:nvSpPr>
          <p:cNvPr id="52" name="Text 50"/>
          <p:cNvSpPr/>
          <p:nvPr/>
        </p:nvSpPr>
        <p:spPr>
          <a:xfrm>
            <a:off x="7086600" y="2843784"/>
            <a:ext cx="1280160" cy="384048"/>
          </a:xfrm>
          <a:prstGeom prst="rect">
            <a:avLst/>
          </a:prstGeom>
          <a:noFill/>
          <a:ln/>
        </p:spPr>
        <p:txBody>
          <a:bodyPr wrap="square" lIns="91440" tIns="45720" rIns="91440" bIns="45720" rtlCol="0" anchor="ctr"/>
          <a:lstStyle/>
          <a:p>
            <a:pPr marL="0" indent="0" algn="ctr">
              <a:buNone/>
            </a:pPr>
            <a:r>
              <a:rPr lang="en-US" sz="1100">
                <a:solidFill>
                  <a:srgbClr val="333333"/>
                </a:solidFill>
                <a:latin typeface="Arial"/>
                <a:cs typeface="Arial"/>
              </a:rPr>
              <a:t>0.55251</a:t>
            </a:r>
            <a:endParaRPr lang="en-US" sz="1100"/>
          </a:p>
        </p:txBody>
      </p:sp>
      <p:sp>
        <p:nvSpPr>
          <p:cNvPr id="53" name="Shape 51"/>
          <p:cNvSpPr/>
          <p:nvPr/>
        </p:nvSpPr>
        <p:spPr>
          <a:xfrm>
            <a:off x="2424454" y="3657600"/>
            <a:ext cx="4942074" cy="731520"/>
          </a:xfrm>
          <a:prstGeom prst="rect">
            <a:avLst/>
          </a:prstGeom>
          <a:solidFill>
            <a:srgbClr val="CADCFC">
              <a:alpha val="30000"/>
            </a:srgbClr>
          </a:solidFill>
          <a:ln/>
        </p:spPr>
        <p:txBody>
          <a:bodyPr/>
          <a:lstStyle/>
          <a:p>
            <a:endParaRPr lang="en-US"/>
          </a:p>
        </p:txBody>
      </p:sp>
      <p:sp>
        <p:nvSpPr>
          <p:cNvPr id="54" name="Text 52"/>
          <p:cNvSpPr/>
          <p:nvPr/>
        </p:nvSpPr>
        <p:spPr>
          <a:xfrm>
            <a:off x="2510287" y="3657600"/>
            <a:ext cx="7315200" cy="731520"/>
          </a:xfrm>
          <a:prstGeom prst="rect">
            <a:avLst/>
          </a:prstGeom>
          <a:noFill/>
          <a:ln/>
        </p:spPr>
        <p:txBody>
          <a:bodyPr wrap="square" lIns="91440" tIns="45720" rIns="91440" bIns="45720" rtlCol="0" anchor="ctr"/>
          <a:lstStyle/>
          <a:p>
            <a:pPr marL="0" indent="0">
              <a:buNone/>
            </a:pPr>
            <a:r>
              <a:rPr lang="en-US" sz="1300" b="1">
                <a:solidFill>
                  <a:srgbClr val="333333"/>
                </a:solidFill>
                <a:latin typeface="Arial"/>
                <a:cs typeface="Arial"/>
              </a:rPr>
              <a:t>✓ Quality Criteria Met: </a:t>
            </a:r>
            <a:r>
              <a:rPr lang="en-US" sz="1200">
                <a:solidFill>
                  <a:srgbClr val="333333"/>
                </a:solidFill>
                <a:latin typeface="Arial"/>
                <a:cs typeface="Arial"/>
              </a:rPr>
              <a:t>Orthogonality &gt; 0.15, Skewness &lt; 0.95.</a:t>
            </a:r>
            <a:endParaRPr lang="en-US" sz="1300"/>
          </a:p>
        </p:txBody>
      </p:sp>
    </p:spTree>
    <p:extLst>
      <p:ext uri="{BB962C8B-B14F-4D97-AF65-F5344CB8AC3E}">
        <p14:creationId xmlns:p14="http://schemas.microsoft.com/office/powerpoint/2010/main" val="23176794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500" b="1">
                <a:solidFill>
                  <a:schemeClr val="bg2"/>
                </a:solidFill>
                <a:latin typeface="+mj-lt"/>
                <a:ea typeface="+mj-ea"/>
                <a:cs typeface="+mj-cs"/>
              </a:rPr>
              <a:t>Grid Convergence</a:t>
            </a:r>
          </a:p>
        </p:txBody>
      </p:sp>
      <p:sp>
        <p:nvSpPr>
          <p:cNvPr id="3" name="Shape 1"/>
          <p:cNvSpPr/>
          <p:nvPr/>
        </p:nvSpPr>
        <p:spPr>
          <a:xfrm>
            <a:off x="1464334" y="1188720"/>
            <a:ext cx="6765266" cy="2833778"/>
          </a:xfrm>
          <a:prstGeom prst="rect">
            <a:avLst/>
          </a:prstGeom>
          <a:solidFill>
            <a:srgbClr val="FFFFFF"/>
          </a:solidFill>
          <a:ln w="25400">
            <a:solidFill>
              <a:srgbClr val="CADCFC"/>
            </a:solidFill>
            <a:prstDash val="solid"/>
          </a:ln>
        </p:spPr>
        <p:txBody>
          <a:bodyPr/>
          <a:lstStyle/>
          <a:p>
            <a:endParaRPr lang="en-US"/>
          </a:p>
        </p:txBody>
      </p:sp>
      <p:sp>
        <p:nvSpPr>
          <p:cNvPr id="4" name="Text 2"/>
          <p:cNvSpPr/>
          <p:nvPr/>
        </p:nvSpPr>
        <p:spPr>
          <a:xfrm>
            <a:off x="1371600" y="1371600"/>
            <a:ext cx="6400800" cy="365760"/>
          </a:xfrm>
          <a:prstGeom prst="rect">
            <a:avLst/>
          </a:prstGeom>
          <a:noFill/>
          <a:ln/>
        </p:spPr>
        <p:txBody>
          <a:bodyPr wrap="square" rtlCol="0" anchor="ctr"/>
          <a:lstStyle/>
          <a:p>
            <a:pPr marL="0" indent="0" algn="ctr">
              <a:buNone/>
            </a:pPr>
            <a:r>
              <a:rPr lang="en-US" sz="1400" b="1">
                <a:solidFill>
                  <a:srgbClr val="1E2761"/>
                </a:solidFill>
              </a:rPr>
              <a:t>Average Upper Wall Pressure vs. Mesh Density</a:t>
            </a:r>
            <a:endParaRPr lang="en-US" sz="1400"/>
          </a:p>
        </p:txBody>
      </p:sp>
      <p:sp>
        <p:nvSpPr>
          <p:cNvPr id="5" name="Shape 3"/>
          <p:cNvSpPr/>
          <p:nvPr/>
        </p:nvSpPr>
        <p:spPr>
          <a:xfrm>
            <a:off x="2141507" y="1994859"/>
            <a:ext cx="1311647" cy="759124"/>
          </a:xfrm>
          <a:prstGeom prst="line">
            <a:avLst/>
          </a:prstGeom>
          <a:noFill/>
          <a:ln w="38100">
            <a:solidFill>
              <a:srgbClr val="1E2761"/>
            </a:solidFill>
            <a:prstDash val="solid"/>
          </a:ln>
        </p:spPr>
        <p:txBody>
          <a:bodyPr/>
          <a:lstStyle/>
          <a:p>
            <a:endParaRPr lang="en-US"/>
          </a:p>
        </p:txBody>
      </p:sp>
      <p:sp>
        <p:nvSpPr>
          <p:cNvPr id="6" name="Shape 4"/>
          <p:cNvSpPr/>
          <p:nvPr/>
        </p:nvSpPr>
        <p:spPr>
          <a:xfrm>
            <a:off x="3485503" y="2753983"/>
            <a:ext cx="1624354" cy="339018"/>
          </a:xfrm>
          <a:prstGeom prst="line">
            <a:avLst/>
          </a:prstGeom>
          <a:noFill/>
          <a:ln w="38100">
            <a:solidFill>
              <a:srgbClr val="1E2761"/>
            </a:solidFill>
            <a:prstDash val="solid"/>
          </a:ln>
        </p:spPr>
        <p:txBody>
          <a:bodyPr/>
          <a:lstStyle/>
          <a:p>
            <a:endParaRPr lang="en-US"/>
          </a:p>
        </p:txBody>
      </p:sp>
      <p:sp>
        <p:nvSpPr>
          <p:cNvPr id="7" name="Shape 5"/>
          <p:cNvSpPr/>
          <p:nvPr/>
        </p:nvSpPr>
        <p:spPr>
          <a:xfrm>
            <a:off x="5131423" y="3082218"/>
            <a:ext cx="1635137" cy="104811"/>
          </a:xfrm>
          <a:prstGeom prst="line">
            <a:avLst/>
          </a:prstGeom>
          <a:noFill/>
          <a:ln w="38100">
            <a:solidFill>
              <a:srgbClr val="1E2761"/>
            </a:solidFill>
            <a:prstDash val="solid"/>
          </a:ln>
        </p:spPr>
        <p:txBody>
          <a:bodyPr/>
          <a:lstStyle/>
          <a:p>
            <a:endParaRPr lang="en-US"/>
          </a:p>
        </p:txBody>
      </p:sp>
      <p:sp>
        <p:nvSpPr>
          <p:cNvPr id="8" name="Shape 6"/>
          <p:cNvSpPr/>
          <p:nvPr/>
        </p:nvSpPr>
        <p:spPr>
          <a:xfrm>
            <a:off x="2017718" y="1860286"/>
            <a:ext cx="182880" cy="182880"/>
          </a:xfrm>
          <a:prstGeom prst="ellipse">
            <a:avLst/>
          </a:prstGeom>
          <a:solidFill>
            <a:srgbClr val="1E2761"/>
          </a:solidFill>
          <a:ln/>
        </p:spPr>
        <p:txBody>
          <a:bodyPr/>
          <a:lstStyle/>
          <a:p>
            <a:endParaRPr lang="en-US"/>
          </a:p>
        </p:txBody>
      </p:sp>
      <p:sp>
        <p:nvSpPr>
          <p:cNvPr id="9" name="Text 7"/>
          <p:cNvSpPr/>
          <p:nvPr/>
        </p:nvSpPr>
        <p:spPr>
          <a:xfrm>
            <a:off x="1554480" y="4023360"/>
            <a:ext cx="548640" cy="274320"/>
          </a:xfrm>
          <a:prstGeom prst="rect">
            <a:avLst/>
          </a:prstGeom>
          <a:noFill/>
          <a:ln/>
        </p:spPr>
        <p:txBody>
          <a:bodyPr wrap="square" lIns="91440" tIns="45720" rIns="91440" bIns="45720" rtlCol="0" anchor="ctr"/>
          <a:lstStyle/>
          <a:p>
            <a:pPr marL="0" indent="0" algn="ctr">
              <a:buNone/>
            </a:pPr>
            <a:r>
              <a:rPr lang="en-US" sz="1000">
                <a:solidFill>
                  <a:srgbClr val="333333"/>
                </a:solidFill>
                <a:latin typeface="Arial"/>
                <a:cs typeface="Arial"/>
              </a:rPr>
              <a:t>1024</a:t>
            </a:r>
            <a:endParaRPr lang="en-US" sz="1000"/>
          </a:p>
        </p:txBody>
      </p:sp>
      <p:sp>
        <p:nvSpPr>
          <p:cNvPr id="10" name="Text 8"/>
          <p:cNvSpPr/>
          <p:nvPr/>
        </p:nvSpPr>
        <p:spPr>
          <a:xfrm>
            <a:off x="1365993" y="1828800"/>
            <a:ext cx="731520" cy="239383"/>
          </a:xfrm>
          <a:prstGeom prst="rect">
            <a:avLst/>
          </a:prstGeom>
          <a:noFill/>
          <a:ln/>
        </p:spPr>
        <p:txBody>
          <a:bodyPr wrap="square" rtlCol="0" anchor="ctr"/>
          <a:lstStyle/>
          <a:p>
            <a:pPr marL="0" indent="0" algn="ctr">
              <a:buNone/>
            </a:pPr>
            <a:r>
              <a:rPr lang="en-US" sz="900" b="1">
                <a:solidFill>
                  <a:srgbClr val="1E2761"/>
                </a:solidFill>
              </a:rPr>
              <a:t>-520 Pa</a:t>
            </a:r>
            <a:endParaRPr lang="en-US" sz="900"/>
          </a:p>
        </p:txBody>
      </p:sp>
      <p:sp>
        <p:nvSpPr>
          <p:cNvPr id="11" name="Shape 9"/>
          <p:cNvSpPr/>
          <p:nvPr/>
        </p:nvSpPr>
        <p:spPr>
          <a:xfrm>
            <a:off x="3383280" y="2651760"/>
            <a:ext cx="182880" cy="182880"/>
          </a:xfrm>
          <a:prstGeom prst="ellipse">
            <a:avLst/>
          </a:prstGeom>
          <a:solidFill>
            <a:srgbClr val="1E2761"/>
          </a:solidFill>
          <a:ln/>
        </p:spPr>
        <p:txBody>
          <a:bodyPr/>
          <a:lstStyle/>
          <a:p>
            <a:endParaRPr lang="en-US"/>
          </a:p>
        </p:txBody>
      </p:sp>
      <p:sp>
        <p:nvSpPr>
          <p:cNvPr id="12" name="Text 10"/>
          <p:cNvSpPr/>
          <p:nvPr/>
        </p:nvSpPr>
        <p:spPr>
          <a:xfrm>
            <a:off x="3200400" y="4023360"/>
            <a:ext cx="548640" cy="274320"/>
          </a:xfrm>
          <a:prstGeom prst="rect">
            <a:avLst/>
          </a:prstGeom>
          <a:noFill/>
          <a:ln/>
        </p:spPr>
        <p:txBody>
          <a:bodyPr wrap="square" lIns="91440" tIns="45720" rIns="91440" bIns="45720" rtlCol="0" anchor="ctr"/>
          <a:lstStyle/>
          <a:p>
            <a:pPr marL="0" indent="0" algn="ctr">
              <a:buNone/>
            </a:pPr>
            <a:r>
              <a:rPr lang="en-US" sz="1000">
                <a:solidFill>
                  <a:srgbClr val="333333"/>
                </a:solidFill>
                <a:latin typeface="Arial"/>
                <a:cs typeface="Arial"/>
              </a:rPr>
              <a:t>6140</a:t>
            </a:r>
            <a:endParaRPr lang="en-US" sz="1000"/>
          </a:p>
        </p:txBody>
      </p:sp>
      <p:sp>
        <p:nvSpPr>
          <p:cNvPr id="13" name="Text 11"/>
          <p:cNvSpPr/>
          <p:nvPr/>
        </p:nvSpPr>
        <p:spPr>
          <a:xfrm>
            <a:off x="3108960" y="2286000"/>
            <a:ext cx="731520" cy="228600"/>
          </a:xfrm>
          <a:prstGeom prst="rect">
            <a:avLst/>
          </a:prstGeom>
          <a:noFill/>
          <a:ln/>
        </p:spPr>
        <p:txBody>
          <a:bodyPr wrap="square" rtlCol="0" anchor="ctr"/>
          <a:lstStyle/>
          <a:p>
            <a:pPr marL="0" indent="0" algn="ctr">
              <a:buNone/>
            </a:pPr>
            <a:r>
              <a:rPr lang="en-US" sz="900" b="1">
                <a:solidFill>
                  <a:srgbClr val="1E2761"/>
                </a:solidFill>
              </a:rPr>
              <a:t>-566 Pa</a:t>
            </a:r>
            <a:endParaRPr lang="en-US" sz="900"/>
          </a:p>
        </p:txBody>
      </p:sp>
      <p:sp>
        <p:nvSpPr>
          <p:cNvPr id="14" name="Shape 12"/>
          <p:cNvSpPr/>
          <p:nvPr/>
        </p:nvSpPr>
        <p:spPr>
          <a:xfrm>
            <a:off x="5029200" y="3023127"/>
            <a:ext cx="182880" cy="182880"/>
          </a:xfrm>
          <a:prstGeom prst="ellipse">
            <a:avLst/>
          </a:prstGeom>
          <a:solidFill>
            <a:srgbClr val="1E2761"/>
          </a:solidFill>
          <a:ln/>
        </p:spPr>
        <p:txBody>
          <a:bodyPr/>
          <a:lstStyle/>
          <a:p>
            <a:endParaRPr lang="en-US"/>
          </a:p>
        </p:txBody>
      </p:sp>
      <p:sp>
        <p:nvSpPr>
          <p:cNvPr id="15" name="Text 13"/>
          <p:cNvSpPr/>
          <p:nvPr/>
        </p:nvSpPr>
        <p:spPr>
          <a:xfrm>
            <a:off x="4846320" y="4023360"/>
            <a:ext cx="548640" cy="274320"/>
          </a:xfrm>
          <a:prstGeom prst="rect">
            <a:avLst/>
          </a:prstGeom>
          <a:noFill/>
          <a:ln/>
        </p:spPr>
        <p:txBody>
          <a:bodyPr wrap="square" lIns="91440" tIns="45720" rIns="91440" bIns="45720" rtlCol="0" anchor="ctr"/>
          <a:lstStyle/>
          <a:p>
            <a:pPr marL="0" indent="0" algn="ctr">
              <a:buNone/>
            </a:pPr>
            <a:r>
              <a:rPr lang="en-US" sz="1000">
                <a:solidFill>
                  <a:srgbClr val="333333"/>
                </a:solidFill>
                <a:latin typeface="Arial"/>
                <a:cs typeface="Arial"/>
              </a:rPr>
              <a:t>11649</a:t>
            </a:r>
            <a:endParaRPr lang="en-US" sz="1000"/>
          </a:p>
        </p:txBody>
      </p:sp>
      <p:sp>
        <p:nvSpPr>
          <p:cNvPr id="16" name="Text 14"/>
          <p:cNvSpPr/>
          <p:nvPr/>
        </p:nvSpPr>
        <p:spPr>
          <a:xfrm>
            <a:off x="4754880" y="2560320"/>
            <a:ext cx="731520" cy="228600"/>
          </a:xfrm>
          <a:prstGeom prst="rect">
            <a:avLst/>
          </a:prstGeom>
          <a:noFill/>
          <a:ln/>
        </p:spPr>
        <p:txBody>
          <a:bodyPr wrap="square" rtlCol="0" anchor="ctr"/>
          <a:lstStyle/>
          <a:p>
            <a:pPr marL="0" indent="0" algn="ctr">
              <a:buNone/>
            </a:pPr>
            <a:r>
              <a:rPr lang="en-US" sz="900" b="1">
                <a:solidFill>
                  <a:srgbClr val="1E2761"/>
                </a:solidFill>
              </a:rPr>
              <a:t>-595 Pa</a:t>
            </a:r>
            <a:endParaRPr lang="en-US" sz="900"/>
          </a:p>
        </p:txBody>
      </p:sp>
      <p:sp>
        <p:nvSpPr>
          <p:cNvPr id="17" name="Shape 15"/>
          <p:cNvSpPr/>
          <p:nvPr/>
        </p:nvSpPr>
        <p:spPr>
          <a:xfrm>
            <a:off x="6685903" y="3117155"/>
            <a:ext cx="182880" cy="182880"/>
          </a:xfrm>
          <a:prstGeom prst="ellipse">
            <a:avLst/>
          </a:prstGeom>
          <a:solidFill>
            <a:srgbClr val="1E2761"/>
          </a:solidFill>
          <a:ln/>
        </p:spPr>
        <p:txBody>
          <a:bodyPr/>
          <a:lstStyle/>
          <a:p>
            <a:endParaRPr lang="en-US"/>
          </a:p>
        </p:txBody>
      </p:sp>
      <p:sp>
        <p:nvSpPr>
          <p:cNvPr id="18" name="Text 16"/>
          <p:cNvSpPr/>
          <p:nvPr/>
        </p:nvSpPr>
        <p:spPr>
          <a:xfrm>
            <a:off x="6481457" y="4023360"/>
            <a:ext cx="548640" cy="274320"/>
          </a:xfrm>
          <a:prstGeom prst="rect">
            <a:avLst/>
          </a:prstGeom>
          <a:noFill/>
          <a:ln/>
        </p:spPr>
        <p:txBody>
          <a:bodyPr wrap="square" lIns="91440" tIns="45720" rIns="91440" bIns="45720" rtlCol="0" anchor="ctr"/>
          <a:lstStyle/>
          <a:p>
            <a:pPr marL="0" indent="0" algn="ctr">
              <a:buNone/>
            </a:pPr>
            <a:r>
              <a:rPr lang="en-US" sz="1000">
                <a:solidFill>
                  <a:srgbClr val="333333"/>
                </a:solidFill>
                <a:latin typeface="Arial"/>
                <a:cs typeface="Arial"/>
              </a:rPr>
              <a:t>24042</a:t>
            </a:r>
            <a:endParaRPr lang="en-US" sz="1000"/>
          </a:p>
        </p:txBody>
      </p:sp>
      <p:sp>
        <p:nvSpPr>
          <p:cNvPr id="19" name="Text 17"/>
          <p:cNvSpPr/>
          <p:nvPr/>
        </p:nvSpPr>
        <p:spPr>
          <a:xfrm>
            <a:off x="6400800" y="2697480"/>
            <a:ext cx="731520" cy="228600"/>
          </a:xfrm>
          <a:prstGeom prst="rect">
            <a:avLst/>
          </a:prstGeom>
          <a:noFill/>
          <a:ln/>
        </p:spPr>
        <p:txBody>
          <a:bodyPr wrap="square" rtlCol="0" anchor="ctr"/>
          <a:lstStyle/>
          <a:p>
            <a:pPr marL="0" indent="0" algn="ctr">
              <a:buNone/>
            </a:pPr>
            <a:r>
              <a:rPr lang="en-US" sz="900" b="1">
                <a:solidFill>
                  <a:srgbClr val="1E2761"/>
                </a:solidFill>
              </a:rPr>
              <a:t>-606 Pa</a:t>
            </a:r>
            <a:endParaRPr lang="en-US" sz="900"/>
          </a:p>
        </p:txBody>
      </p:sp>
      <p:sp>
        <p:nvSpPr>
          <p:cNvPr id="20" name="Text 18"/>
          <p:cNvSpPr/>
          <p:nvPr/>
        </p:nvSpPr>
        <p:spPr>
          <a:xfrm>
            <a:off x="3657600" y="4389120"/>
            <a:ext cx="1828800" cy="274320"/>
          </a:xfrm>
          <a:prstGeom prst="rect">
            <a:avLst/>
          </a:prstGeom>
          <a:noFill/>
          <a:ln/>
        </p:spPr>
        <p:txBody>
          <a:bodyPr wrap="square" rtlCol="0" anchor="ctr"/>
          <a:lstStyle/>
          <a:p>
            <a:pPr marL="0" indent="0" algn="ctr">
              <a:buNone/>
            </a:pPr>
            <a:r>
              <a:rPr lang="en-US" sz="1200" b="1">
                <a:solidFill>
                  <a:srgbClr val="333333"/>
                </a:solidFill>
              </a:rPr>
              <a:t>Number of Cells</a:t>
            </a:r>
            <a:endParaRPr lang="en-US" sz="1200"/>
          </a:p>
        </p:txBody>
      </p:sp>
      <p:sp>
        <p:nvSpPr>
          <p:cNvPr id="21" name="Text 19"/>
          <p:cNvSpPr/>
          <p:nvPr/>
        </p:nvSpPr>
        <p:spPr>
          <a:xfrm rot="16200000">
            <a:off x="184838" y="2144135"/>
            <a:ext cx="1637069" cy="923617"/>
          </a:xfrm>
          <a:prstGeom prst="rect">
            <a:avLst/>
          </a:prstGeom>
          <a:noFill/>
          <a:ln/>
        </p:spPr>
        <p:txBody>
          <a:bodyPr wrap="square" rtlCol="0" anchor="ctr"/>
          <a:lstStyle/>
          <a:p>
            <a:pPr marL="0" indent="0" algn="ctr">
              <a:buNone/>
            </a:pPr>
            <a:r>
              <a:rPr lang="en-US" sz="1200" b="1">
                <a:solidFill>
                  <a:srgbClr val="333333"/>
                </a:solidFill>
              </a:rPr>
              <a:t>Pressure (Pa)</a:t>
            </a:r>
            <a:endParaRPr lang="en-US" sz="1200"/>
          </a:p>
        </p:txBody>
      </p:sp>
      <p:sp>
        <p:nvSpPr>
          <p:cNvPr id="22" name="Shape 20"/>
          <p:cNvSpPr/>
          <p:nvPr/>
        </p:nvSpPr>
        <p:spPr>
          <a:xfrm>
            <a:off x="4754880" y="2286432"/>
            <a:ext cx="2377440" cy="1371600"/>
          </a:xfrm>
          <a:prstGeom prst="rect">
            <a:avLst/>
          </a:prstGeom>
          <a:solidFill>
            <a:srgbClr val="E8F5E9">
              <a:alpha val="40000"/>
            </a:srgbClr>
          </a:solidFill>
          <a:ln w="25400">
            <a:solidFill>
              <a:srgbClr val="4CAF50"/>
            </a:solidFill>
            <a:prstDash val="dash"/>
          </a:ln>
        </p:spPr>
        <p:txBody>
          <a:bodyPr/>
          <a:lstStyle/>
          <a:p>
            <a:endParaRPr lang="en-US"/>
          </a:p>
        </p:txBody>
      </p:sp>
      <p:sp>
        <p:nvSpPr>
          <p:cNvPr id="23" name="Text 21"/>
          <p:cNvSpPr/>
          <p:nvPr/>
        </p:nvSpPr>
        <p:spPr>
          <a:xfrm>
            <a:off x="5029200" y="2468449"/>
            <a:ext cx="1828800" cy="365760"/>
          </a:xfrm>
          <a:prstGeom prst="rect">
            <a:avLst/>
          </a:prstGeom>
          <a:noFill/>
          <a:ln/>
        </p:spPr>
        <p:txBody>
          <a:bodyPr wrap="square" rtlCol="0" anchor="ctr"/>
          <a:lstStyle/>
          <a:p>
            <a:pPr marL="0" indent="0" algn="ctr">
              <a:buNone/>
            </a:pPr>
            <a:r>
              <a:rPr lang="en-US" sz="1100" b="1">
                <a:solidFill>
                  <a:srgbClr val="2E7D32"/>
                </a:solidFill>
              </a:rPr>
              <a:t>Convergence</a:t>
            </a:r>
            <a:endParaRPr lang="en-US" sz="1100"/>
          </a:p>
          <a:p>
            <a:pPr marL="0" indent="0" algn="ctr">
              <a:buNone/>
            </a:pPr>
            <a:r>
              <a:rPr lang="en-US" sz="1100" b="1">
                <a:solidFill>
                  <a:srgbClr val="2E7D32"/>
                </a:solidFill>
              </a:rPr>
              <a:t>Zone</a:t>
            </a:r>
            <a:endParaRPr lang="en-US" sz="1100"/>
          </a:p>
        </p:txBody>
      </p:sp>
    </p:spTree>
    <p:extLst>
      <p:ext uri="{BB962C8B-B14F-4D97-AF65-F5344CB8AC3E}">
        <p14:creationId xmlns:p14="http://schemas.microsoft.com/office/powerpoint/2010/main" val="24912187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500" b="1">
                <a:solidFill>
                  <a:schemeClr val="bg2"/>
                </a:solidFill>
                <a:latin typeface="+mj-lt"/>
                <a:ea typeface="+mj-ea"/>
                <a:cs typeface="+mj-cs"/>
              </a:rPr>
              <a:t>Mesh Quality Comparison</a:t>
            </a:r>
          </a:p>
        </p:txBody>
      </p:sp>
      <p:sp>
        <p:nvSpPr>
          <p:cNvPr id="3" name="Text 1"/>
          <p:cNvSpPr/>
          <p:nvPr/>
        </p:nvSpPr>
        <p:spPr>
          <a:xfrm>
            <a:off x="731520" y="1097280"/>
            <a:ext cx="7680960" cy="457200"/>
          </a:xfrm>
          <a:prstGeom prst="rect">
            <a:avLst/>
          </a:prstGeom>
          <a:noFill/>
          <a:ln/>
        </p:spPr>
        <p:txBody>
          <a:bodyPr wrap="square" rtlCol="0" anchor="ctr"/>
          <a:lstStyle/>
          <a:p>
            <a:pPr marL="0" indent="0">
              <a:buNone/>
            </a:pPr>
            <a:r>
              <a:rPr lang="en-US" sz="1300">
                <a:solidFill>
                  <a:srgbClr val="333333"/>
                </a:solidFill>
              </a:rPr>
              <a:t>All meshes meet quality criteria for accurate CFD analysis. Quality improves with refinement, ensuring reliable results.</a:t>
            </a:r>
            <a:endParaRPr lang="en-US" sz="1300"/>
          </a:p>
        </p:txBody>
      </p:sp>
      <p:sp>
        <p:nvSpPr>
          <p:cNvPr id="4" name="Shape 2"/>
          <p:cNvSpPr/>
          <p:nvPr/>
        </p:nvSpPr>
        <p:spPr>
          <a:xfrm>
            <a:off x="914400" y="1828800"/>
            <a:ext cx="2011680" cy="457200"/>
          </a:xfrm>
          <a:prstGeom prst="rect">
            <a:avLst/>
          </a:prstGeom>
          <a:solidFill>
            <a:srgbClr val="1E2761"/>
          </a:solidFill>
          <a:ln/>
        </p:spPr>
        <p:txBody>
          <a:bodyPr/>
          <a:lstStyle/>
          <a:p>
            <a:endParaRPr lang="en-US"/>
          </a:p>
        </p:txBody>
      </p:sp>
      <p:sp>
        <p:nvSpPr>
          <p:cNvPr id="5" name="Text 3"/>
          <p:cNvSpPr/>
          <p:nvPr/>
        </p:nvSpPr>
        <p:spPr>
          <a:xfrm>
            <a:off x="914400" y="1828800"/>
            <a:ext cx="2011680" cy="457200"/>
          </a:xfrm>
          <a:prstGeom prst="rect">
            <a:avLst/>
          </a:prstGeom>
          <a:noFill/>
          <a:ln/>
        </p:spPr>
        <p:txBody>
          <a:bodyPr wrap="square" rtlCol="0" anchor="ctr"/>
          <a:lstStyle/>
          <a:p>
            <a:pPr marL="0" indent="0" algn="ctr">
              <a:buNone/>
            </a:pPr>
            <a:r>
              <a:rPr lang="en-US" sz="1300" b="1">
                <a:solidFill>
                  <a:srgbClr val="FFFFFF"/>
                </a:solidFill>
              </a:rPr>
              <a:t>Metric</a:t>
            </a:r>
            <a:endParaRPr lang="en-US" sz="1300"/>
          </a:p>
        </p:txBody>
      </p:sp>
      <p:sp>
        <p:nvSpPr>
          <p:cNvPr id="6" name="Shape 4"/>
          <p:cNvSpPr/>
          <p:nvPr/>
        </p:nvSpPr>
        <p:spPr>
          <a:xfrm>
            <a:off x="2926080" y="1828800"/>
            <a:ext cx="1188720" cy="457200"/>
          </a:xfrm>
          <a:prstGeom prst="rect">
            <a:avLst/>
          </a:prstGeom>
          <a:solidFill>
            <a:srgbClr val="1E2761"/>
          </a:solidFill>
          <a:ln/>
        </p:spPr>
        <p:txBody>
          <a:bodyPr/>
          <a:lstStyle/>
          <a:p>
            <a:endParaRPr lang="en-US"/>
          </a:p>
        </p:txBody>
      </p:sp>
      <p:sp>
        <p:nvSpPr>
          <p:cNvPr id="7" name="Text 5"/>
          <p:cNvSpPr/>
          <p:nvPr/>
        </p:nvSpPr>
        <p:spPr>
          <a:xfrm>
            <a:off x="2926080" y="1828800"/>
            <a:ext cx="1188720" cy="457200"/>
          </a:xfrm>
          <a:prstGeom prst="rect">
            <a:avLst/>
          </a:prstGeom>
          <a:noFill/>
          <a:ln/>
        </p:spPr>
        <p:txBody>
          <a:bodyPr wrap="square" rtlCol="0" anchor="ctr"/>
          <a:lstStyle/>
          <a:p>
            <a:pPr marL="0" indent="0" algn="ctr">
              <a:buNone/>
            </a:pPr>
            <a:r>
              <a:rPr lang="en-US" sz="1300" b="1">
                <a:solidFill>
                  <a:srgbClr val="FFFFFF"/>
                </a:solidFill>
              </a:rPr>
              <a:t>Target</a:t>
            </a:r>
            <a:endParaRPr lang="en-US" sz="1300"/>
          </a:p>
        </p:txBody>
      </p:sp>
      <p:sp>
        <p:nvSpPr>
          <p:cNvPr id="8" name="Shape 6"/>
          <p:cNvSpPr/>
          <p:nvPr/>
        </p:nvSpPr>
        <p:spPr>
          <a:xfrm>
            <a:off x="4114800" y="1828800"/>
            <a:ext cx="1188720" cy="457200"/>
          </a:xfrm>
          <a:prstGeom prst="rect">
            <a:avLst/>
          </a:prstGeom>
          <a:solidFill>
            <a:srgbClr val="1E2761"/>
          </a:solidFill>
          <a:ln/>
        </p:spPr>
        <p:txBody>
          <a:bodyPr/>
          <a:lstStyle/>
          <a:p>
            <a:endParaRPr lang="en-US"/>
          </a:p>
        </p:txBody>
      </p:sp>
      <p:sp>
        <p:nvSpPr>
          <p:cNvPr id="9" name="Text 7"/>
          <p:cNvSpPr/>
          <p:nvPr/>
        </p:nvSpPr>
        <p:spPr>
          <a:xfrm>
            <a:off x="4114800" y="1828800"/>
            <a:ext cx="1188720" cy="457200"/>
          </a:xfrm>
          <a:prstGeom prst="rect">
            <a:avLst/>
          </a:prstGeom>
          <a:noFill/>
          <a:ln/>
        </p:spPr>
        <p:txBody>
          <a:bodyPr wrap="square" rtlCol="0" anchor="ctr"/>
          <a:lstStyle/>
          <a:p>
            <a:pPr marL="0" indent="0" algn="ctr">
              <a:buNone/>
            </a:pPr>
            <a:r>
              <a:rPr lang="en-US" sz="1300" b="1">
                <a:solidFill>
                  <a:srgbClr val="FFFFFF"/>
                </a:solidFill>
              </a:rPr>
              <a:t>Coarse</a:t>
            </a:r>
            <a:endParaRPr lang="en-US" sz="1300"/>
          </a:p>
        </p:txBody>
      </p:sp>
      <p:sp>
        <p:nvSpPr>
          <p:cNvPr id="10" name="Shape 8"/>
          <p:cNvSpPr/>
          <p:nvPr/>
        </p:nvSpPr>
        <p:spPr>
          <a:xfrm>
            <a:off x="5303520" y="1828800"/>
            <a:ext cx="1188720" cy="457200"/>
          </a:xfrm>
          <a:prstGeom prst="rect">
            <a:avLst/>
          </a:prstGeom>
          <a:solidFill>
            <a:srgbClr val="1E2761"/>
          </a:solidFill>
          <a:ln/>
        </p:spPr>
        <p:txBody>
          <a:bodyPr/>
          <a:lstStyle/>
          <a:p>
            <a:endParaRPr lang="en-US"/>
          </a:p>
        </p:txBody>
      </p:sp>
      <p:sp>
        <p:nvSpPr>
          <p:cNvPr id="11" name="Text 9"/>
          <p:cNvSpPr/>
          <p:nvPr/>
        </p:nvSpPr>
        <p:spPr>
          <a:xfrm>
            <a:off x="5303520" y="1828800"/>
            <a:ext cx="1188720" cy="457200"/>
          </a:xfrm>
          <a:prstGeom prst="rect">
            <a:avLst/>
          </a:prstGeom>
          <a:noFill/>
          <a:ln/>
        </p:spPr>
        <p:txBody>
          <a:bodyPr wrap="square" rtlCol="0" anchor="ctr"/>
          <a:lstStyle/>
          <a:p>
            <a:pPr marL="0" indent="0" algn="ctr">
              <a:buNone/>
            </a:pPr>
            <a:r>
              <a:rPr lang="en-US" sz="1300" b="1">
                <a:solidFill>
                  <a:srgbClr val="FFFFFF"/>
                </a:solidFill>
              </a:rPr>
              <a:t>Medium</a:t>
            </a:r>
            <a:endParaRPr lang="en-US" sz="1300"/>
          </a:p>
        </p:txBody>
      </p:sp>
      <p:sp>
        <p:nvSpPr>
          <p:cNvPr id="12" name="Shape 10"/>
          <p:cNvSpPr/>
          <p:nvPr/>
        </p:nvSpPr>
        <p:spPr>
          <a:xfrm>
            <a:off x="6492240" y="1828800"/>
            <a:ext cx="1188720" cy="457200"/>
          </a:xfrm>
          <a:prstGeom prst="rect">
            <a:avLst/>
          </a:prstGeom>
          <a:solidFill>
            <a:srgbClr val="1E2761"/>
          </a:solidFill>
          <a:ln/>
        </p:spPr>
        <p:txBody>
          <a:bodyPr/>
          <a:lstStyle/>
          <a:p>
            <a:endParaRPr lang="en-US"/>
          </a:p>
        </p:txBody>
      </p:sp>
      <p:sp>
        <p:nvSpPr>
          <p:cNvPr id="13" name="Text 11"/>
          <p:cNvSpPr/>
          <p:nvPr/>
        </p:nvSpPr>
        <p:spPr>
          <a:xfrm>
            <a:off x="6492240" y="1828800"/>
            <a:ext cx="1188720" cy="457200"/>
          </a:xfrm>
          <a:prstGeom prst="rect">
            <a:avLst/>
          </a:prstGeom>
          <a:noFill/>
          <a:ln/>
        </p:spPr>
        <p:txBody>
          <a:bodyPr wrap="square" rtlCol="0" anchor="ctr"/>
          <a:lstStyle/>
          <a:p>
            <a:pPr marL="0" indent="0" algn="ctr">
              <a:buNone/>
            </a:pPr>
            <a:r>
              <a:rPr lang="en-US" sz="1300" b="1">
                <a:solidFill>
                  <a:srgbClr val="FFFFFF"/>
                </a:solidFill>
              </a:rPr>
              <a:t>Fine</a:t>
            </a:r>
            <a:endParaRPr lang="en-US" sz="1300"/>
          </a:p>
        </p:txBody>
      </p:sp>
      <p:sp>
        <p:nvSpPr>
          <p:cNvPr id="14" name="Shape 12"/>
          <p:cNvSpPr/>
          <p:nvPr/>
        </p:nvSpPr>
        <p:spPr>
          <a:xfrm>
            <a:off x="914400" y="2286000"/>
            <a:ext cx="2011680" cy="457200"/>
          </a:xfrm>
          <a:prstGeom prst="rect">
            <a:avLst/>
          </a:prstGeom>
          <a:solidFill>
            <a:srgbClr val="F8F9FA"/>
          </a:solidFill>
          <a:ln w="6350">
            <a:solidFill>
              <a:srgbClr val="E0E0E0"/>
            </a:solidFill>
            <a:prstDash val="solid"/>
          </a:ln>
        </p:spPr>
        <p:txBody>
          <a:bodyPr/>
          <a:lstStyle/>
          <a:p>
            <a:endParaRPr lang="en-US"/>
          </a:p>
        </p:txBody>
      </p:sp>
      <p:sp>
        <p:nvSpPr>
          <p:cNvPr id="15" name="Text 13"/>
          <p:cNvSpPr/>
          <p:nvPr/>
        </p:nvSpPr>
        <p:spPr>
          <a:xfrm>
            <a:off x="960120" y="2286000"/>
            <a:ext cx="1920240" cy="457200"/>
          </a:xfrm>
          <a:prstGeom prst="rect">
            <a:avLst/>
          </a:prstGeom>
          <a:noFill/>
          <a:ln/>
        </p:spPr>
        <p:txBody>
          <a:bodyPr wrap="square" rtlCol="0" anchor="ctr"/>
          <a:lstStyle/>
          <a:p>
            <a:pPr marL="0" indent="0" algn="l">
              <a:buNone/>
            </a:pPr>
            <a:r>
              <a:rPr lang="en-US" sz="1200" b="1">
                <a:solidFill>
                  <a:srgbClr val="333333"/>
                </a:solidFill>
              </a:rPr>
              <a:t>Orthogonal Quality</a:t>
            </a:r>
            <a:endParaRPr lang="en-US" sz="1200"/>
          </a:p>
        </p:txBody>
      </p:sp>
      <p:sp>
        <p:nvSpPr>
          <p:cNvPr id="16" name="Shape 14"/>
          <p:cNvSpPr/>
          <p:nvPr/>
        </p:nvSpPr>
        <p:spPr>
          <a:xfrm>
            <a:off x="2926080" y="2286000"/>
            <a:ext cx="1188720" cy="457200"/>
          </a:xfrm>
          <a:prstGeom prst="rect">
            <a:avLst/>
          </a:prstGeom>
          <a:solidFill>
            <a:srgbClr val="F8F9FA"/>
          </a:solidFill>
          <a:ln w="6350">
            <a:solidFill>
              <a:srgbClr val="E0E0E0"/>
            </a:solidFill>
            <a:prstDash val="solid"/>
          </a:ln>
        </p:spPr>
        <p:txBody>
          <a:bodyPr/>
          <a:lstStyle/>
          <a:p>
            <a:endParaRPr lang="en-US"/>
          </a:p>
        </p:txBody>
      </p:sp>
      <p:sp>
        <p:nvSpPr>
          <p:cNvPr id="17" name="Text 15"/>
          <p:cNvSpPr/>
          <p:nvPr/>
        </p:nvSpPr>
        <p:spPr>
          <a:xfrm>
            <a:off x="2971800" y="2286000"/>
            <a:ext cx="1097280" cy="457200"/>
          </a:xfrm>
          <a:prstGeom prst="rect">
            <a:avLst/>
          </a:prstGeom>
          <a:noFill/>
          <a:ln/>
        </p:spPr>
        <p:txBody>
          <a:bodyPr wrap="square" rtlCol="0" anchor="ctr"/>
          <a:lstStyle/>
          <a:p>
            <a:pPr marL="0" indent="0" algn="ctr">
              <a:buNone/>
            </a:pPr>
            <a:r>
              <a:rPr lang="en-US" sz="1200">
                <a:solidFill>
                  <a:srgbClr val="333333"/>
                </a:solidFill>
              </a:rPr>
              <a:t>&gt; 0.15</a:t>
            </a:r>
            <a:endParaRPr lang="en-US" sz="1200"/>
          </a:p>
        </p:txBody>
      </p:sp>
      <p:sp>
        <p:nvSpPr>
          <p:cNvPr id="18" name="Shape 16"/>
          <p:cNvSpPr/>
          <p:nvPr/>
        </p:nvSpPr>
        <p:spPr>
          <a:xfrm>
            <a:off x="4114800" y="2286000"/>
            <a:ext cx="1188720" cy="457200"/>
          </a:xfrm>
          <a:prstGeom prst="rect">
            <a:avLst/>
          </a:prstGeom>
          <a:solidFill>
            <a:srgbClr val="F8F9FA"/>
          </a:solidFill>
          <a:ln w="6350">
            <a:solidFill>
              <a:srgbClr val="E0E0E0"/>
            </a:solidFill>
            <a:prstDash val="solid"/>
          </a:ln>
        </p:spPr>
        <p:txBody>
          <a:bodyPr/>
          <a:lstStyle/>
          <a:p>
            <a:endParaRPr lang="en-US"/>
          </a:p>
        </p:txBody>
      </p:sp>
      <p:sp>
        <p:nvSpPr>
          <p:cNvPr id="19" name="Text 17"/>
          <p:cNvSpPr/>
          <p:nvPr/>
        </p:nvSpPr>
        <p:spPr>
          <a:xfrm>
            <a:off x="4160520" y="2286000"/>
            <a:ext cx="1097280" cy="457200"/>
          </a:xfrm>
          <a:prstGeom prst="rect">
            <a:avLst/>
          </a:prstGeom>
          <a:noFill/>
          <a:ln/>
        </p:spPr>
        <p:txBody>
          <a:bodyPr wrap="square" rtlCol="0" anchor="ctr"/>
          <a:lstStyle/>
          <a:p>
            <a:pPr marL="0" indent="0" algn="ctr">
              <a:buNone/>
            </a:pPr>
            <a:r>
              <a:rPr lang="en-US" sz="1200">
                <a:solidFill>
                  <a:srgbClr val="333333"/>
                </a:solidFill>
              </a:rPr>
              <a:t>0.970</a:t>
            </a:r>
            <a:endParaRPr lang="en-US" sz="1200"/>
          </a:p>
        </p:txBody>
      </p:sp>
      <p:sp>
        <p:nvSpPr>
          <p:cNvPr id="20" name="Shape 18"/>
          <p:cNvSpPr/>
          <p:nvPr/>
        </p:nvSpPr>
        <p:spPr>
          <a:xfrm>
            <a:off x="5303520" y="2286000"/>
            <a:ext cx="1188720" cy="457200"/>
          </a:xfrm>
          <a:prstGeom prst="rect">
            <a:avLst/>
          </a:prstGeom>
          <a:solidFill>
            <a:srgbClr val="F8F9FA"/>
          </a:solidFill>
          <a:ln w="6350">
            <a:solidFill>
              <a:srgbClr val="E0E0E0"/>
            </a:solidFill>
            <a:prstDash val="solid"/>
          </a:ln>
        </p:spPr>
        <p:txBody>
          <a:bodyPr/>
          <a:lstStyle/>
          <a:p>
            <a:endParaRPr lang="en-US"/>
          </a:p>
        </p:txBody>
      </p:sp>
      <p:sp>
        <p:nvSpPr>
          <p:cNvPr id="21" name="Text 19"/>
          <p:cNvSpPr/>
          <p:nvPr/>
        </p:nvSpPr>
        <p:spPr>
          <a:xfrm>
            <a:off x="5349240" y="2286000"/>
            <a:ext cx="1097280" cy="457200"/>
          </a:xfrm>
          <a:prstGeom prst="rect">
            <a:avLst/>
          </a:prstGeom>
          <a:noFill/>
          <a:ln/>
        </p:spPr>
        <p:txBody>
          <a:bodyPr wrap="square" rtlCol="0" anchor="ctr"/>
          <a:lstStyle/>
          <a:p>
            <a:pPr marL="0" indent="0" algn="ctr">
              <a:buNone/>
            </a:pPr>
            <a:r>
              <a:rPr lang="en-US" sz="1200">
                <a:solidFill>
                  <a:srgbClr val="333333"/>
                </a:solidFill>
              </a:rPr>
              <a:t>0.997</a:t>
            </a:r>
            <a:endParaRPr lang="en-US" sz="1200"/>
          </a:p>
        </p:txBody>
      </p:sp>
      <p:sp>
        <p:nvSpPr>
          <p:cNvPr id="22" name="Shape 20"/>
          <p:cNvSpPr/>
          <p:nvPr/>
        </p:nvSpPr>
        <p:spPr>
          <a:xfrm>
            <a:off x="6492240" y="2286000"/>
            <a:ext cx="1188720" cy="457200"/>
          </a:xfrm>
          <a:prstGeom prst="rect">
            <a:avLst/>
          </a:prstGeom>
          <a:solidFill>
            <a:srgbClr val="F8F9FA"/>
          </a:solidFill>
          <a:ln w="6350">
            <a:solidFill>
              <a:srgbClr val="E0E0E0"/>
            </a:solidFill>
            <a:prstDash val="solid"/>
          </a:ln>
        </p:spPr>
        <p:txBody>
          <a:bodyPr/>
          <a:lstStyle/>
          <a:p>
            <a:endParaRPr lang="en-US"/>
          </a:p>
        </p:txBody>
      </p:sp>
      <p:sp>
        <p:nvSpPr>
          <p:cNvPr id="23" name="Text 21"/>
          <p:cNvSpPr/>
          <p:nvPr/>
        </p:nvSpPr>
        <p:spPr>
          <a:xfrm>
            <a:off x="6537960" y="2286000"/>
            <a:ext cx="1097280" cy="457200"/>
          </a:xfrm>
          <a:prstGeom prst="rect">
            <a:avLst/>
          </a:prstGeom>
          <a:noFill/>
          <a:ln/>
        </p:spPr>
        <p:txBody>
          <a:bodyPr wrap="square" rtlCol="0" anchor="ctr"/>
          <a:lstStyle/>
          <a:p>
            <a:pPr marL="0" indent="0" algn="ctr">
              <a:buNone/>
            </a:pPr>
            <a:r>
              <a:rPr lang="en-US" sz="1200">
                <a:solidFill>
                  <a:srgbClr val="333333"/>
                </a:solidFill>
              </a:rPr>
              <a:t>0.998</a:t>
            </a:r>
            <a:endParaRPr lang="en-US" sz="1200"/>
          </a:p>
        </p:txBody>
      </p:sp>
      <p:sp>
        <p:nvSpPr>
          <p:cNvPr id="24" name="Shape 22"/>
          <p:cNvSpPr/>
          <p:nvPr/>
        </p:nvSpPr>
        <p:spPr>
          <a:xfrm>
            <a:off x="914400" y="2743200"/>
            <a:ext cx="2011680" cy="457200"/>
          </a:xfrm>
          <a:prstGeom prst="rect">
            <a:avLst/>
          </a:prstGeom>
          <a:solidFill>
            <a:srgbClr val="FFFFFF"/>
          </a:solidFill>
          <a:ln w="6350">
            <a:solidFill>
              <a:srgbClr val="E0E0E0"/>
            </a:solidFill>
            <a:prstDash val="solid"/>
          </a:ln>
        </p:spPr>
        <p:txBody>
          <a:bodyPr/>
          <a:lstStyle/>
          <a:p>
            <a:endParaRPr lang="en-US"/>
          </a:p>
        </p:txBody>
      </p:sp>
      <p:sp>
        <p:nvSpPr>
          <p:cNvPr id="25" name="Text 23"/>
          <p:cNvSpPr/>
          <p:nvPr/>
        </p:nvSpPr>
        <p:spPr>
          <a:xfrm>
            <a:off x="960120" y="2743200"/>
            <a:ext cx="1920240" cy="457200"/>
          </a:xfrm>
          <a:prstGeom prst="rect">
            <a:avLst/>
          </a:prstGeom>
          <a:noFill/>
          <a:ln/>
        </p:spPr>
        <p:txBody>
          <a:bodyPr wrap="square" rtlCol="0" anchor="ctr"/>
          <a:lstStyle/>
          <a:p>
            <a:pPr marL="0" indent="0" algn="l">
              <a:buNone/>
            </a:pPr>
            <a:r>
              <a:rPr lang="en-US" sz="1200" b="1">
                <a:solidFill>
                  <a:srgbClr val="333333"/>
                </a:solidFill>
              </a:rPr>
              <a:t>Skewness</a:t>
            </a:r>
            <a:endParaRPr lang="en-US" sz="1200"/>
          </a:p>
        </p:txBody>
      </p:sp>
      <p:sp>
        <p:nvSpPr>
          <p:cNvPr id="26" name="Shape 24"/>
          <p:cNvSpPr/>
          <p:nvPr/>
        </p:nvSpPr>
        <p:spPr>
          <a:xfrm>
            <a:off x="2926080" y="2743200"/>
            <a:ext cx="1188720" cy="457200"/>
          </a:xfrm>
          <a:prstGeom prst="rect">
            <a:avLst/>
          </a:prstGeom>
          <a:solidFill>
            <a:srgbClr val="FFFFFF"/>
          </a:solidFill>
          <a:ln w="6350">
            <a:solidFill>
              <a:srgbClr val="E0E0E0"/>
            </a:solidFill>
            <a:prstDash val="solid"/>
          </a:ln>
        </p:spPr>
        <p:txBody>
          <a:bodyPr/>
          <a:lstStyle/>
          <a:p>
            <a:endParaRPr lang="en-US"/>
          </a:p>
        </p:txBody>
      </p:sp>
      <p:sp>
        <p:nvSpPr>
          <p:cNvPr id="27" name="Text 25"/>
          <p:cNvSpPr/>
          <p:nvPr/>
        </p:nvSpPr>
        <p:spPr>
          <a:xfrm>
            <a:off x="2971800" y="2743200"/>
            <a:ext cx="1097280" cy="457200"/>
          </a:xfrm>
          <a:prstGeom prst="rect">
            <a:avLst/>
          </a:prstGeom>
          <a:noFill/>
          <a:ln/>
        </p:spPr>
        <p:txBody>
          <a:bodyPr wrap="square" rtlCol="0" anchor="ctr"/>
          <a:lstStyle/>
          <a:p>
            <a:pPr marL="0" indent="0" algn="ctr">
              <a:buNone/>
            </a:pPr>
            <a:r>
              <a:rPr lang="en-US" sz="1200">
                <a:solidFill>
                  <a:srgbClr val="333333"/>
                </a:solidFill>
              </a:rPr>
              <a:t>&lt; 0.95</a:t>
            </a:r>
            <a:endParaRPr lang="en-US" sz="1200"/>
          </a:p>
        </p:txBody>
      </p:sp>
      <p:sp>
        <p:nvSpPr>
          <p:cNvPr id="28" name="Shape 26"/>
          <p:cNvSpPr/>
          <p:nvPr/>
        </p:nvSpPr>
        <p:spPr>
          <a:xfrm>
            <a:off x="4114800" y="2743200"/>
            <a:ext cx="1188720" cy="457200"/>
          </a:xfrm>
          <a:prstGeom prst="rect">
            <a:avLst/>
          </a:prstGeom>
          <a:solidFill>
            <a:srgbClr val="FFFFFF"/>
          </a:solidFill>
          <a:ln w="6350">
            <a:solidFill>
              <a:srgbClr val="E0E0E0"/>
            </a:solidFill>
            <a:prstDash val="solid"/>
          </a:ln>
        </p:spPr>
        <p:txBody>
          <a:bodyPr/>
          <a:lstStyle/>
          <a:p>
            <a:endParaRPr lang="en-US"/>
          </a:p>
        </p:txBody>
      </p:sp>
      <p:sp>
        <p:nvSpPr>
          <p:cNvPr id="29" name="Text 27"/>
          <p:cNvSpPr/>
          <p:nvPr/>
        </p:nvSpPr>
        <p:spPr>
          <a:xfrm>
            <a:off x="4160520" y="2743200"/>
            <a:ext cx="1097280" cy="457200"/>
          </a:xfrm>
          <a:prstGeom prst="rect">
            <a:avLst/>
          </a:prstGeom>
          <a:noFill/>
          <a:ln/>
        </p:spPr>
        <p:txBody>
          <a:bodyPr wrap="square" rtlCol="0" anchor="ctr"/>
          <a:lstStyle/>
          <a:p>
            <a:pPr marL="0" indent="0" algn="ctr">
              <a:buNone/>
            </a:pPr>
            <a:r>
              <a:rPr lang="en-US" sz="1200">
                <a:solidFill>
                  <a:srgbClr val="333333"/>
                </a:solidFill>
              </a:rPr>
              <a:t>0.153</a:t>
            </a:r>
            <a:endParaRPr lang="en-US" sz="1200"/>
          </a:p>
        </p:txBody>
      </p:sp>
      <p:sp>
        <p:nvSpPr>
          <p:cNvPr id="30" name="Shape 28"/>
          <p:cNvSpPr/>
          <p:nvPr/>
        </p:nvSpPr>
        <p:spPr>
          <a:xfrm>
            <a:off x="5303520" y="2743200"/>
            <a:ext cx="1188720" cy="457200"/>
          </a:xfrm>
          <a:prstGeom prst="rect">
            <a:avLst/>
          </a:prstGeom>
          <a:solidFill>
            <a:srgbClr val="FFFFFF"/>
          </a:solidFill>
          <a:ln w="6350">
            <a:solidFill>
              <a:srgbClr val="E0E0E0"/>
            </a:solidFill>
            <a:prstDash val="solid"/>
          </a:ln>
        </p:spPr>
        <p:txBody>
          <a:bodyPr/>
          <a:lstStyle/>
          <a:p>
            <a:endParaRPr lang="en-US"/>
          </a:p>
        </p:txBody>
      </p:sp>
      <p:sp>
        <p:nvSpPr>
          <p:cNvPr id="31" name="Text 29"/>
          <p:cNvSpPr/>
          <p:nvPr/>
        </p:nvSpPr>
        <p:spPr>
          <a:xfrm>
            <a:off x="5349240" y="2743200"/>
            <a:ext cx="1097280" cy="457200"/>
          </a:xfrm>
          <a:prstGeom prst="rect">
            <a:avLst/>
          </a:prstGeom>
          <a:noFill/>
          <a:ln/>
        </p:spPr>
        <p:txBody>
          <a:bodyPr wrap="square" rtlCol="0" anchor="ctr"/>
          <a:lstStyle/>
          <a:p>
            <a:pPr marL="0" indent="0" algn="ctr">
              <a:buNone/>
            </a:pPr>
            <a:r>
              <a:rPr lang="en-US" sz="1200">
                <a:solidFill>
                  <a:srgbClr val="333333"/>
                </a:solidFill>
              </a:rPr>
              <a:t>0.028</a:t>
            </a:r>
            <a:endParaRPr lang="en-US" sz="1200"/>
          </a:p>
        </p:txBody>
      </p:sp>
      <p:sp>
        <p:nvSpPr>
          <p:cNvPr id="32" name="Shape 30"/>
          <p:cNvSpPr/>
          <p:nvPr/>
        </p:nvSpPr>
        <p:spPr>
          <a:xfrm>
            <a:off x="6492240" y="2743200"/>
            <a:ext cx="1188720" cy="457200"/>
          </a:xfrm>
          <a:prstGeom prst="rect">
            <a:avLst/>
          </a:prstGeom>
          <a:solidFill>
            <a:srgbClr val="FFFFFF"/>
          </a:solidFill>
          <a:ln w="6350">
            <a:solidFill>
              <a:srgbClr val="E0E0E0"/>
            </a:solidFill>
            <a:prstDash val="solid"/>
          </a:ln>
        </p:spPr>
        <p:txBody>
          <a:bodyPr/>
          <a:lstStyle/>
          <a:p>
            <a:endParaRPr lang="en-US"/>
          </a:p>
        </p:txBody>
      </p:sp>
      <p:sp>
        <p:nvSpPr>
          <p:cNvPr id="33" name="Text 31"/>
          <p:cNvSpPr/>
          <p:nvPr/>
        </p:nvSpPr>
        <p:spPr>
          <a:xfrm>
            <a:off x="6537960" y="2743200"/>
            <a:ext cx="1097280" cy="457200"/>
          </a:xfrm>
          <a:prstGeom prst="rect">
            <a:avLst/>
          </a:prstGeom>
          <a:noFill/>
          <a:ln/>
        </p:spPr>
        <p:txBody>
          <a:bodyPr wrap="square" rtlCol="0" anchor="ctr"/>
          <a:lstStyle/>
          <a:p>
            <a:pPr marL="0" indent="0" algn="ctr">
              <a:buNone/>
            </a:pPr>
            <a:r>
              <a:rPr lang="en-US" sz="1200">
                <a:solidFill>
                  <a:srgbClr val="333333"/>
                </a:solidFill>
              </a:rPr>
              <a:t>0.021</a:t>
            </a:r>
            <a:endParaRPr lang="en-US" sz="1200"/>
          </a:p>
        </p:txBody>
      </p:sp>
      <p:sp>
        <p:nvSpPr>
          <p:cNvPr id="34" name="Shape 32"/>
          <p:cNvSpPr/>
          <p:nvPr/>
        </p:nvSpPr>
        <p:spPr>
          <a:xfrm>
            <a:off x="914400" y="3200400"/>
            <a:ext cx="2011680" cy="457200"/>
          </a:xfrm>
          <a:prstGeom prst="rect">
            <a:avLst/>
          </a:prstGeom>
          <a:solidFill>
            <a:srgbClr val="F8F9FA"/>
          </a:solidFill>
          <a:ln w="6350">
            <a:solidFill>
              <a:srgbClr val="E0E0E0"/>
            </a:solidFill>
            <a:prstDash val="solid"/>
          </a:ln>
        </p:spPr>
        <p:txBody>
          <a:bodyPr/>
          <a:lstStyle/>
          <a:p>
            <a:endParaRPr lang="en-US"/>
          </a:p>
        </p:txBody>
      </p:sp>
      <p:sp>
        <p:nvSpPr>
          <p:cNvPr id="35" name="Text 33"/>
          <p:cNvSpPr/>
          <p:nvPr/>
        </p:nvSpPr>
        <p:spPr>
          <a:xfrm>
            <a:off x="960120" y="3200400"/>
            <a:ext cx="1920240" cy="457200"/>
          </a:xfrm>
          <a:prstGeom prst="rect">
            <a:avLst/>
          </a:prstGeom>
          <a:noFill/>
          <a:ln/>
        </p:spPr>
        <p:txBody>
          <a:bodyPr wrap="square" rtlCol="0" anchor="ctr"/>
          <a:lstStyle/>
          <a:p>
            <a:pPr marL="0" indent="0" algn="l">
              <a:buNone/>
            </a:pPr>
            <a:r>
              <a:rPr lang="en-US" sz="1200" b="1">
                <a:solidFill>
                  <a:srgbClr val="333333"/>
                </a:solidFill>
              </a:rPr>
              <a:t>Aspect Ratio</a:t>
            </a:r>
            <a:endParaRPr lang="en-US" sz="1200"/>
          </a:p>
        </p:txBody>
      </p:sp>
      <p:sp>
        <p:nvSpPr>
          <p:cNvPr id="36" name="Shape 34"/>
          <p:cNvSpPr/>
          <p:nvPr/>
        </p:nvSpPr>
        <p:spPr>
          <a:xfrm>
            <a:off x="2926080" y="3200400"/>
            <a:ext cx="1188720" cy="457200"/>
          </a:xfrm>
          <a:prstGeom prst="rect">
            <a:avLst/>
          </a:prstGeom>
          <a:solidFill>
            <a:srgbClr val="F8F9FA"/>
          </a:solidFill>
          <a:ln w="6350">
            <a:solidFill>
              <a:srgbClr val="E0E0E0"/>
            </a:solidFill>
            <a:prstDash val="solid"/>
          </a:ln>
        </p:spPr>
        <p:txBody>
          <a:bodyPr/>
          <a:lstStyle/>
          <a:p>
            <a:endParaRPr lang="en-US"/>
          </a:p>
        </p:txBody>
      </p:sp>
      <p:sp>
        <p:nvSpPr>
          <p:cNvPr id="37" name="Text 35"/>
          <p:cNvSpPr/>
          <p:nvPr/>
        </p:nvSpPr>
        <p:spPr>
          <a:xfrm>
            <a:off x="2971800" y="3200400"/>
            <a:ext cx="1097280" cy="457200"/>
          </a:xfrm>
          <a:prstGeom prst="rect">
            <a:avLst/>
          </a:prstGeom>
          <a:noFill/>
          <a:ln/>
        </p:spPr>
        <p:txBody>
          <a:bodyPr wrap="square" rtlCol="0" anchor="ctr"/>
          <a:lstStyle/>
          <a:p>
            <a:pPr marL="0" indent="0" algn="ctr">
              <a:buNone/>
            </a:pPr>
            <a:r>
              <a:rPr lang="en-US" sz="1200">
                <a:solidFill>
                  <a:srgbClr val="333333"/>
                </a:solidFill>
              </a:rPr>
              <a:t>&lt; 100</a:t>
            </a:r>
            <a:endParaRPr lang="en-US" sz="1200"/>
          </a:p>
        </p:txBody>
      </p:sp>
      <p:sp>
        <p:nvSpPr>
          <p:cNvPr id="38" name="Shape 36"/>
          <p:cNvSpPr/>
          <p:nvPr/>
        </p:nvSpPr>
        <p:spPr>
          <a:xfrm>
            <a:off x="4114800" y="3200400"/>
            <a:ext cx="1188720" cy="457200"/>
          </a:xfrm>
          <a:prstGeom prst="rect">
            <a:avLst/>
          </a:prstGeom>
          <a:solidFill>
            <a:srgbClr val="F8F9FA"/>
          </a:solidFill>
          <a:ln w="6350">
            <a:solidFill>
              <a:srgbClr val="E0E0E0"/>
            </a:solidFill>
            <a:prstDash val="solid"/>
          </a:ln>
        </p:spPr>
        <p:txBody>
          <a:bodyPr/>
          <a:lstStyle/>
          <a:p>
            <a:endParaRPr lang="en-US"/>
          </a:p>
        </p:txBody>
      </p:sp>
      <p:sp>
        <p:nvSpPr>
          <p:cNvPr id="39" name="Text 37"/>
          <p:cNvSpPr/>
          <p:nvPr/>
        </p:nvSpPr>
        <p:spPr>
          <a:xfrm>
            <a:off x="4160520" y="3200400"/>
            <a:ext cx="1097280" cy="457200"/>
          </a:xfrm>
          <a:prstGeom prst="rect">
            <a:avLst/>
          </a:prstGeom>
          <a:noFill/>
          <a:ln/>
        </p:spPr>
        <p:txBody>
          <a:bodyPr wrap="square" rtlCol="0" anchor="ctr"/>
          <a:lstStyle/>
          <a:p>
            <a:pPr marL="0" indent="0" algn="ctr">
              <a:buNone/>
            </a:pPr>
            <a:r>
              <a:rPr lang="en-US" sz="1200">
                <a:solidFill>
                  <a:srgbClr val="333333"/>
                </a:solidFill>
              </a:rPr>
              <a:t>&lt; 25</a:t>
            </a:r>
            <a:endParaRPr lang="en-US" sz="1200"/>
          </a:p>
        </p:txBody>
      </p:sp>
      <p:sp>
        <p:nvSpPr>
          <p:cNvPr id="40" name="Shape 38"/>
          <p:cNvSpPr/>
          <p:nvPr/>
        </p:nvSpPr>
        <p:spPr>
          <a:xfrm>
            <a:off x="5303520" y="3200400"/>
            <a:ext cx="1188720" cy="457200"/>
          </a:xfrm>
          <a:prstGeom prst="rect">
            <a:avLst/>
          </a:prstGeom>
          <a:solidFill>
            <a:srgbClr val="F8F9FA"/>
          </a:solidFill>
          <a:ln w="6350">
            <a:solidFill>
              <a:srgbClr val="E0E0E0"/>
            </a:solidFill>
            <a:prstDash val="solid"/>
          </a:ln>
        </p:spPr>
        <p:txBody>
          <a:bodyPr/>
          <a:lstStyle/>
          <a:p>
            <a:endParaRPr lang="en-US"/>
          </a:p>
        </p:txBody>
      </p:sp>
      <p:sp>
        <p:nvSpPr>
          <p:cNvPr id="41" name="Text 39"/>
          <p:cNvSpPr/>
          <p:nvPr/>
        </p:nvSpPr>
        <p:spPr>
          <a:xfrm>
            <a:off x="5349240" y="3200400"/>
            <a:ext cx="1097280" cy="457200"/>
          </a:xfrm>
          <a:prstGeom prst="rect">
            <a:avLst/>
          </a:prstGeom>
          <a:noFill/>
          <a:ln/>
        </p:spPr>
        <p:txBody>
          <a:bodyPr wrap="square" rtlCol="0" anchor="ctr"/>
          <a:lstStyle/>
          <a:p>
            <a:pPr marL="0" indent="0" algn="ctr">
              <a:buNone/>
            </a:pPr>
            <a:r>
              <a:rPr lang="en-US" sz="1200">
                <a:solidFill>
                  <a:srgbClr val="333333"/>
                </a:solidFill>
              </a:rPr>
              <a:t>&lt; 20</a:t>
            </a:r>
            <a:endParaRPr lang="en-US" sz="1200"/>
          </a:p>
        </p:txBody>
      </p:sp>
      <p:sp>
        <p:nvSpPr>
          <p:cNvPr id="42" name="Shape 40"/>
          <p:cNvSpPr/>
          <p:nvPr/>
        </p:nvSpPr>
        <p:spPr>
          <a:xfrm>
            <a:off x="6492240" y="3200400"/>
            <a:ext cx="1188720" cy="457200"/>
          </a:xfrm>
          <a:prstGeom prst="rect">
            <a:avLst/>
          </a:prstGeom>
          <a:solidFill>
            <a:srgbClr val="F8F9FA"/>
          </a:solidFill>
          <a:ln w="6350">
            <a:solidFill>
              <a:srgbClr val="E0E0E0"/>
            </a:solidFill>
            <a:prstDash val="solid"/>
          </a:ln>
        </p:spPr>
        <p:txBody>
          <a:bodyPr/>
          <a:lstStyle/>
          <a:p>
            <a:endParaRPr lang="en-US"/>
          </a:p>
        </p:txBody>
      </p:sp>
      <p:sp>
        <p:nvSpPr>
          <p:cNvPr id="43" name="Text 41"/>
          <p:cNvSpPr/>
          <p:nvPr/>
        </p:nvSpPr>
        <p:spPr>
          <a:xfrm>
            <a:off x="6537960" y="3200400"/>
            <a:ext cx="1097280" cy="457200"/>
          </a:xfrm>
          <a:prstGeom prst="rect">
            <a:avLst/>
          </a:prstGeom>
          <a:noFill/>
          <a:ln/>
        </p:spPr>
        <p:txBody>
          <a:bodyPr wrap="square" rtlCol="0" anchor="ctr"/>
          <a:lstStyle/>
          <a:p>
            <a:pPr marL="0" indent="0" algn="ctr">
              <a:buNone/>
            </a:pPr>
            <a:r>
              <a:rPr lang="en-US" sz="1200">
                <a:solidFill>
                  <a:srgbClr val="333333"/>
                </a:solidFill>
              </a:rPr>
              <a:t>&lt; 18</a:t>
            </a:r>
            <a:endParaRPr lang="en-US" sz="1200"/>
          </a:p>
        </p:txBody>
      </p:sp>
      <p:sp>
        <p:nvSpPr>
          <p:cNvPr id="44" name="Text 42"/>
          <p:cNvSpPr/>
          <p:nvPr/>
        </p:nvSpPr>
        <p:spPr>
          <a:xfrm>
            <a:off x="914400" y="3749040"/>
            <a:ext cx="6766560" cy="274320"/>
          </a:xfrm>
          <a:prstGeom prst="rect">
            <a:avLst/>
          </a:prstGeom>
          <a:noFill/>
          <a:ln/>
        </p:spPr>
        <p:txBody>
          <a:bodyPr wrap="square" rtlCol="0" anchor="ctr"/>
          <a:lstStyle/>
          <a:p>
            <a:pPr marL="0" indent="0">
              <a:buNone/>
            </a:pPr>
            <a:r>
              <a:rPr lang="en-US" sz="1600" b="1">
                <a:solidFill>
                  <a:srgbClr val="1E2761"/>
                </a:solidFill>
              </a:rPr>
              <a:t>Mesh Representations</a:t>
            </a:r>
            <a:endParaRPr lang="en-US" sz="1600"/>
          </a:p>
        </p:txBody>
      </p:sp>
      <p:sp>
        <p:nvSpPr>
          <p:cNvPr id="45" name="Shape 43"/>
          <p:cNvSpPr/>
          <p:nvPr/>
        </p:nvSpPr>
        <p:spPr>
          <a:xfrm>
            <a:off x="1371600" y="4114800"/>
            <a:ext cx="1828800" cy="548640"/>
          </a:xfrm>
          <a:prstGeom prst="rect">
            <a:avLst/>
          </a:prstGeom>
          <a:solidFill>
            <a:srgbClr val="F8F9FA"/>
          </a:solidFill>
          <a:ln w="12700">
            <a:solidFill>
              <a:srgbClr val="CADCFC"/>
            </a:solidFill>
            <a:prstDash val="solid"/>
          </a:ln>
        </p:spPr>
        <p:txBody>
          <a:bodyPr/>
          <a:lstStyle/>
          <a:p>
            <a:endParaRPr lang="en-US"/>
          </a:p>
        </p:txBody>
      </p:sp>
      <p:sp>
        <p:nvSpPr>
          <p:cNvPr id="46" name="Shape 44"/>
          <p:cNvSpPr/>
          <p:nvPr/>
        </p:nvSpPr>
        <p:spPr>
          <a:xfrm>
            <a:off x="1645920" y="4206240"/>
            <a:ext cx="27432" cy="27432"/>
          </a:xfrm>
          <a:prstGeom prst="ellipse">
            <a:avLst/>
          </a:prstGeom>
          <a:solidFill>
            <a:srgbClr val="1E2761"/>
          </a:solidFill>
          <a:ln/>
        </p:spPr>
        <p:txBody>
          <a:bodyPr/>
          <a:lstStyle/>
          <a:p>
            <a:endParaRPr lang="en-US"/>
          </a:p>
        </p:txBody>
      </p:sp>
      <p:sp>
        <p:nvSpPr>
          <p:cNvPr id="47" name="Shape 45"/>
          <p:cNvSpPr/>
          <p:nvPr/>
        </p:nvSpPr>
        <p:spPr>
          <a:xfrm>
            <a:off x="1755648" y="4206240"/>
            <a:ext cx="27432" cy="27432"/>
          </a:xfrm>
          <a:prstGeom prst="ellipse">
            <a:avLst/>
          </a:prstGeom>
          <a:solidFill>
            <a:srgbClr val="1E2761"/>
          </a:solidFill>
          <a:ln/>
        </p:spPr>
        <p:txBody>
          <a:bodyPr/>
          <a:lstStyle/>
          <a:p>
            <a:endParaRPr lang="en-US"/>
          </a:p>
        </p:txBody>
      </p:sp>
      <p:sp>
        <p:nvSpPr>
          <p:cNvPr id="48" name="Shape 46"/>
          <p:cNvSpPr/>
          <p:nvPr/>
        </p:nvSpPr>
        <p:spPr>
          <a:xfrm>
            <a:off x="1865376" y="4206240"/>
            <a:ext cx="27432" cy="27432"/>
          </a:xfrm>
          <a:prstGeom prst="ellipse">
            <a:avLst/>
          </a:prstGeom>
          <a:solidFill>
            <a:srgbClr val="1E2761"/>
          </a:solidFill>
          <a:ln/>
        </p:spPr>
        <p:txBody>
          <a:bodyPr/>
          <a:lstStyle/>
          <a:p>
            <a:endParaRPr lang="en-US"/>
          </a:p>
        </p:txBody>
      </p:sp>
      <p:sp>
        <p:nvSpPr>
          <p:cNvPr id="49" name="Shape 47"/>
          <p:cNvSpPr/>
          <p:nvPr/>
        </p:nvSpPr>
        <p:spPr>
          <a:xfrm>
            <a:off x="1975104" y="4206240"/>
            <a:ext cx="27432" cy="27432"/>
          </a:xfrm>
          <a:prstGeom prst="ellipse">
            <a:avLst/>
          </a:prstGeom>
          <a:solidFill>
            <a:srgbClr val="1E2761"/>
          </a:solidFill>
          <a:ln/>
        </p:spPr>
        <p:txBody>
          <a:bodyPr/>
          <a:lstStyle/>
          <a:p>
            <a:endParaRPr lang="en-US"/>
          </a:p>
        </p:txBody>
      </p:sp>
      <p:sp>
        <p:nvSpPr>
          <p:cNvPr id="50" name="Shape 48"/>
          <p:cNvSpPr/>
          <p:nvPr/>
        </p:nvSpPr>
        <p:spPr>
          <a:xfrm>
            <a:off x="1645920" y="4315968"/>
            <a:ext cx="27432" cy="27432"/>
          </a:xfrm>
          <a:prstGeom prst="ellipse">
            <a:avLst/>
          </a:prstGeom>
          <a:solidFill>
            <a:srgbClr val="1E2761"/>
          </a:solidFill>
          <a:ln/>
        </p:spPr>
        <p:txBody>
          <a:bodyPr/>
          <a:lstStyle/>
          <a:p>
            <a:endParaRPr lang="en-US"/>
          </a:p>
        </p:txBody>
      </p:sp>
      <p:sp>
        <p:nvSpPr>
          <p:cNvPr id="51" name="Shape 49"/>
          <p:cNvSpPr/>
          <p:nvPr/>
        </p:nvSpPr>
        <p:spPr>
          <a:xfrm>
            <a:off x="1755648" y="4315968"/>
            <a:ext cx="27432" cy="27432"/>
          </a:xfrm>
          <a:prstGeom prst="ellipse">
            <a:avLst/>
          </a:prstGeom>
          <a:solidFill>
            <a:srgbClr val="1E2761"/>
          </a:solidFill>
          <a:ln/>
        </p:spPr>
        <p:txBody>
          <a:bodyPr/>
          <a:lstStyle/>
          <a:p>
            <a:endParaRPr lang="en-US"/>
          </a:p>
        </p:txBody>
      </p:sp>
      <p:sp>
        <p:nvSpPr>
          <p:cNvPr id="52" name="Shape 50"/>
          <p:cNvSpPr/>
          <p:nvPr/>
        </p:nvSpPr>
        <p:spPr>
          <a:xfrm>
            <a:off x="1865376" y="4315968"/>
            <a:ext cx="27432" cy="27432"/>
          </a:xfrm>
          <a:prstGeom prst="ellipse">
            <a:avLst/>
          </a:prstGeom>
          <a:solidFill>
            <a:srgbClr val="1E2761"/>
          </a:solidFill>
          <a:ln/>
        </p:spPr>
        <p:txBody>
          <a:bodyPr/>
          <a:lstStyle/>
          <a:p>
            <a:endParaRPr lang="en-US"/>
          </a:p>
        </p:txBody>
      </p:sp>
      <p:sp>
        <p:nvSpPr>
          <p:cNvPr id="53" name="Shape 51"/>
          <p:cNvSpPr/>
          <p:nvPr/>
        </p:nvSpPr>
        <p:spPr>
          <a:xfrm>
            <a:off x="1975104" y="4315968"/>
            <a:ext cx="27432" cy="27432"/>
          </a:xfrm>
          <a:prstGeom prst="ellipse">
            <a:avLst/>
          </a:prstGeom>
          <a:solidFill>
            <a:srgbClr val="1E2761"/>
          </a:solidFill>
          <a:ln/>
        </p:spPr>
        <p:txBody>
          <a:bodyPr/>
          <a:lstStyle/>
          <a:p>
            <a:endParaRPr lang="en-US"/>
          </a:p>
        </p:txBody>
      </p:sp>
      <p:sp>
        <p:nvSpPr>
          <p:cNvPr id="54" name="Text 52"/>
          <p:cNvSpPr/>
          <p:nvPr/>
        </p:nvSpPr>
        <p:spPr>
          <a:xfrm>
            <a:off x="1371600" y="4114800"/>
            <a:ext cx="1828800" cy="548640"/>
          </a:xfrm>
          <a:prstGeom prst="rect">
            <a:avLst/>
          </a:prstGeom>
          <a:noFill/>
          <a:ln/>
        </p:spPr>
        <p:txBody>
          <a:bodyPr wrap="square" rtlCol="0" anchor="b"/>
          <a:lstStyle/>
          <a:p>
            <a:pPr marL="0" indent="0" algn="ctr">
              <a:buNone/>
            </a:pPr>
            <a:r>
              <a:rPr lang="en-US" sz="900" b="1">
                <a:solidFill>
                  <a:srgbClr val="333333"/>
                </a:solidFill>
              </a:rPr>
              <a:t>Coarse</a:t>
            </a:r>
            <a:endParaRPr lang="en-US" sz="900"/>
          </a:p>
          <a:p>
            <a:pPr marL="0" indent="0" algn="ctr">
              <a:buNone/>
            </a:pPr>
            <a:r>
              <a:rPr lang="en-US" sz="900" b="1">
                <a:solidFill>
                  <a:srgbClr val="333333"/>
                </a:solidFill>
              </a:rPr>
              <a:t>6,140 cells</a:t>
            </a:r>
            <a:endParaRPr lang="en-US" sz="900"/>
          </a:p>
        </p:txBody>
      </p:sp>
      <p:sp>
        <p:nvSpPr>
          <p:cNvPr id="55" name="Shape 53"/>
          <p:cNvSpPr/>
          <p:nvPr/>
        </p:nvSpPr>
        <p:spPr>
          <a:xfrm>
            <a:off x="3657600" y="4114800"/>
            <a:ext cx="1828800" cy="548640"/>
          </a:xfrm>
          <a:prstGeom prst="rect">
            <a:avLst/>
          </a:prstGeom>
          <a:solidFill>
            <a:srgbClr val="F8F9FA"/>
          </a:solidFill>
          <a:ln w="12700">
            <a:solidFill>
              <a:srgbClr val="CADCFC"/>
            </a:solidFill>
            <a:prstDash val="solid"/>
          </a:ln>
        </p:spPr>
        <p:txBody>
          <a:bodyPr/>
          <a:lstStyle/>
          <a:p>
            <a:endParaRPr lang="en-US"/>
          </a:p>
        </p:txBody>
      </p:sp>
      <p:sp>
        <p:nvSpPr>
          <p:cNvPr id="56" name="Shape 54"/>
          <p:cNvSpPr/>
          <p:nvPr/>
        </p:nvSpPr>
        <p:spPr>
          <a:xfrm>
            <a:off x="3931920" y="4206240"/>
            <a:ext cx="27432" cy="27432"/>
          </a:xfrm>
          <a:prstGeom prst="ellipse">
            <a:avLst/>
          </a:prstGeom>
          <a:solidFill>
            <a:srgbClr val="1E2761"/>
          </a:solidFill>
          <a:ln/>
        </p:spPr>
        <p:txBody>
          <a:bodyPr/>
          <a:lstStyle/>
          <a:p>
            <a:endParaRPr lang="en-US"/>
          </a:p>
        </p:txBody>
      </p:sp>
      <p:sp>
        <p:nvSpPr>
          <p:cNvPr id="57" name="Shape 55"/>
          <p:cNvSpPr/>
          <p:nvPr/>
        </p:nvSpPr>
        <p:spPr>
          <a:xfrm>
            <a:off x="4041648" y="4206240"/>
            <a:ext cx="27432" cy="27432"/>
          </a:xfrm>
          <a:prstGeom prst="ellipse">
            <a:avLst/>
          </a:prstGeom>
          <a:solidFill>
            <a:srgbClr val="1E2761"/>
          </a:solidFill>
          <a:ln/>
        </p:spPr>
        <p:txBody>
          <a:bodyPr/>
          <a:lstStyle/>
          <a:p>
            <a:endParaRPr lang="en-US"/>
          </a:p>
        </p:txBody>
      </p:sp>
      <p:sp>
        <p:nvSpPr>
          <p:cNvPr id="58" name="Shape 56"/>
          <p:cNvSpPr/>
          <p:nvPr/>
        </p:nvSpPr>
        <p:spPr>
          <a:xfrm>
            <a:off x="4151376" y="4206240"/>
            <a:ext cx="27432" cy="27432"/>
          </a:xfrm>
          <a:prstGeom prst="ellipse">
            <a:avLst/>
          </a:prstGeom>
          <a:solidFill>
            <a:srgbClr val="1E2761"/>
          </a:solidFill>
          <a:ln/>
        </p:spPr>
        <p:txBody>
          <a:bodyPr/>
          <a:lstStyle/>
          <a:p>
            <a:endParaRPr lang="en-US"/>
          </a:p>
        </p:txBody>
      </p:sp>
      <p:sp>
        <p:nvSpPr>
          <p:cNvPr id="59" name="Shape 57"/>
          <p:cNvSpPr/>
          <p:nvPr/>
        </p:nvSpPr>
        <p:spPr>
          <a:xfrm>
            <a:off x="4261104" y="4206240"/>
            <a:ext cx="27432" cy="27432"/>
          </a:xfrm>
          <a:prstGeom prst="ellipse">
            <a:avLst/>
          </a:prstGeom>
          <a:solidFill>
            <a:srgbClr val="1E2761"/>
          </a:solidFill>
          <a:ln/>
        </p:spPr>
        <p:txBody>
          <a:bodyPr/>
          <a:lstStyle/>
          <a:p>
            <a:endParaRPr lang="en-US"/>
          </a:p>
        </p:txBody>
      </p:sp>
      <p:sp>
        <p:nvSpPr>
          <p:cNvPr id="60" name="Shape 58"/>
          <p:cNvSpPr/>
          <p:nvPr/>
        </p:nvSpPr>
        <p:spPr>
          <a:xfrm>
            <a:off x="3931920" y="4315968"/>
            <a:ext cx="27432" cy="27432"/>
          </a:xfrm>
          <a:prstGeom prst="ellipse">
            <a:avLst/>
          </a:prstGeom>
          <a:solidFill>
            <a:srgbClr val="1E2761"/>
          </a:solidFill>
          <a:ln/>
        </p:spPr>
        <p:txBody>
          <a:bodyPr/>
          <a:lstStyle/>
          <a:p>
            <a:endParaRPr lang="en-US"/>
          </a:p>
        </p:txBody>
      </p:sp>
      <p:sp>
        <p:nvSpPr>
          <p:cNvPr id="61" name="Shape 59"/>
          <p:cNvSpPr/>
          <p:nvPr/>
        </p:nvSpPr>
        <p:spPr>
          <a:xfrm>
            <a:off x="4041648" y="4315968"/>
            <a:ext cx="27432" cy="27432"/>
          </a:xfrm>
          <a:prstGeom prst="ellipse">
            <a:avLst/>
          </a:prstGeom>
          <a:solidFill>
            <a:srgbClr val="1E2761"/>
          </a:solidFill>
          <a:ln/>
        </p:spPr>
        <p:txBody>
          <a:bodyPr/>
          <a:lstStyle/>
          <a:p>
            <a:endParaRPr lang="en-US"/>
          </a:p>
        </p:txBody>
      </p:sp>
      <p:sp>
        <p:nvSpPr>
          <p:cNvPr id="62" name="Shape 60"/>
          <p:cNvSpPr/>
          <p:nvPr/>
        </p:nvSpPr>
        <p:spPr>
          <a:xfrm>
            <a:off x="4151376" y="4315968"/>
            <a:ext cx="27432" cy="27432"/>
          </a:xfrm>
          <a:prstGeom prst="ellipse">
            <a:avLst/>
          </a:prstGeom>
          <a:solidFill>
            <a:srgbClr val="1E2761"/>
          </a:solidFill>
          <a:ln/>
        </p:spPr>
        <p:txBody>
          <a:bodyPr/>
          <a:lstStyle/>
          <a:p>
            <a:endParaRPr lang="en-US"/>
          </a:p>
        </p:txBody>
      </p:sp>
      <p:sp>
        <p:nvSpPr>
          <p:cNvPr id="63" name="Shape 61"/>
          <p:cNvSpPr/>
          <p:nvPr/>
        </p:nvSpPr>
        <p:spPr>
          <a:xfrm>
            <a:off x="4261104" y="4315968"/>
            <a:ext cx="27432" cy="27432"/>
          </a:xfrm>
          <a:prstGeom prst="ellipse">
            <a:avLst/>
          </a:prstGeom>
          <a:solidFill>
            <a:srgbClr val="1E2761"/>
          </a:solidFill>
          <a:ln/>
        </p:spPr>
        <p:txBody>
          <a:bodyPr/>
          <a:lstStyle/>
          <a:p>
            <a:endParaRPr lang="en-US"/>
          </a:p>
        </p:txBody>
      </p:sp>
      <p:sp>
        <p:nvSpPr>
          <p:cNvPr id="64" name="Shape 62"/>
          <p:cNvSpPr/>
          <p:nvPr/>
        </p:nvSpPr>
        <p:spPr>
          <a:xfrm>
            <a:off x="3931920" y="4425696"/>
            <a:ext cx="27432" cy="27432"/>
          </a:xfrm>
          <a:prstGeom prst="ellipse">
            <a:avLst/>
          </a:prstGeom>
          <a:solidFill>
            <a:srgbClr val="1E2761"/>
          </a:solidFill>
          <a:ln/>
        </p:spPr>
        <p:txBody>
          <a:bodyPr/>
          <a:lstStyle/>
          <a:p>
            <a:endParaRPr lang="en-US"/>
          </a:p>
        </p:txBody>
      </p:sp>
      <p:sp>
        <p:nvSpPr>
          <p:cNvPr id="65" name="Shape 63"/>
          <p:cNvSpPr/>
          <p:nvPr/>
        </p:nvSpPr>
        <p:spPr>
          <a:xfrm>
            <a:off x="4041648" y="4425696"/>
            <a:ext cx="27432" cy="27432"/>
          </a:xfrm>
          <a:prstGeom prst="ellipse">
            <a:avLst/>
          </a:prstGeom>
          <a:solidFill>
            <a:srgbClr val="1E2761"/>
          </a:solidFill>
          <a:ln/>
        </p:spPr>
        <p:txBody>
          <a:bodyPr/>
          <a:lstStyle/>
          <a:p>
            <a:endParaRPr lang="en-US"/>
          </a:p>
        </p:txBody>
      </p:sp>
      <p:sp>
        <p:nvSpPr>
          <p:cNvPr id="66" name="Shape 64"/>
          <p:cNvSpPr/>
          <p:nvPr/>
        </p:nvSpPr>
        <p:spPr>
          <a:xfrm>
            <a:off x="4151376" y="4425696"/>
            <a:ext cx="27432" cy="27432"/>
          </a:xfrm>
          <a:prstGeom prst="ellipse">
            <a:avLst/>
          </a:prstGeom>
          <a:solidFill>
            <a:srgbClr val="1E2761"/>
          </a:solidFill>
          <a:ln/>
        </p:spPr>
        <p:txBody>
          <a:bodyPr/>
          <a:lstStyle/>
          <a:p>
            <a:endParaRPr lang="en-US"/>
          </a:p>
        </p:txBody>
      </p:sp>
      <p:sp>
        <p:nvSpPr>
          <p:cNvPr id="67" name="Shape 65"/>
          <p:cNvSpPr/>
          <p:nvPr/>
        </p:nvSpPr>
        <p:spPr>
          <a:xfrm>
            <a:off x="4261104" y="4425696"/>
            <a:ext cx="27432" cy="27432"/>
          </a:xfrm>
          <a:prstGeom prst="ellipse">
            <a:avLst/>
          </a:prstGeom>
          <a:solidFill>
            <a:srgbClr val="1E2761"/>
          </a:solidFill>
          <a:ln/>
        </p:spPr>
        <p:txBody>
          <a:bodyPr/>
          <a:lstStyle/>
          <a:p>
            <a:endParaRPr lang="en-US"/>
          </a:p>
        </p:txBody>
      </p:sp>
      <p:sp>
        <p:nvSpPr>
          <p:cNvPr id="68" name="Text 66"/>
          <p:cNvSpPr/>
          <p:nvPr/>
        </p:nvSpPr>
        <p:spPr>
          <a:xfrm>
            <a:off x="3657600" y="4114800"/>
            <a:ext cx="1828800" cy="548640"/>
          </a:xfrm>
          <a:prstGeom prst="rect">
            <a:avLst/>
          </a:prstGeom>
          <a:noFill/>
          <a:ln/>
        </p:spPr>
        <p:txBody>
          <a:bodyPr wrap="square" rtlCol="0" anchor="b"/>
          <a:lstStyle/>
          <a:p>
            <a:pPr marL="0" indent="0" algn="ctr">
              <a:buNone/>
            </a:pPr>
            <a:r>
              <a:rPr lang="en-US" sz="900" b="1">
                <a:solidFill>
                  <a:srgbClr val="333333"/>
                </a:solidFill>
              </a:rPr>
              <a:t>Medium</a:t>
            </a:r>
            <a:endParaRPr lang="en-US" sz="900"/>
          </a:p>
          <a:p>
            <a:pPr marL="0" indent="0" algn="ctr">
              <a:buNone/>
            </a:pPr>
            <a:r>
              <a:rPr lang="en-US" sz="900" b="1">
                <a:solidFill>
                  <a:srgbClr val="333333"/>
                </a:solidFill>
              </a:rPr>
              <a:t>11,649 cells</a:t>
            </a:r>
            <a:endParaRPr lang="en-US" sz="900"/>
          </a:p>
        </p:txBody>
      </p:sp>
      <p:sp>
        <p:nvSpPr>
          <p:cNvPr id="69" name="Shape 67"/>
          <p:cNvSpPr/>
          <p:nvPr/>
        </p:nvSpPr>
        <p:spPr>
          <a:xfrm>
            <a:off x="5943600" y="4114800"/>
            <a:ext cx="1828800" cy="548640"/>
          </a:xfrm>
          <a:prstGeom prst="rect">
            <a:avLst/>
          </a:prstGeom>
          <a:solidFill>
            <a:srgbClr val="F8F9FA"/>
          </a:solidFill>
          <a:ln w="12700">
            <a:solidFill>
              <a:srgbClr val="CADCFC"/>
            </a:solidFill>
            <a:prstDash val="solid"/>
          </a:ln>
        </p:spPr>
        <p:txBody>
          <a:bodyPr/>
          <a:lstStyle/>
          <a:p>
            <a:endParaRPr lang="en-US"/>
          </a:p>
        </p:txBody>
      </p:sp>
      <p:sp>
        <p:nvSpPr>
          <p:cNvPr id="70" name="Shape 68"/>
          <p:cNvSpPr/>
          <p:nvPr/>
        </p:nvSpPr>
        <p:spPr>
          <a:xfrm>
            <a:off x="6217920" y="4206240"/>
            <a:ext cx="27432" cy="27432"/>
          </a:xfrm>
          <a:prstGeom prst="ellipse">
            <a:avLst/>
          </a:prstGeom>
          <a:solidFill>
            <a:srgbClr val="1E2761"/>
          </a:solidFill>
          <a:ln/>
        </p:spPr>
        <p:txBody>
          <a:bodyPr/>
          <a:lstStyle/>
          <a:p>
            <a:endParaRPr lang="en-US"/>
          </a:p>
        </p:txBody>
      </p:sp>
      <p:sp>
        <p:nvSpPr>
          <p:cNvPr id="71" name="Shape 69"/>
          <p:cNvSpPr/>
          <p:nvPr/>
        </p:nvSpPr>
        <p:spPr>
          <a:xfrm>
            <a:off x="6327648" y="4206240"/>
            <a:ext cx="27432" cy="27432"/>
          </a:xfrm>
          <a:prstGeom prst="ellipse">
            <a:avLst/>
          </a:prstGeom>
          <a:solidFill>
            <a:srgbClr val="1E2761"/>
          </a:solidFill>
          <a:ln/>
        </p:spPr>
        <p:txBody>
          <a:bodyPr/>
          <a:lstStyle/>
          <a:p>
            <a:endParaRPr lang="en-US"/>
          </a:p>
        </p:txBody>
      </p:sp>
      <p:sp>
        <p:nvSpPr>
          <p:cNvPr id="72" name="Shape 70"/>
          <p:cNvSpPr/>
          <p:nvPr/>
        </p:nvSpPr>
        <p:spPr>
          <a:xfrm>
            <a:off x="6437376" y="4206240"/>
            <a:ext cx="27432" cy="27432"/>
          </a:xfrm>
          <a:prstGeom prst="ellipse">
            <a:avLst/>
          </a:prstGeom>
          <a:solidFill>
            <a:srgbClr val="1E2761"/>
          </a:solidFill>
          <a:ln/>
        </p:spPr>
        <p:txBody>
          <a:bodyPr/>
          <a:lstStyle/>
          <a:p>
            <a:endParaRPr lang="en-US"/>
          </a:p>
        </p:txBody>
      </p:sp>
      <p:sp>
        <p:nvSpPr>
          <p:cNvPr id="73" name="Shape 71"/>
          <p:cNvSpPr/>
          <p:nvPr/>
        </p:nvSpPr>
        <p:spPr>
          <a:xfrm>
            <a:off x="6547104" y="4206240"/>
            <a:ext cx="27432" cy="27432"/>
          </a:xfrm>
          <a:prstGeom prst="ellipse">
            <a:avLst/>
          </a:prstGeom>
          <a:solidFill>
            <a:srgbClr val="1E2761"/>
          </a:solidFill>
          <a:ln/>
        </p:spPr>
        <p:txBody>
          <a:bodyPr/>
          <a:lstStyle/>
          <a:p>
            <a:endParaRPr lang="en-US"/>
          </a:p>
        </p:txBody>
      </p:sp>
      <p:sp>
        <p:nvSpPr>
          <p:cNvPr id="74" name="Shape 72"/>
          <p:cNvSpPr/>
          <p:nvPr/>
        </p:nvSpPr>
        <p:spPr>
          <a:xfrm>
            <a:off x="6217920" y="4315968"/>
            <a:ext cx="27432" cy="27432"/>
          </a:xfrm>
          <a:prstGeom prst="ellipse">
            <a:avLst/>
          </a:prstGeom>
          <a:solidFill>
            <a:srgbClr val="1E2761"/>
          </a:solidFill>
          <a:ln/>
        </p:spPr>
        <p:txBody>
          <a:bodyPr/>
          <a:lstStyle/>
          <a:p>
            <a:endParaRPr lang="en-US"/>
          </a:p>
        </p:txBody>
      </p:sp>
      <p:sp>
        <p:nvSpPr>
          <p:cNvPr id="75" name="Shape 73"/>
          <p:cNvSpPr/>
          <p:nvPr/>
        </p:nvSpPr>
        <p:spPr>
          <a:xfrm>
            <a:off x="6235471" y="4288315"/>
            <a:ext cx="27432" cy="27432"/>
          </a:xfrm>
          <a:prstGeom prst="ellipse">
            <a:avLst/>
          </a:prstGeom>
          <a:solidFill>
            <a:srgbClr val="1E2761"/>
          </a:solidFill>
          <a:ln/>
        </p:spPr>
        <p:txBody>
          <a:bodyPr/>
          <a:lstStyle/>
          <a:p>
            <a:endParaRPr lang="en-US"/>
          </a:p>
        </p:txBody>
      </p:sp>
      <p:sp>
        <p:nvSpPr>
          <p:cNvPr id="76" name="Shape 74"/>
          <p:cNvSpPr/>
          <p:nvPr/>
        </p:nvSpPr>
        <p:spPr>
          <a:xfrm>
            <a:off x="6437376" y="4315968"/>
            <a:ext cx="27432" cy="27432"/>
          </a:xfrm>
          <a:prstGeom prst="ellipse">
            <a:avLst/>
          </a:prstGeom>
          <a:solidFill>
            <a:srgbClr val="1E2761"/>
          </a:solidFill>
          <a:ln/>
        </p:spPr>
        <p:txBody>
          <a:bodyPr/>
          <a:lstStyle/>
          <a:p>
            <a:endParaRPr lang="en-US"/>
          </a:p>
        </p:txBody>
      </p:sp>
      <p:sp>
        <p:nvSpPr>
          <p:cNvPr id="77" name="Shape 75"/>
          <p:cNvSpPr/>
          <p:nvPr/>
        </p:nvSpPr>
        <p:spPr>
          <a:xfrm>
            <a:off x="6547104" y="4315968"/>
            <a:ext cx="27432" cy="27432"/>
          </a:xfrm>
          <a:prstGeom prst="ellipse">
            <a:avLst/>
          </a:prstGeom>
          <a:solidFill>
            <a:srgbClr val="1E2761"/>
          </a:solidFill>
          <a:ln/>
        </p:spPr>
        <p:txBody>
          <a:bodyPr/>
          <a:lstStyle/>
          <a:p>
            <a:endParaRPr lang="en-US"/>
          </a:p>
        </p:txBody>
      </p:sp>
      <p:sp>
        <p:nvSpPr>
          <p:cNvPr id="78" name="Shape 76"/>
          <p:cNvSpPr/>
          <p:nvPr/>
        </p:nvSpPr>
        <p:spPr>
          <a:xfrm>
            <a:off x="6217920" y="4425696"/>
            <a:ext cx="27432" cy="27432"/>
          </a:xfrm>
          <a:prstGeom prst="ellipse">
            <a:avLst/>
          </a:prstGeom>
          <a:solidFill>
            <a:srgbClr val="1E2761"/>
          </a:solidFill>
          <a:ln/>
        </p:spPr>
        <p:txBody>
          <a:bodyPr/>
          <a:lstStyle/>
          <a:p>
            <a:endParaRPr lang="en-US"/>
          </a:p>
        </p:txBody>
      </p:sp>
      <p:sp>
        <p:nvSpPr>
          <p:cNvPr id="79" name="Shape 77"/>
          <p:cNvSpPr/>
          <p:nvPr/>
        </p:nvSpPr>
        <p:spPr>
          <a:xfrm>
            <a:off x="6327648" y="4425696"/>
            <a:ext cx="27432" cy="27432"/>
          </a:xfrm>
          <a:prstGeom prst="ellipse">
            <a:avLst/>
          </a:prstGeom>
          <a:solidFill>
            <a:srgbClr val="1E2761"/>
          </a:solidFill>
          <a:ln/>
        </p:spPr>
        <p:txBody>
          <a:bodyPr/>
          <a:lstStyle/>
          <a:p>
            <a:endParaRPr lang="en-US"/>
          </a:p>
        </p:txBody>
      </p:sp>
      <p:sp>
        <p:nvSpPr>
          <p:cNvPr id="80" name="Shape 78"/>
          <p:cNvSpPr/>
          <p:nvPr/>
        </p:nvSpPr>
        <p:spPr>
          <a:xfrm>
            <a:off x="6437376" y="4425696"/>
            <a:ext cx="27432" cy="27432"/>
          </a:xfrm>
          <a:prstGeom prst="ellipse">
            <a:avLst/>
          </a:prstGeom>
          <a:solidFill>
            <a:srgbClr val="1E2761"/>
          </a:solidFill>
          <a:ln/>
        </p:spPr>
        <p:txBody>
          <a:bodyPr/>
          <a:lstStyle/>
          <a:p>
            <a:endParaRPr lang="en-US"/>
          </a:p>
        </p:txBody>
      </p:sp>
      <p:sp>
        <p:nvSpPr>
          <p:cNvPr id="81" name="Shape 79"/>
          <p:cNvSpPr/>
          <p:nvPr/>
        </p:nvSpPr>
        <p:spPr>
          <a:xfrm>
            <a:off x="6547104" y="4425696"/>
            <a:ext cx="27432" cy="27432"/>
          </a:xfrm>
          <a:prstGeom prst="ellipse">
            <a:avLst/>
          </a:prstGeom>
          <a:solidFill>
            <a:srgbClr val="1E2761"/>
          </a:solidFill>
          <a:ln/>
        </p:spPr>
        <p:txBody>
          <a:bodyPr/>
          <a:lstStyle/>
          <a:p>
            <a:endParaRPr lang="en-US"/>
          </a:p>
        </p:txBody>
      </p:sp>
      <p:sp>
        <p:nvSpPr>
          <p:cNvPr id="82" name="Shape 80"/>
          <p:cNvSpPr/>
          <p:nvPr/>
        </p:nvSpPr>
        <p:spPr>
          <a:xfrm>
            <a:off x="6217920" y="4535424"/>
            <a:ext cx="27432" cy="27432"/>
          </a:xfrm>
          <a:prstGeom prst="ellipse">
            <a:avLst/>
          </a:prstGeom>
          <a:solidFill>
            <a:srgbClr val="1E2761"/>
          </a:solidFill>
          <a:ln/>
        </p:spPr>
        <p:txBody>
          <a:bodyPr/>
          <a:lstStyle/>
          <a:p>
            <a:endParaRPr lang="en-US"/>
          </a:p>
        </p:txBody>
      </p:sp>
      <p:sp>
        <p:nvSpPr>
          <p:cNvPr id="83" name="Shape 81"/>
          <p:cNvSpPr/>
          <p:nvPr/>
        </p:nvSpPr>
        <p:spPr>
          <a:xfrm>
            <a:off x="6327648" y="4535424"/>
            <a:ext cx="27432" cy="27432"/>
          </a:xfrm>
          <a:prstGeom prst="ellipse">
            <a:avLst/>
          </a:prstGeom>
          <a:solidFill>
            <a:srgbClr val="1E2761"/>
          </a:solidFill>
          <a:ln/>
        </p:spPr>
        <p:txBody>
          <a:bodyPr/>
          <a:lstStyle/>
          <a:p>
            <a:endParaRPr lang="en-US"/>
          </a:p>
        </p:txBody>
      </p:sp>
      <p:sp>
        <p:nvSpPr>
          <p:cNvPr id="84" name="Shape 82"/>
          <p:cNvSpPr/>
          <p:nvPr/>
        </p:nvSpPr>
        <p:spPr>
          <a:xfrm>
            <a:off x="6437376" y="4535424"/>
            <a:ext cx="27432" cy="27432"/>
          </a:xfrm>
          <a:prstGeom prst="ellipse">
            <a:avLst/>
          </a:prstGeom>
          <a:solidFill>
            <a:srgbClr val="1E2761"/>
          </a:solidFill>
          <a:ln/>
        </p:spPr>
        <p:txBody>
          <a:bodyPr/>
          <a:lstStyle/>
          <a:p>
            <a:endParaRPr lang="en-US"/>
          </a:p>
        </p:txBody>
      </p:sp>
      <p:sp>
        <p:nvSpPr>
          <p:cNvPr id="85" name="Shape 83"/>
          <p:cNvSpPr/>
          <p:nvPr/>
        </p:nvSpPr>
        <p:spPr>
          <a:xfrm>
            <a:off x="6547104" y="4535424"/>
            <a:ext cx="27432" cy="27432"/>
          </a:xfrm>
          <a:prstGeom prst="ellipse">
            <a:avLst/>
          </a:prstGeom>
          <a:solidFill>
            <a:srgbClr val="1E2761"/>
          </a:solidFill>
          <a:ln/>
        </p:spPr>
        <p:txBody>
          <a:bodyPr/>
          <a:lstStyle/>
          <a:p>
            <a:endParaRPr lang="en-US"/>
          </a:p>
        </p:txBody>
      </p:sp>
      <p:sp>
        <p:nvSpPr>
          <p:cNvPr id="86" name="Text 84"/>
          <p:cNvSpPr/>
          <p:nvPr/>
        </p:nvSpPr>
        <p:spPr>
          <a:xfrm>
            <a:off x="5943600" y="4114800"/>
            <a:ext cx="1828800" cy="548640"/>
          </a:xfrm>
          <a:prstGeom prst="rect">
            <a:avLst/>
          </a:prstGeom>
          <a:noFill/>
          <a:ln/>
        </p:spPr>
        <p:txBody>
          <a:bodyPr wrap="square" rtlCol="0" anchor="b"/>
          <a:lstStyle/>
          <a:p>
            <a:pPr marL="0" indent="0" algn="ctr">
              <a:buNone/>
            </a:pPr>
            <a:r>
              <a:rPr lang="en-US" sz="900" b="1">
                <a:solidFill>
                  <a:srgbClr val="333333"/>
                </a:solidFill>
              </a:rPr>
              <a:t>Fine</a:t>
            </a:r>
            <a:endParaRPr lang="en-US" sz="900"/>
          </a:p>
          <a:p>
            <a:pPr marL="0" indent="0" algn="ctr">
              <a:buNone/>
            </a:pPr>
            <a:r>
              <a:rPr lang="en-US" sz="900" b="1">
                <a:solidFill>
                  <a:srgbClr val="333333"/>
                </a:solidFill>
              </a:rPr>
              <a:t>24,042 cells</a:t>
            </a:r>
            <a:endParaRPr lang="en-US" sz="900"/>
          </a:p>
        </p:txBody>
      </p:sp>
    </p:spTree>
    <p:extLst>
      <p:ext uri="{BB962C8B-B14F-4D97-AF65-F5344CB8AC3E}">
        <p14:creationId xmlns:p14="http://schemas.microsoft.com/office/powerpoint/2010/main" val="3247629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195C7B-2DB5-F083-CEDB-34D43BC7C0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CF1D9D-5087-AADB-048A-1E78996C3366}"/>
              </a:ext>
            </a:extLst>
          </p:cNvPr>
          <p:cNvSpPr/>
          <p:nvPr/>
        </p:nvSpPr>
        <p:spPr>
          <a:xfrm>
            <a:off x="457200" y="365760"/>
            <a:ext cx="8229600" cy="548640"/>
          </a:xfrm>
          <a:prstGeom prst="rect">
            <a:avLst/>
          </a:prstGeom>
          <a:noFill/>
          <a:ln/>
        </p:spPr>
        <p:txBody>
          <a:bodyPr wrap="square" lIns="0" tIns="0" rIns="0" bIns="0" rtlCol="0" anchor="ctr"/>
          <a:lstStyle/>
          <a:p>
            <a:r>
              <a:rPr lang="en-US" sz="2500" b="1">
                <a:solidFill>
                  <a:schemeClr val="bg2"/>
                </a:solidFill>
                <a:latin typeface="+mj-lt"/>
                <a:ea typeface="+mj-ea"/>
                <a:cs typeface="+mj-cs"/>
              </a:rPr>
              <a:t>Mesh Independence Summary</a:t>
            </a:r>
          </a:p>
        </p:txBody>
      </p:sp>
      <p:sp>
        <p:nvSpPr>
          <p:cNvPr id="88" name="TextBox 87">
            <a:extLst>
              <a:ext uri="{FF2B5EF4-FFF2-40B4-BE49-F238E27FC236}">
                <a16:creationId xmlns:a16="http://schemas.microsoft.com/office/drawing/2014/main" id="{327C984A-0B1F-6413-BA11-E15EC5123091}"/>
              </a:ext>
            </a:extLst>
          </p:cNvPr>
          <p:cNvSpPr txBox="1"/>
          <p:nvPr/>
        </p:nvSpPr>
        <p:spPr>
          <a:xfrm>
            <a:off x="452329" y="1085738"/>
            <a:ext cx="7811218" cy="250299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13999"/>
              </a:lnSpc>
              <a:buFont typeface="Arial"/>
              <a:buChar char="•"/>
            </a:pPr>
            <a:r>
              <a:rPr lang="en-GB" sz="1600"/>
              <a:t>Relative error of 1.8% between Medium and Fine meshes (&lt; 2% criterion)</a:t>
            </a:r>
            <a:endParaRPr lang="en-GB"/>
          </a:p>
          <a:p>
            <a:pPr marL="285750" indent="-285750">
              <a:lnSpc>
                <a:spcPct val="113999"/>
              </a:lnSpc>
              <a:buFont typeface="Arial"/>
              <a:buChar char="•"/>
            </a:pPr>
            <a:r>
              <a:rPr lang="en-GB" sz="1600">
                <a:latin typeface="Arial"/>
                <a:cs typeface="Arial"/>
              </a:rPr>
              <a:t>All quality metrics satisfied: Orthogonality &gt; 0.15, Skewness &lt; 0.95</a:t>
            </a:r>
            <a:endParaRPr lang="en-GB">
              <a:latin typeface="Arial"/>
              <a:cs typeface="Arial"/>
            </a:endParaRPr>
          </a:p>
          <a:p>
            <a:pPr marL="285750" indent="-285750">
              <a:lnSpc>
                <a:spcPct val="113999"/>
              </a:lnSpc>
              <a:buFont typeface="Arial"/>
              <a:buChar char="•"/>
            </a:pPr>
            <a:r>
              <a:rPr lang="en-GB" sz="1600"/>
              <a:t>Medium mesh provides accuracy with reasonable computational cost</a:t>
            </a:r>
          </a:p>
          <a:p>
            <a:pPr marL="285750" indent="-285750">
              <a:lnSpc>
                <a:spcPct val="113999"/>
              </a:lnSpc>
              <a:buFont typeface="Arial,Sans-Serif"/>
              <a:buChar char="•"/>
            </a:pPr>
            <a:r>
              <a:rPr lang="en-GB" sz="1600">
                <a:latin typeface="Arial"/>
                <a:cs typeface="Arial"/>
              </a:rPr>
              <a:t>Medium mesh (11,649 cells) selected as optimal configuration</a:t>
            </a:r>
            <a:endParaRPr lang="en-US" sz="1600">
              <a:latin typeface="Arial"/>
              <a:cs typeface="Arial"/>
            </a:endParaRPr>
          </a:p>
          <a:p>
            <a:pPr marL="285750" indent="-285750">
              <a:lnSpc>
                <a:spcPct val="113999"/>
              </a:lnSpc>
              <a:buFont typeface="Arial"/>
              <a:buChar char="•"/>
            </a:pPr>
            <a:r>
              <a:rPr lang="en-GB" sz="1600"/>
              <a:t>Further refinement showed &lt; 2% change, confirming mesh independence</a:t>
            </a:r>
          </a:p>
          <a:p>
            <a:pPr marL="285750" indent="-285750">
              <a:lnSpc>
                <a:spcPct val="113999"/>
              </a:lnSpc>
              <a:buFont typeface="Arial"/>
              <a:buChar char="•"/>
            </a:pPr>
            <a:endParaRPr lang="en-GB" sz="1600"/>
          </a:p>
          <a:p>
            <a:pPr marL="285750" indent="-285750">
              <a:lnSpc>
                <a:spcPct val="113999"/>
              </a:lnSpc>
              <a:buFont typeface="Arial"/>
              <a:buChar char="•"/>
            </a:pPr>
            <a:endParaRPr lang="en-GB" sz="1600"/>
          </a:p>
          <a:p>
            <a:pPr marL="285750" indent="-285750">
              <a:lnSpc>
                <a:spcPct val="113999"/>
              </a:lnSpc>
              <a:buFont typeface="Arial"/>
              <a:buChar char="•"/>
            </a:pPr>
            <a:endParaRPr lang="en-GB" sz="1600"/>
          </a:p>
          <a:p>
            <a:pPr marL="285750" indent="-285750">
              <a:lnSpc>
                <a:spcPct val="113999"/>
              </a:lnSpc>
              <a:buFont typeface="Arial"/>
              <a:buChar char="•"/>
            </a:pPr>
            <a:endParaRPr lang="en-GB" sz="1600"/>
          </a:p>
        </p:txBody>
      </p:sp>
      <p:sp>
        <p:nvSpPr>
          <p:cNvPr id="3" name="TextBox 2">
            <a:extLst>
              <a:ext uri="{FF2B5EF4-FFF2-40B4-BE49-F238E27FC236}">
                <a16:creationId xmlns:a16="http://schemas.microsoft.com/office/drawing/2014/main" id="{FB506F22-9E32-DF0A-2396-155AF0853FF5}"/>
              </a:ext>
            </a:extLst>
          </p:cNvPr>
          <p:cNvSpPr txBox="1"/>
          <p:nvPr/>
        </p:nvSpPr>
        <p:spPr>
          <a:xfrm>
            <a:off x="3854112" y="3856777"/>
            <a:ext cx="5289888" cy="401970"/>
          </a:xfrm>
          <a:prstGeom prst="rect">
            <a:avLst/>
          </a:prstGeom>
          <a:noFill/>
        </p:spPr>
        <p:txBody>
          <a:bodyPr wrap="square" lIns="0" tIns="0" rIns="0" bIns="0" rtlCol="0">
            <a:spAutoFit/>
          </a:bodyPr>
          <a:lstStyle/>
          <a:p>
            <a:pPr>
              <a:lnSpc>
                <a:spcPct val="114000"/>
              </a:lnSpc>
            </a:pPr>
            <a:r>
              <a:rPr lang="en-US" sz="2500" b="1">
                <a:solidFill>
                  <a:schemeClr val="bg2"/>
                </a:solidFill>
                <a:latin typeface="+mj-lt"/>
                <a:ea typeface="+mj-ea"/>
                <a:cs typeface="+mj-cs"/>
              </a:rPr>
              <a:t>Thank you for your attention!</a:t>
            </a:r>
          </a:p>
        </p:txBody>
      </p:sp>
    </p:spTree>
    <p:extLst>
      <p:ext uri="{BB962C8B-B14F-4D97-AF65-F5344CB8AC3E}">
        <p14:creationId xmlns:p14="http://schemas.microsoft.com/office/powerpoint/2010/main" val="167848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2.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3.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4.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710E34FAC64A4C8F21E8F79EDC1776" ma:contentTypeVersion="11" ma:contentTypeDescription="Crée un document." ma:contentTypeScope="" ma:versionID="35e7ef6422ac30501951508ddbf2e7d3">
  <xsd:schema xmlns:xsd="http://www.w3.org/2001/XMLSchema" xmlns:xs="http://www.w3.org/2001/XMLSchema" xmlns:p="http://schemas.microsoft.com/office/2006/metadata/properties" xmlns:ns3="20189a04-c27a-4ee0-8367-6113d251615c" targetNamespace="http://schemas.microsoft.com/office/2006/metadata/properties" ma:root="true" ma:fieldsID="eab426e644b33fbb701ef71617aca9cb" ns3:_="">
    <xsd:import namespace="20189a04-c27a-4ee0-8367-6113d251615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89a04-c27a-4ee0-8367-6113d251615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0189a04-c27a-4ee0-8367-6113d251615c" xsi:nil="true"/>
  </documentManagement>
</p:properties>
</file>

<file path=customXml/itemProps1.xml><?xml version="1.0" encoding="utf-8"?>
<ds:datastoreItem xmlns:ds="http://schemas.openxmlformats.org/officeDocument/2006/customXml" ds:itemID="{2EE0482D-D461-4A63-9E88-0D293F225DA8}">
  <ds:schemaRefs>
    <ds:schemaRef ds:uri="20189a04-c27a-4ee0-8367-6113d25161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369BD70-0FAA-422D-8DFA-4837D1340E32}">
  <ds:schemaRefs>
    <ds:schemaRef ds:uri="http://schemas.microsoft.com/sharepoint/v3/contenttype/forms"/>
  </ds:schemaRefs>
</ds:datastoreItem>
</file>

<file path=customXml/itemProps3.xml><?xml version="1.0" encoding="utf-8"?>
<ds:datastoreItem xmlns:ds="http://schemas.openxmlformats.org/officeDocument/2006/customXml" ds:itemID="{979ECAB0-231D-4F00-A0E5-9CB09D8DA465}">
  <ds:schemaRefs>
    <ds:schemaRef ds:uri="20189a04-c27a-4ee0-8367-6113d25161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TUM_Praesentation_p_v1_16-9 (5)</Template>
  <Application>Microsoft Office PowerPoint</Application>
  <PresentationFormat>On-screen Show (16:9)</PresentationFormat>
  <Slides>47</Slides>
  <Notes>18</Notes>
  <HiddenSlides>1</HiddenSlides>
  <ScaleCrop>false</ScaleCrop>
  <HeadingPairs>
    <vt:vector size="4" baseType="variant">
      <vt:variant>
        <vt:lpstr>Theme</vt:lpstr>
      </vt:variant>
      <vt:variant>
        <vt:i4>3</vt:i4>
      </vt:variant>
      <vt:variant>
        <vt:lpstr>Slide Titles</vt:lpstr>
      </vt:variant>
      <vt:variant>
        <vt:i4>47</vt:i4>
      </vt:variant>
    </vt:vector>
  </HeadingPairs>
  <TitlesOfParts>
    <vt:vector size="50" baseType="lpstr">
      <vt:lpstr>Titel 2</vt:lpstr>
      <vt:lpstr>Titel 1</vt:lpstr>
      <vt:lpstr>Inhalt</vt:lpstr>
      <vt:lpstr>Project 05: Hydrogen Sloshing on Ansys FLUENT</vt:lpstr>
      <vt:lpstr>Executive Summary – Multiphase Sloshing Simulation</vt:lpstr>
      <vt:lpstr>Motivation for the Study</vt:lpstr>
      <vt:lpstr>What are the problems in such applications?</vt:lpstr>
      <vt:lpstr>Case Description (Hydrogen Sloshing in a Tank)</vt:lpstr>
      <vt:lpstr>Work Distribution  </vt:lpstr>
      <vt:lpstr>Timeline of the Project </vt:lpstr>
      <vt:lpstr>Geometry and Meshing</vt:lpstr>
      <vt:lpstr>Edge Sizing </vt:lpstr>
      <vt:lpstr>Solver Setting</vt:lpstr>
      <vt:lpstr>Solver Setting</vt:lpstr>
      <vt:lpstr>Solver Setting</vt:lpstr>
      <vt:lpstr>Solver Setting</vt:lpstr>
      <vt:lpstr>Solver Setting</vt:lpstr>
      <vt:lpstr>PowerPoint Presentation</vt:lpstr>
      <vt:lpstr>PowerPoint Presentation</vt:lpstr>
      <vt:lpstr>PowerPoint Presentation</vt:lpstr>
      <vt:lpstr>Post Processing</vt:lpstr>
      <vt:lpstr>Numerical Convergence Analysis A</vt:lpstr>
      <vt:lpstr>Numerical Convergence Analysis B </vt:lpstr>
      <vt:lpstr>Temporal Stability &amp; CFL Analysis</vt:lpstr>
      <vt:lpstr>Quantitative Time Evolution Analysis (Surface Tracking) </vt:lpstr>
      <vt:lpstr>Quantitative Time Evolution Analysis (Surface Tracking) </vt:lpstr>
      <vt:lpstr>Quantitative Time Evolution Analysis (Pressure) </vt:lpstr>
      <vt:lpstr>Quantitative Time Evolution Analysis (Force) </vt:lpstr>
      <vt:lpstr>Quantitative Time Evolution Analysis (Heat Flux) </vt:lpstr>
      <vt:lpstr>Volume Fraction Contours Show Wave Formation</vt:lpstr>
      <vt:lpstr>With little to no change in the qualitative behavior w.r.t surrogate gas 2</vt:lpstr>
      <vt:lpstr>What can we tell from the dynamic behavior?</vt:lpstr>
      <vt:lpstr>PowerPoint Presentation</vt:lpstr>
      <vt:lpstr>Pressure Amplifies Near Tank Walls </vt:lpstr>
      <vt:lpstr>PowerPoint Presentation</vt:lpstr>
      <vt:lpstr>Principal remarks</vt:lpstr>
      <vt:lpstr>Mesh Independence Study</vt:lpstr>
      <vt:lpstr>What is Mesh Independence?</vt:lpstr>
      <vt:lpstr>PowerPoint Presentation</vt:lpstr>
      <vt:lpstr>PowerPoint Presentation</vt:lpstr>
      <vt:lpstr>Highly Coarse Mesh  </vt:lpstr>
      <vt:lpstr>Coarse Mesh </vt:lpstr>
      <vt:lpstr>Medium Mesh  </vt:lpstr>
      <vt:lpstr>Fine Mesh  </vt:lpstr>
      <vt:lpstr>Grid Convergence  </vt:lpstr>
      <vt:lpstr>Pressure Plots</vt:lpstr>
      <vt:lpstr>PowerPoint Presentation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revision>4</cp:revision>
  <cp:lastPrinted>2026-02-06T10:01:38Z</cp:lastPrinted>
  <dcterms:created xsi:type="dcterms:W3CDTF">2020-10-03T23:03:33Z</dcterms:created>
  <dcterms:modified xsi:type="dcterms:W3CDTF">2026-04-02T06:18:42Z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0x0101007D710E34FAC64A4C8F21E8F79EDC1776</vt:lpwstr>
  </property>
</Properties>
</file>